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A8DFA-9A2B-453E-AD39-0A08AB318D01}"/>
              </a:ext>
            </a:extLst>
          </p:cNvPr>
          <p:cNvSpPr>
            <a:spLocks noGrp="1"/>
          </p:cNvSpPr>
          <p:nvPr/>
        </p:nvSpPr>
        <p:spPr>
          <a:xfrm>
            <a:off x="2127147" y="2156030"/>
            <a:ext cx="3340203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071527"/>
                </a:solidFill>
              </a:defRPr>
            </a:pPr>
            <a:r>
              <a:rPr sz="2625" b="1" dirty="0">
                <a:solidFill>
                  <a:srgbClr val="071527"/>
                </a:solidFill>
              </a:rPr>
              <a:t>Advertisement License Application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5E7F2-BC7A-4CB9-986E-891C9455E727}"/>
              </a:ext>
            </a:extLst>
          </p:cNvPr>
          <p:cNvSpPr>
            <a:spLocks noGrp="1"/>
          </p:cNvSpPr>
          <p:nvPr/>
        </p:nvSpPr>
        <p:spPr>
          <a:xfrm>
            <a:off x="723900" y="3751467"/>
            <a:ext cx="519112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Online Submission of Advertisement Applications and Supporting Documents.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Application Status Tracking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28485-4BEB-4C0C-81B4-0C371929799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C150A-E2EB-420F-9507-9998AC19CA5F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CD3BCE-7B5D-46AC-94A9-0AA96A1A0EAA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E4E078-CBF2-0686-1C70-EC938660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9556"/>
            <a:ext cx="6001481" cy="3374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A3DA6F-EE56-8980-6518-F2BECD5080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729556"/>
            <a:ext cx="1340874" cy="134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0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946745A-EB81-4057-9D04-DEB886B3DEA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SYSTEM PURPOSE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D5FC8E-C2E5-44A3-9771-95B9BD0CE94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What ALiS is built to solve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50E169-0D6C-4B48-9824-955D72BB069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62E42-C155-4286-8B27-2077C0840D21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06B49"/>
                </a:solidFill>
              </a:defRPr>
            </a:pPr>
            <a:r>
              <a:rPr sz="3900" b="1">
                <a:solidFill>
                  <a:srgbClr val="006B49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C101E-D50C-409E-8C98-6A6F0819C22B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single source of truth for advertisement license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607CC-8295-40C9-B2A6-8CA50FEBB48F}"/>
              </a:ext>
            </a:extLst>
          </p:cNvPr>
          <p:cNvSpPr>
            <a:spLocks noGrp="1"/>
          </p:cNvSpPr>
          <p:nvPr/>
        </p:nvSpPr>
        <p:spPr>
          <a:xfrm>
            <a:off x="3714750" y="19050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1F5FBF"/>
                </a:solidFill>
              </a:defRPr>
            </a:pPr>
            <a:r>
              <a:rPr sz="3900" b="1">
                <a:solidFill>
                  <a:srgbClr val="1F5FBF"/>
                </a:solidFill>
              </a:rPr>
              <a:t>11+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9AEC8-F3EC-4ED6-B38F-A6B4EBF384D6}"/>
              </a:ext>
            </a:extLst>
          </p:cNvPr>
          <p:cNvSpPr>
            <a:spLocks noGrp="1"/>
          </p:cNvSpPr>
          <p:nvPr/>
        </p:nvSpPr>
        <p:spPr>
          <a:xfrm>
            <a:off x="3714750" y="25146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internal and approval roles participating in one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62B35-AD23-4102-996B-D3570CF7AA24}"/>
              </a:ext>
            </a:extLst>
          </p:cNvPr>
          <p:cNvSpPr>
            <a:spLocks noGrp="1"/>
          </p:cNvSpPr>
          <p:nvPr/>
        </p:nvSpPr>
        <p:spPr>
          <a:xfrm>
            <a:off x="6762750" y="190500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8B2BD5"/>
                </a:solidFill>
              </a:defRPr>
            </a:pPr>
            <a:r>
              <a:rPr sz="3900" b="1">
                <a:solidFill>
                  <a:srgbClr val="8B2BD5"/>
                </a:solidFill>
              </a:rPr>
              <a:t>QR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A5EDF6-EF6C-45E6-95EB-0FA0FB3249F9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e-license output for applicant download and verification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31A7F-5AE2-4C0A-B8E7-6F5CCBF60634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719352-E6BD-4F68-A8E4-9BF7F1B910F8}"/>
              </a:ext>
            </a:extLst>
          </p:cNvPr>
          <p:cNvSpPr>
            <a:spLocks noGrp="1"/>
          </p:cNvSpPr>
          <p:nvPr/>
        </p:nvSpPr>
        <p:spPr>
          <a:xfrm>
            <a:off x="1085850" y="4114800"/>
            <a:ext cx="933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Replace fragmented handoffs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7143A-FAE2-4DCA-8C44-00625A444E1A}"/>
              </a:ext>
            </a:extLst>
          </p:cNvPr>
          <p:cNvSpPr>
            <a:spLocks noGrp="1"/>
          </p:cNvSpPr>
          <p:nvPr/>
        </p:nvSpPr>
        <p:spPr>
          <a:xfrm>
            <a:off x="1085850" y="43910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Tasks move through named units with visible ownership and status.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A22D3C-6A21-4B6F-B9E0-E4CCEF720368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5DDD31-FD0E-4169-93EF-357629A1F8A2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933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Make decisions traceable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38F6F8-837F-435C-827D-9B26B6362232}"/>
              </a:ext>
            </a:extLst>
          </p:cNvPr>
          <p:cNvSpPr>
            <a:spLocks noGrp="1"/>
          </p:cNvSpPr>
          <p:nvPr/>
        </p:nvSpPr>
        <p:spPr>
          <a:xfrm>
            <a:off x="1085850" y="49244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Recommendations, remarks, signatures, dates, and generated documents stay with the application.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97F729-7E74-4D05-B173-780C671AED82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DC8280-1C68-46FD-A904-E8930027920B}"/>
              </a:ext>
            </a:extLst>
          </p:cNvPr>
          <p:cNvSpPr>
            <a:spLocks noGrp="1"/>
          </p:cNvSpPr>
          <p:nvPr/>
        </p:nvSpPr>
        <p:spPr>
          <a:xfrm>
            <a:off x="1085850" y="5181600"/>
            <a:ext cx="933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Close the loop with applicants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EEF46B-5302-45B5-BCF4-948BD17C5230}"/>
              </a:ext>
            </a:extLst>
          </p:cNvPr>
          <p:cNvSpPr>
            <a:spLocks noGrp="1"/>
          </p:cNvSpPr>
          <p:nvPr/>
        </p:nvSpPr>
        <p:spPr>
          <a:xfrm>
            <a:off x="1085850" y="54578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Applicants receive documents, upload receipts, and download the QR e-license from ALiS.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3DBE66-ECEF-49F4-8A56-63779AA34833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AA3837-C0A4-45F8-9F2C-48C122AE7044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B8959E-1E1F-49E6-BA5C-6EA2A4699A44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421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35D833D-4C4E-44E4-8761-F4A1E65A2EC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USERS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24BF2-7B3A-4C05-AA5E-F9608B3A71E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Role-based workspaces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A170D4-66E9-4A29-9B86-9DDE19C7CE0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C98D1C-6AD9-4D87-896C-7E2C57EB2DBD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F5E30-F47C-4AE5-90BA-FEF19E455813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Applicant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3BF5C9-3847-475F-BDA6-6BFA51C31A1B}"/>
              </a:ext>
            </a:extLst>
          </p:cNvPr>
          <p:cNvSpPr>
            <a:spLocks noGrp="1"/>
          </p:cNvSpPr>
          <p:nvPr/>
        </p:nvSpPr>
        <p:spPr>
          <a:xfrm>
            <a:off x="2838450" y="1924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Submit application, upload documents, pay, download QR.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5326DA-C9AB-4765-9586-AF12D3B77807}"/>
              </a:ext>
            </a:extLst>
          </p:cNvPr>
          <p:cNvSpPr>
            <a:spLocks noGrp="1"/>
          </p:cNvSpPr>
          <p:nvPr/>
        </p:nvSpPr>
        <p:spPr>
          <a:xfrm>
            <a:off x="6219825" y="18097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93D66-456A-4ABD-9933-4D1B77F6A6F4}"/>
              </a:ext>
            </a:extLst>
          </p:cNvPr>
          <p:cNvSpPr>
            <a:spLocks noGrp="1"/>
          </p:cNvSpPr>
          <p:nvPr/>
        </p:nvSpPr>
        <p:spPr>
          <a:xfrm>
            <a:off x="6429375" y="19240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PT(IKL)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32BD3-7705-4A52-A587-9105682CB22D}"/>
              </a:ext>
            </a:extLst>
          </p:cNvPr>
          <p:cNvSpPr>
            <a:spLocks noGrp="1"/>
          </p:cNvSpPr>
          <p:nvPr/>
        </p:nvSpPr>
        <p:spPr>
          <a:xfrm>
            <a:off x="8315325" y="1924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Returned cases, letters, bills, receipts, e-license.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527B0-DF33-4BF4-9187-5BF4A320D2E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2E871-C522-42C5-AEDA-0199548CC846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KU(IKL)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A1D55-42CF-4E3E-B9E0-B43EFEF8ECEC}"/>
              </a:ext>
            </a:extLst>
          </p:cNvPr>
          <p:cNvSpPr>
            <a:spLocks noGrp="1"/>
          </p:cNvSpPr>
          <p:nvPr/>
        </p:nvSpPr>
        <p:spPr>
          <a:xfrm>
            <a:off x="2838450" y="28003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Initial screening and final technical checking.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DC8714-792D-4FDC-81D1-516D6E8A1B30}"/>
              </a:ext>
            </a:extLst>
          </p:cNvPr>
          <p:cNvSpPr>
            <a:spLocks noGrp="1"/>
          </p:cNvSpPr>
          <p:nvPr/>
        </p:nvSpPr>
        <p:spPr>
          <a:xfrm>
            <a:off x="6219825" y="26860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FAC4B-BA28-4065-8739-9ED8C93BAA37}"/>
              </a:ext>
            </a:extLst>
          </p:cNvPr>
          <p:cNvSpPr>
            <a:spLocks noGrp="1"/>
          </p:cNvSpPr>
          <p:nvPr/>
        </p:nvSpPr>
        <p:spPr>
          <a:xfrm>
            <a:off x="6429375" y="28003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6B49"/>
                </a:solidFill>
              </a:defRPr>
            </a:pPr>
            <a:r>
              <a:rPr sz="1500" b="1">
                <a:solidFill>
                  <a:srgbClr val="006B49"/>
                </a:solidFill>
              </a:rPr>
              <a:t>IKL Technical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F67A1-36FB-4913-AF93-5CD49619F5D9}"/>
              </a:ext>
            </a:extLst>
          </p:cNvPr>
          <p:cNvSpPr>
            <a:spLocks noGrp="1"/>
          </p:cNvSpPr>
          <p:nvPr/>
        </p:nvSpPr>
        <p:spPr>
          <a:xfrm>
            <a:off x="8315325" y="28003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Site visit, fee/deposit calculation, recommendation.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2E2000-C78C-4615-BE0E-A82ED4787F04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9789B-50E8-4BDF-B785-5896F4CF001F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BLG/GPM/MNE/IMT/LNP/ENG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B03C19-967B-451F-B46A-D9C000C87431}"/>
              </a:ext>
            </a:extLst>
          </p:cNvPr>
          <p:cNvSpPr>
            <a:spLocks noGrp="1"/>
          </p:cNvSpPr>
          <p:nvPr/>
        </p:nvSpPr>
        <p:spPr>
          <a:xfrm>
            <a:off x="2838450" y="36766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Specialist technical reviews and remarks.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F09AE3-CD51-49AF-A853-DC9BFC30B2E6}"/>
              </a:ext>
            </a:extLst>
          </p:cNvPr>
          <p:cNvSpPr>
            <a:spLocks noGrp="1"/>
          </p:cNvSpPr>
          <p:nvPr/>
        </p:nvSpPr>
        <p:spPr>
          <a:xfrm>
            <a:off x="6219825" y="35623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67E688-1650-4D33-B554-5C3049AA298C}"/>
              </a:ext>
            </a:extLst>
          </p:cNvPr>
          <p:cNvSpPr>
            <a:spLocks noGrp="1"/>
          </p:cNvSpPr>
          <p:nvPr/>
        </p:nvSpPr>
        <p:spPr>
          <a:xfrm>
            <a:off x="6429375" y="36766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KB(LES)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CB122F-B9C1-4103-98CA-A968BD59BE08}"/>
              </a:ext>
            </a:extLst>
          </p:cNvPr>
          <p:cNvSpPr>
            <a:spLocks noGrp="1"/>
          </p:cNvSpPr>
          <p:nvPr/>
        </p:nvSpPr>
        <p:spPr>
          <a:xfrm>
            <a:off x="8315325" y="36766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Verification and unit support before approval.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80D1D0-FE74-4277-8247-F27C3B9D4173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23996E-B97F-4587-9DF6-5165B6028197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TP(RES)/PGH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EBA167-1E7D-4F0F-BAD9-147DB03E8AB6}"/>
              </a:ext>
            </a:extLst>
          </p:cNvPr>
          <p:cNvSpPr>
            <a:spLocks noGrp="1"/>
          </p:cNvSpPr>
          <p:nvPr/>
        </p:nvSpPr>
        <p:spPr>
          <a:xfrm>
            <a:off x="2838450" y="4552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Final approval recommendation and management decision.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393743B-7B7F-4514-8159-F3B05414C37C}"/>
              </a:ext>
            </a:extLst>
          </p:cNvPr>
          <p:cNvSpPr>
            <a:spLocks noGrp="1"/>
          </p:cNvSpPr>
          <p:nvPr/>
        </p:nvSpPr>
        <p:spPr>
          <a:xfrm>
            <a:off x="6219825" y="44386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F42C78-F062-4F3A-929C-2403D2CB2478}"/>
              </a:ext>
            </a:extLst>
          </p:cNvPr>
          <p:cNvSpPr>
            <a:spLocks noGrp="1"/>
          </p:cNvSpPr>
          <p:nvPr/>
        </p:nvSpPr>
        <p:spPr>
          <a:xfrm>
            <a:off x="6429375" y="45529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MPHLG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375B4A-5CE5-49B5-97A1-39C6D2EC38A1}"/>
              </a:ext>
            </a:extLst>
          </p:cNvPr>
          <p:cNvSpPr>
            <a:spLocks noGrp="1"/>
          </p:cNvSpPr>
          <p:nvPr/>
        </p:nvSpPr>
        <p:spPr>
          <a:xfrm>
            <a:off x="8315325" y="4552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External review or approval stage where required.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2A4DFC-E8B0-4047-909F-2C5BD0C3E0D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04E3F3-A273-457D-A4EB-D7C2747FFDC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AD1E9-034E-454E-AE9A-1D0533D54A63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751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176035D-CCEB-40BB-A230-DF90234417F3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OPERATIONAL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2B608-5BCE-4E73-A34D-A8640DBD685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End-to-end license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99EC6-B4D3-4B5E-A658-F6CC3606981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4FBB2-215D-4762-8354-85F3D93AD506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228600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8CE44-79B0-46FF-80F4-D0C3CFC3A0A9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CE9B2-D875-4D26-95CA-D11F943FAB7D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B26EE-46F7-47FD-BA41-96559A651F1C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Applicant submits 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AEA25-F2A3-4FF3-BF71-AC4E2BFEBFF2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228600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94B701-651F-4090-A380-FF90AD110C71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E93AAB-28B1-492E-9BA3-4F7CAB18635F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45694-0E03-438D-96ED-C2A627517402}"/>
              </a:ext>
            </a:extLst>
          </p:cNvPr>
          <p:cNvSpPr>
            <a:spLocks noGrp="1"/>
          </p:cNvSpPr>
          <p:nvPr/>
        </p:nvSpPr>
        <p:spPr>
          <a:xfrm>
            <a:off x="35242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KU(IKL)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69C92-F7C1-406E-AD5C-A770A58611F5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228600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C2E56D-6FE3-47EF-B593-26382B8150A6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3829D9-B676-4AD8-AE60-2F41FCEF38B8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30825-312E-4640-BA83-D7F05815D423}"/>
              </a:ext>
            </a:extLst>
          </p:cNvPr>
          <p:cNvSpPr>
            <a:spLocks noGrp="1"/>
          </p:cNvSpPr>
          <p:nvPr/>
        </p:nvSpPr>
        <p:spPr>
          <a:xfrm>
            <a:off x="63055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Technical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0006F2-C704-4DC5-8496-5E223A783A36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28600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6C68F0-6FFE-44B0-A9D1-FCD55030CAA7}"/>
              </a:ext>
            </a:extLst>
          </p:cNvPr>
          <p:cNvSpPr>
            <a:spLocks noGrp="1"/>
          </p:cNvSpPr>
          <p:nvPr/>
        </p:nvSpPr>
        <p:spPr>
          <a:xfrm>
            <a:off x="90868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D95E2-8881-403D-836F-CF18E6342AD3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B9F4FC-E08E-45AF-BCF2-87D4D01875AD}"/>
              </a:ext>
            </a:extLst>
          </p:cNvPr>
          <p:cNvSpPr>
            <a:spLocks noGrp="1"/>
          </p:cNvSpPr>
          <p:nvPr/>
        </p:nvSpPr>
        <p:spPr>
          <a:xfrm>
            <a:off x="90868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KU(IKL) final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0F2F40-4AC2-4F40-9359-345E8AD1511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286000" cy="28575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A21491-204E-4587-8312-AAB9DB9817F6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8B2BD5"/>
          </a:solidFill>
          <a:ln w="9525">
            <a:solidFill>
              <a:srgbClr val="8B2BD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9892A2-DFD5-4CC2-B952-19CAB2EA812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F0F555-26B6-43A1-984C-50CB9E5A5BD0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KB(LES) verifies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DD13F5-E8BE-4264-8C66-049179007C37}"/>
              </a:ext>
            </a:extLst>
          </p:cNvPr>
          <p:cNvSpPr>
            <a:spLocks noGrp="1"/>
          </p:cNvSpPr>
          <p:nvPr/>
        </p:nvSpPr>
        <p:spPr>
          <a:xfrm>
            <a:off x="3524250" y="4000500"/>
            <a:ext cx="2286000" cy="28575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E2D6DC-F3CF-476A-9BF2-B9F42E3D509E}"/>
              </a:ext>
            </a:extLst>
          </p:cNvPr>
          <p:cNvSpPr>
            <a:spLocks noGrp="1"/>
          </p:cNvSpPr>
          <p:nvPr/>
        </p:nvSpPr>
        <p:spPr>
          <a:xfrm>
            <a:off x="35242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8B2BD5"/>
          </a:solidFill>
          <a:ln w="9525">
            <a:solidFill>
              <a:srgbClr val="8B2BD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455E49-ADC5-47C5-B6FF-A496A2BF7E45}"/>
              </a:ext>
            </a:extLst>
          </p:cNvPr>
          <p:cNvSpPr>
            <a:spLocks noGrp="1"/>
          </p:cNvSpPr>
          <p:nvPr/>
        </p:nvSpPr>
        <p:spPr>
          <a:xfrm>
            <a:off x="35242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13E53-FAEB-4069-B991-F47A938923CA}"/>
              </a:ext>
            </a:extLst>
          </p:cNvPr>
          <p:cNvSpPr>
            <a:spLocks noGrp="1"/>
          </p:cNvSpPr>
          <p:nvPr/>
        </p:nvSpPr>
        <p:spPr>
          <a:xfrm>
            <a:off x="35242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TP(RES)/PGH approves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696B1-B563-47D3-B345-7ED3D053E7FC}"/>
              </a:ext>
            </a:extLst>
          </p:cNvPr>
          <p:cNvSpPr>
            <a:spLocks noGrp="1"/>
          </p:cNvSpPr>
          <p:nvPr/>
        </p:nvSpPr>
        <p:spPr>
          <a:xfrm>
            <a:off x="6305550" y="4000500"/>
            <a:ext cx="228600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284D6F-8476-4693-9EA3-87DFD0B76810}"/>
              </a:ext>
            </a:extLst>
          </p:cNvPr>
          <p:cNvSpPr>
            <a:spLocks noGrp="1"/>
          </p:cNvSpPr>
          <p:nvPr/>
        </p:nvSpPr>
        <p:spPr>
          <a:xfrm>
            <a:off x="63055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6CE8F7-ADA3-4985-A326-BA34F22957C8}"/>
              </a:ext>
            </a:extLst>
          </p:cNvPr>
          <p:cNvSpPr>
            <a:spLocks noGrp="1"/>
          </p:cNvSpPr>
          <p:nvPr/>
        </p:nvSpPr>
        <p:spPr>
          <a:xfrm>
            <a:off x="63055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48F099-23A0-499E-AD90-E50C60E809A1}"/>
              </a:ext>
            </a:extLst>
          </p:cNvPr>
          <p:cNvSpPr>
            <a:spLocks noGrp="1"/>
          </p:cNvSpPr>
          <p:nvPr/>
        </p:nvSpPr>
        <p:spPr>
          <a:xfrm>
            <a:off x="63055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PT(IKL) bill and receipt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A989A3-1A84-4A04-9A23-E9D18108DDF9}"/>
              </a:ext>
            </a:extLst>
          </p:cNvPr>
          <p:cNvSpPr>
            <a:spLocks noGrp="1"/>
          </p:cNvSpPr>
          <p:nvPr/>
        </p:nvSpPr>
        <p:spPr>
          <a:xfrm>
            <a:off x="9086850" y="4000500"/>
            <a:ext cx="228600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EB2E52-D360-474A-9B55-3989A92AED46}"/>
              </a:ext>
            </a:extLst>
          </p:cNvPr>
          <p:cNvSpPr>
            <a:spLocks noGrp="1"/>
          </p:cNvSpPr>
          <p:nvPr/>
        </p:nvSpPr>
        <p:spPr>
          <a:xfrm>
            <a:off x="90868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9346AE-0275-4F55-87BB-99B2022E77C9}"/>
              </a:ext>
            </a:extLst>
          </p:cNvPr>
          <p:cNvSpPr>
            <a:spLocks noGrp="1"/>
          </p:cNvSpPr>
          <p:nvPr/>
        </p:nvSpPr>
        <p:spPr>
          <a:xfrm>
            <a:off x="90868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4E8E09-0E48-416E-97E6-F3E21AF83340}"/>
              </a:ext>
            </a:extLst>
          </p:cNvPr>
          <p:cNvSpPr>
            <a:spLocks noGrp="1"/>
          </p:cNvSpPr>
          <p:nvPr/>
        </p:nvSpPr>
        <p:spPr>
          <a:xfrm>
            <a:off x="90868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71527"/>
                </a:solidFill>
              </a:defRPr>
            </a:pPr>
            <a:r>
              <a:rPr sz="1275" b="1">
                <a:solidFill>
                  <a:srgbClr val="071527"/>
                </a:solidFill>
              </a:rPr>
              <a:t>QR e-license issued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EE858C-8808-4EBA-8806-2D178D1578C3}"/>
              </a:ext>
            </a:extLst>
          </p:cNvPr>
          <p:cNvSpPr>
            <a:spLocks noGrp="1"/>
          </p:cNvSpPr>
          <p:nvPr/>
        </p:nvSpPr>
        <p:spPr>
          <a:xfrm>
            <a:off x="819150" y="54864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71527"/>
                </a:solidFill>
              </a:defRPr>
            </a:pPr>
            <a:r>
              <a:rPr sz="1650" b="1">
                <a:solidFill>
                  <a:srgbClr val="071527"/>
                </a:solidFill>
              </a:rPr>
              <a:t>Every step is linked to a status label, task queue, decision log, and department permission.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335791-8D53-4832-97BC-465F2CE8D791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806D89-8ADE-4D10-B39D-E04AAAAAF79C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C70597-04A9-4FC9-B129-5BC426FB579C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663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8F5DB7-8D95-4AB2-9365-3C6D874CBB2A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TASK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084CC1-D3D3-489A-B68E-95E7C060B54A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Dashboards show the next action clearly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D24CE8-A456-4DCD-85A2-69839D40C8F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6900" y="1824241"/>
            <a:ext cx="5715000" cy="26475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86BDE9-5C3F-4259-92A7-7EC9105EC16B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DCD46-97E3-4A66-B203-A8EBA7F3784F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Process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DB8E3-2707-4A4D-99C6-516962C41D6E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Users see their unit and task count before opening the queue.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5DAC8-F5F1-4F2A-B99C-81BB2C79C061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CA9FF-24C2-47C5-AFAF-EFD3F42A4E43}"/>
              </a:ext>
            </a:extLst>
          </p:cNvPr>
          <p:cNvSpPr>
            <a:spLocks noGrp="1"/>
          </p:cNvSpPr>
          <p:nvPr/>
        </p:nvSpPr>
        <p:spPr>
          <a:xfrm>
            <a:off x="952500" y="2790825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Personal task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D05A7-61E4-4098-8AC1-7A568B7E2AB7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Only records waiting for the current unit are actionable.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70420-D5C4-4FBA-A7AE-D9D39409D7E8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A2F1C1-A792-4E24-9CD8-A6EFA8BE872C}"/>
              </a:ext>
            </a:extLst>
          </p:cNvPr>
          <p:cNvSpPr>
            <a:spLocks noGrp="1"/>
          </p:cNvSpPr>
          <p:nvPr/>
        </p:nvSpPr>
        <p:spPr>
          <a:xfrm>
            <a:off x="952500" y="3629025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Stage-aware statuses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C3485-629A-4642-9388-66FE2043C156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For example, after KB(LES) verifies, PGH sees Pending TP(RES)/PGH Final Approval.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83778B-60A7-457F-AA27-B5F0835BDA1B}"/>
              </a:ext>
            </a:extLst>
          </p:cNvPr>
          <p:cNvSpPr>
            <a:spLocks noGrp="1"/>
          </p:cNvSpPr>
          <p:nvPr/>
        </p:nvSpPr>
        <p:spPr>
          <a:xfrm>
            <a:off x="5810250" y="47625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E1F7FA-164B-478E-AA45-02E1CBF745C5}"/>
              </a:ext>
            </a:extLst>
          </p:cNvPr>
          <p:cNvSpPr>
            <a:spLocks noGrp="1"/>
          </p:cNvSpPr>
          <p:nvPr/>
        </p:nvSpPr>
        <p:spPr>
          <a:xfrm>
            <a:off x="5924550" y="48387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65D"/>
                </a:solidFill>
              </a:defRPr>
            </a:pPr>
            <a:r>
              <a:rPr sz="1125" b="1">
                <a:solidFill>
                  <a:srgbClr val="00865D"/>
                </a:solidFill>
              </a:rPr>
              <a:t>Personal Task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D25702-4AEB-459C-8478-F4765971B6F5}"/>
              </a:ext>
            </a:extLst>
          </p:cNvPr>
          <p:cNvSpPr>
            <a:spLocks noGrp="1"/>
          </p:cNvSpPr>
          <p:nvPr/>
        </p:nvSpPr>
        <p:spPr>
          <a:xfrm>
            <a:off x="7429500" y="4762500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89D31E-EFCB-4047-89E1-805D8832729F}"/>
              </a:ext>
            </a:extLst>
          </p:cNvPr>
          <p:cNvSpPr>
            <a:spLocks noGrp="1"/>
          </p:cNvSpPr>
          <p:nvPr/>
        </p:nvSpPr>
        <p:spPr>
          <a:xfrm>
            <a:off x="7543800" y="48387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65D"/>
                </a:solidFill>
              </a:defRPr>
            </a:pPr>
            <a:r>
              <a:rPr sz="1125" b="1">
                <a:solidFill>
                  <a:srgbClr val="00865D"/>
                </a:solidFill>
              </a:rPr>
              <a:t>Awaiting Approval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F740B0-F7F7-4229-830B-0944E2479D12}"/>
              </a:ext>
            </a:extLst>
          </p:cNvPr>
          <p:cNvSpPr>
            <a:spLocks noGrp="1"/>
          </p:cNvSpPr>
          <p:nvPr/>
        </p:nvSpPr>
        <p:spPr>
          <a:xfrm>
            <a:off x="9429750" y="476250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874011-9F41-4122-A4C0-7753E00A0C03}"/>
              </a:ext>
            </a:extLst>
          </p:cNvPr>
          <p:cNvSpPr>
            <a:spLocks noGrp="1"/>
          </p:cNvSpPr>
          <p:nvPr/>
        </p:nvSpPr>
        <p:spPr>
          <a:xfrm>
            <a:off x="9544050" y="483870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5FBF"/>
                </a:solidFill>
              </a:defRPr>
            </a:pPr>
            <a:r>
              <a:rPr sz="1125" b="1">
                <a:solidFill>
                  <a:srgbClr val="1F5FBF"/>
                </a:solidFill>
              </a:rPr>
              <a:t>View 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28DF8-E3A9-44BC-8E69-0FA0E936F991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28C61E-C3DD-42AF-A9C3-85F8C2243AF8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FBF0C9-07A6-4D21-93EE-5E62D3107C22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789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9AF0D23-8B6E-4CF6-BA8F-BB30460F3198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TECHNICAL ROUTE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DFA0B-9255-4FF8-85A2-661BC783D37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Technical review converts site evidence into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551F3-6D00-495B-A469-73BC6B0B6097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988C4B-8497-4EED-A85F-038691BBD3B2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3143250" cy="3105150"/>
          </a:xfrm>
          <a:prstGeom prst="roundRect">
            <a:avLst>
              <a:gd name="adj" fmla="val 2454"/>
            </a:avLst>
          </a:prstGeom>
          <a:solidFill>
            <a:srgbClr val="F7FB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C76733-F687-405A-A002-FA6F3E58143A}"/>
              </a:ext>
            </a:extLst>
          </p:cNvPr>
          <p:cNvSpPr>
            <a:spLocks noGrp="1"/>
          </p:cNvSpPr>
          <p:nvPr/>
        </p:nvSpPr>
        <p:spPr>
          <a:xfrm>
            <a:off x="1009650" y="2190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5FBF"/>
                </a:solidFill>
              </a:defRPr>
            </a:pPr>
            <a:r>
              <a:rPr sz="1950" b="1">
                <a:solidFill>
                  <a:srgbClr val="1F5FBF"/>
                </a:solidFill>
              </a:rPr>
              <a:t>IKL Technical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637F6-C934-4268-80D0-68AD4A673D4A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56A10-FC89-4551-9383-B8DBD380B044}"/>
              </a:ext>
            </a:extLst>
          </p:cNvPr>
          <p:cNvSpPr>
            <a:spLocks noGrp="1"/>
          </p:cNvSpPr>
          <p:nvPr/>
        </p:nvSpPr>
        <p:spPr>
          <a:xfrm>
            <a:off x="1295400" y="27241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Site visit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8B0D9-6D61-4EE6-BE14-6347BDC0FE11}"/>
              </a:ext>
            </a:extLst>
          </p:cNvPr>
          <p:cNvSpPr>
            <a:spLocks noGrp="1"/>
          </p:cNvSpPr>
          <p:nvPr/>
        </p:nvSpPr>
        <p:spPr>
          <a:xfrm>
            <a:off x="1295400" y="3000375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Record visit details, location evidence, and site photo.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B33974-9579-4E12-8194-1D2BA82B03D3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79FF6-DD56-4314-B738-7C9D31AECBF4}"/>
              </a:ext>
            </a:extLst>
          </p:cNvPr>
          <p:cNvSpPr>
            <a:spLocks noGrp="1"/>
          </p:cNvSpPr>
          <p:nvPr/>
        </p:nvSpPr>
        <p:spPr>
          <a:xfrm>
            <a:off x="1295400" y="33909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Fee calculation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8E482-37AA-48DD-9D0B-73C2F6DDCB56}"/>
              </a:ext>
            </a:extLst>
          </p:cNvPr>
          <p:cNvSpPr>
            <a:spLocks noGrp="1"/>
          </p:cNvSpPr>
          <p:nvPr/>
        </p:nvSpPr>
        <p:spPr>
          <a:xfrm>
            <a:off x="1295400" y="3667125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Capture advertisement size, license fee, deposit, and processing fee.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EEF56-F996-40B8-8013-813E0C242096}"/>
              </a:ext>
            </a:extLst>
          </p:cNvPr>
          <p:cNvSpPr>
            <a:spLocks noGrp="1"/>
          </p:cNvSpPr>
          <p:nvPr/>
        </p:nvSpPr>
        <p:spPr>
          <a:xfrm>
            <a:off x="1066800" y="41529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DB25A-2833-4580-8583-D944FE6CBCF9}"/>
              </a:ext>
            </a:extLst>
          </p:cNvPr>
          <p:cNvSpPr>
            <a:spLocks noGrp="1"/>
          </p:cNvSpPr>
          <p:nvPr/>
        </p:nvSpPr>
        <p:spPr>
          <a:xfrm>
            <a:off x="1295400" y="40576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Final technical recommendation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314E59-783D-470B-93CA-64CE5F083641}"/>
              </a:ext>
            </a:extLst>
          </p:cNvPr>
          <p:cNvSpPr>
            <a:spLocks noGrp="1"/>
          </p:cNvSpPr>
          <p:nvPr/>
        </p:nvSpPr>
        <p:spPr>
          <a:xfrm>
            <a:off x="1295400" y="4333875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Compile department feedback before KU(IKL) final checking.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FE25AE-E0A6-426D-A1A9-A3D2688BC8B8}"/>
              </a:ext>
            </a:extLst>
          </p:cNvPr>
          <p:cNvSpPr>
            <a:spLocks noGrp="1"/>
          </p:cNvSpPr>
          <p:nvPr/>
        </p:nvSpPr>
        <p:spPr>
          <a:xfrm>
            <a:off x="4686300" y="21145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AF8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D4C54-E29D-4259-9C00-C81B587055D0}"/>
              </a:ext>
            </a:extLst>
          </p:cNvPr>
          <p:cNvSpPr>
            <a:spLocks noGrp="1"/>
          </p:cNvSpPr>
          <p:nvPr/>
        </p:nvSpPr>
        <p:spPr>
          <a:xfrm>
            <a:off x="4686300" y="2305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BLG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9E55D-FBAC-4173-A6A1-4B6BE9257377}"/>
              </a:ext>
            </a:extLst>
          </p:cNvPr>
          <p:cNvSpPr>
            <a:spLocks noGrp="1"/>
          </p:cNvSpPr>
          <p:nvPr/>
        </p:nvSpPr>
        <p:spPr>
          <a:xfrm>
            <a:off x="4819650" y="26479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E476BD-B8ED-48D0-83D8-079F206E9A06}"/>
              </a:ext>
            </a:extLst>
          </p:cNvPr>
          <p:cNvSpPr>
            <a:spLocks noGrp="1"/>
          </p:cNvSpPr>
          <p:nvPr/>
        </p:nvSpPr>
        <p:spPr>
          <a:xfrm>
            <a:off x="6686550" y="21145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8FB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F8BC7-6609-4632-A425-1BCAF138EA81}"/>
              </a:ext>
            </a:extLst>
          </p:cNvPr>
          <p:cNvSpPr>
            <a:spLocks noGrp="1"/>
          </p:cNvSpPr>
          <p:nvPr/>
        </p:nvSpPr>
        <p:spPr>
          <a:xfrm>
            <a:off x="6686550" y="2305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GPM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777946-64D3-4171-9EDE-DF8D64129739}"/>
              </a:ext>
            </a:extLst>
          </p:cNvPr>
          <p:cNvSpPr>
            <a:spLocks noGrp="1"/>
          </p:cNvSpPr>
          <p:nvPr/>
        </p:nvSpPr>
        <p:spPr>
          <a:xfrm>
            <a:off x="6819900" y="26479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9FABD7-725B-474E-9785-33AD248F26BF}"/>
              </a:ext>
            </a:extLst>
          </p:cNvPr>
          <p:cNvSpPr>
            <a:spLocks noGrp="1"/>
          </p:cNvSpPr>
          <p:nvPr/>
        </p:nvSpPr>
        <p:spPr>
          <a:xfrm>
            <a:off x="8686800" y="21145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AF8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E96C1A-38AC-4BDC-950C-4FE8F852794D}"/>
              </a:ext>
            </a:extLst>
          </p:cNvPr>
          <p:cNvSpPr>
            <a:spLocks noGrp="1"/>
          </p:cNvSpPr>
          <p:nvPr/>
        </p:nvSpPr>
        <p:spPr>
          <a:xfrm>
            <a:off x="8686800" y="2305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MNE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CFE792-CAA4-4E74-979B-721F4BCBF182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A1ABD8C-2A98-4EFB-BF37-83F45A3CF29E}"/>
              </a:ext>
            </a:extLst>
          </p:cNvPr>
          <p:cNvSpPr>
            <a:spLocks noGrp="1"/>
          </p:cNvSpPr>
          <p:nvPr/>
        </p:nvSpPr>
        <p:spPr>
          <a:xfrm>
            <a:off x="4686300" y="34480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8FB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DEBE9A-D97B-4DE3-B66B-1BF0B14AF038}"/>
              </a:ext>
            </a:extLst>
          </p:cNvPr>
          <p:cNvSpPr>
            <a:spLocks noGrp="1"/>
          </p:cNvSpPr>
          <p:nvPr/>
        </p:nvSpPr>
        <p:spPr>
          <a:xfrm>
            <a:off x="4686300" y="3638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IMT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63A994-BD9A-45B0-9B27-F3141C38F230}"/>
              </a:ext>
            </a:extLst>
          </p:cNvPr>
          <p:cNvSpPr>
            <a:spLocks noGrp="1"/>
          </p:cNvSpPr>
          <p:nvPr/>
        </p:nvSpPr>
        <p:spPr>
          <a:xfrm>
            <a:off x="4819650" y="3981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A019A49-8990-434D-9292-3FBE28789E32}"/>
              </a:ext>
            </a:extLst>
          </p:cNvPr>
          <p:cNvSpPr>
            <a:spLocks noGrp="1"/>
          </p:cNvSpPr>
          <p:nvPr/>
        </p:nvSpPr>
        <p:spPr>
          <a:xfrm>
            <a:off x="6686550" y="34480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AF8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A367E1-125E-4708-9A2E-F8B7083F1F1E}"/>
              </a:ext>
            </a:extLst>
          </p:cNvPr>
          <p:cNvSpPr>
            <a:spLocks noGrp="1"/>
          </p:cNvSpPr>
          <p:nvPr/>
        </p:nvSpPr>
        <p:spPr>
          <a:xfrm>
            <a:off x="6686550" y="3638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LNP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DC44D3-7535-4E0C-BBF3-8CFC09EB7D57}"/>
              </a:ext>
            </a:extLst>
          </p:cNvPr>
          <p:cNvSpPr>
            <a:spLocks noGrp="1"/>
          </p:cNvSpPr>
          <p:nvPr/>
        </p:nvSpPr>
        <p:spPr>
          <a:xfrm>
            <a:off x="6819900" y="3981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4B0D300-6026-4EBA-9D81-65E36071636A}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24000" cy="876300"/>
          </a:xfrm>
          <a:prstGeom prst="roundRect">
            <a:avLst>
              <a:gd name="adj" fmla="val 8696"/>
            </a:avLst>
          </a:prstGeom>
          <a:solidFill>
            <a:srgbClr val="F6F8FB"/>
          </a:solidFill>
          <a:ln w="9525">
            <a:solidFill>
              <a:srgbClr val="DBE3EB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6ACD39-F329-4894-BE56-83B24BF24019}"/>
              </a:ext>
            </a:extLst>
          </p:cNvPr>
          <p:cNvSpPr>
            <a:spLocks noGrp="1"/>
          </p:cNvSpPr>
          <p:nvPr/>
        </p:nvSpPr>
        <p:spPr>
          <a:xfrm>
            <a:off x="8686800" y="3638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ENG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D9A6A0-F7CC-4568-9A31-27FAC3E2F756}"/>
              </a:ext>
            </a:extLst>
          </p:cNvPr>
          <p:cNvSpPr>
            <a:spLocks noGrp="1"/>
          </p:cNvSpPr>
          <p:nvPr/>
        </p:nvSpPr>
        <p:spPr>
          <a:xfrm>
            <a:off x="8820150" y="3981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Support / condition / reject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DE4E64-F6CC-4E11-BFFC-F12B18DE7F03}"/>
              </a:ext>
            </a:extLst>
          </p:cNvPr>
          <p:cNvSpPr>
            <a:spLocks noGrp="1"/>
          </p:cNvSpPr>
          <p:nvPr/>
        </p:nvSpPr>
        <p:spPr>
          <a:xfrm>
            <a:off x="4781550" y="50101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External technical units record scoped remarks; IKL Technical consolidates the full site review.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7DB69D-C13A-4FDA-BC06-0B42CED5C7C9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7A9659-CD95-4D12-98F2-486C7D218CD6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BEDF52-9C8A-44E4-90C8-A57AF9A0651D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012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1A218D-1C07-4719-B69A-91A7D0B31F52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VERIFICATION AND APPROVAL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C044FC-1973-4589-8512-D8030E28A30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Approval governance is visible and auditable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1400E9-5454-42FA-B8DC-6711C1DA1B23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81700" y="1947949"/>
            <a:ext cx="5381625" cy="25239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2BD45D-D8E6-404B-99CB-98B01C620B61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419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FD90A-675F-410E-A3DC-29E245530BD2}"/>
              </a:ext>
            </a:extLst>
          </p:cNvPr>
          <p:cNvSpPr>
            <a:spLocks noGrp="1"/>
          </p:cNvSpPr>
          <p:nvPr/>
        </p:nvSpPr>
        <p:spPr>
          <a:xfrm>
            <a:off x="971550" y="2114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KB(LES)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EB8AE9-E64A-4FE2-893A-5097FCD71D18}"/>
              </a:ext>
            </a:extLst>
          </p:cNvPr>
          <p:cNvSpPr>
            <a:spLocks noGrp="1"/>
          </p:cNvSpPr>
          <p:nvPr/>
        </p:nvSpPr>
        <p:spPr>
          <a:xfrm>
            <a:off x="2667000" y="21145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Verify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298123-7D9F-47D1-854B-32912D92DDFA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419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8B2BD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61EB80-0434-4567-BD3E-2166613E6761}"/>
              </a:ext>
            </a:extLst>
          </p:cNvPr>
          <p:cNvSpPr>
            <a:spLocks noGrp="1"/>
          </p:cNvSpPr>
          <p:nvPr/>
        </p:nvSpPr>
        <p:spPr>
          <a:xfrm>
            <a:off x="971550" y="3105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8B2BD5"/>
                </a:solidFill>
              </a:defRPr>
            </a:pPr>
            <a:r>
              <a:rPr sz="1650" b="1">
                <a:solidFill>
                  <a:srgbClr val="8B2BD5"/>
                </a:solidFill>
              </a:rPr>
              <a:t>TP(RES)/PGH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8650A-F916-49AB-90FF-C26FF3D6D9F5}"/>
              </a:ext>
            </a:extLst>
          </p:cNvPr>
          <p:cNvSpPr>
            <a:spLocks noGrp="1"/>
          </p:cNvSpPr>
          <p:nvPr/>
        </p:nvSpPr>
        <p:spPr>
          <a:xfrm>
            <a:off x="2667000" y="31051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Final approval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BD8AC9-117F-4ABF-9E11-E3A37E1FA3A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4191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A13CB-A416-4E07-9642-455EC05B3DF4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F5FBF"/>
                </a:solidFill>
              </a:defRPr>
            </a:pPr>
            <a:r>
              <a:rPr sz="1650" b="1">
                <a:solidFill>
                  <a:srgbClr val="1F5FBF"/>
                </a:solidFill>
              </a:rPr>
              <a:t>MPHLG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B64A7-C192-422F-9269-87E5B7DD7057}"/>
              </a:ext>
            </a:extLst>
          </p:cNvPr>
          <p:cNvSpPr>
            <a:spLocks noGrp="1"/>
          </p:cNvSpPr>
          <p:nvPr/>
        </p:nvSpPr>
        <p:spPr>
          <a:xfrm>
            <a:off x="2667000" y="40957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Review when required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F798D-2953-4354-A560-EC7F33383BD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71527"/>
                </a:solidFill>
              </a:defRPr>
            </a:pPr>
            <a:r>
              <a:rPr sz="1650" b="1">
                <a:solidFill>
                  <a:srgbClr val="071527"/>
                </a:solidFill>
              </a:rPr>
              <a:t>Decision log captures department, recommendation, remarks, date, and signature reference.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F3D76-75A5-415D-A07A-A0040551937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0BC9C4-BACA-43BB-AFB6-A317259E4A96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627D12-96E8-476E-9FC5-15AABCC27138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530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E734CF5-F54C-47A2-89EE-6B2683E791E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DOCUMENTS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D9D9B-39AA-41AD-9483-626C0511B83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Payment and e-license complete the applicant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DE4496-A0F6-4079-9A5E-780D52DE4E67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E93306-064E-458D-B24D-98B1F535914D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85725" cy="8572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E8F1FD-E9CB-4C41-B7C7-68A3F7A0CFC1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Approval letter and bill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E0BB9-A73B-4705-A623-D74DF71931B7}"/>
              </a:ext>
            </a:extLst>
          </p:cNvPr>
          <p:cNvSpPr>
            <a:spLocks noGrp="1"/>
          </p:cNvSpPr>
          <p:nvPr/>
        </p:nvSpPr>
        <p:spPr>
          <a:xfrm>
            <a:off x="990600" y="2238375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PT(IKL) uploads approved documents for applicant 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65432-4C8E-4733-BAA3-29EAC66DB756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85725" cy="8572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EAF36D-9ED9-469D-81EC-976F19BA3E74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Receipt proof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B5364F-7561-47FB-AAF3-0ABBA927F58B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Applicant uploads payment receipt; PT(IKL) verifies valid or rejected payment.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2A13B-C28D-422B-96C8-FBD5179EE7F7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FC1B66-DEF2-466C-9AFA-3BCB10A52DFB}"/>
              </a:ext>
            </a:extLst>
          </p:cNvPr>
          <p:cNvSpPr>
            <a:spLocks noGrp="1"/>
          </p:cNvSpPr>
          <p:nvPr/>
        </p:nvSpPr>
        <p:spPr>
          <a:xfrm>
            <a:off x="990600" y="37147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Official receipt and advertisement license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28731F-730B-4995-B792-456D135B6CA3}"/>
              </a:ext>
            </a:extLst>
          </p:cNvPr>
          <p:cNvSpPr>
            <a:spLocks noGrp="1"/>
          </p:cNvSpPr>
          <p:nvPr/>
        </p:nvSpPr>
        <p:spPr>
          <a:xfrm>
            <a:off x="990600" y="3990975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Once verified, PT(IKL) uploads final documents and issues the QR e-license.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0C1B46-BF6A-4958-99F3-014D26BB38DB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914650" cy="2914650"/>
          </a:xfrm>
          <a:prstGeom prst="roundRect">
            <a:avLst>
              <a:gd name="adj" fmla="val 2614"/>
            </a:avLst>
          </a:prstGeom>
          <a:solidFill>
            <a:srgbClr val="F7FBFF"/>
          </a:solidFill>
          <a:ln w="9525">
            <a:solidFill>
              <a:srgbClr val="D4E2F2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54C11B-ED71-4228-B8D1-9F587DC92842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215265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4E2F2"/>
            </a:solidFill>
            <a:prstDash val="solid"/>
          </a:ln>
        </p:spPr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62800" y="2622503"/>
            <a:ext cx="1733550" cy="9462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2A3D687-7334-46B1-9AD9-386F23002FAE}"/>
              </a:ext>
            </a:extLst>
          </p:cNvPr>
          <p:cNvSpPr>
            <a:spLocks noGrp="1"/>
          </p:cNvSpPr>
          <p:nvPr/>
        </p:nvSpPr>
        <p:spPr>
          <a:xfrm>
            <a:off x="6877050" y="40386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Issued document package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F3EDD-F05C-4115-9AE7-48CE6BC9DA1C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06B49"/>
                </a:solidFill>
              </a:defRPr>
            </a:pPr>
            <a:r>
              <a:rPr sz="1875" b="1">
                <a:solidFill>
                  <a:srgbClr val="006B49"/>
                </a:solidFill>
              </a:rPr>
              <a:t>QR e-license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56E82F-D9B6-4E41-B573-932E325155D8}"/>
              </a:ext>
            </a:extLst>
          </p:cNvPr>
          <p:cNvSpPr>
            <a:spLocks noGrp="1"/>
          </p:cNvSpPr>
          <p:nvPr/>
        </p:nvSpPr>
        <p:spPr>
          <a:xfrm>
            <a:off x="6096000" y="55245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Downloadable by applicant after license issuance.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19EF5F-4E5A-430E-AEFC-F47B89DD7D5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7BEA43-3624-41C2-BBE0-299A4C84B90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A5847-480F-42C0-9E3A-5A894E88CBBE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020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70A107-78C1-40AB-B31E-7260D71A9D81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MONITORING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112D79-D05D-4483-AD7E-2AA8A388952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Controls continue after the license is issued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9B9B0-E1BD-4C2D-A988-FEA01BBF5AD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0CAB5D-B1F2-446B-9EA0-1EA4CD4FB62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286000" cy="2895600"/>
          </a:xfrm>
          <a:prstGeom prst="roundRect">
            <a:avLst>
              <a:gd name="adj" fmla="val 3333"/>
            </a:avLst>
          </a:prstGeom>
          <a:solidFill>
            <a:srgbClr val="F6FA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CC81ED-E265-4509-B1A1-772C83D73A04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0865D"/>
                </a:solidFill>
              </a:defRPr>
            </a:pPr>
            <a:r>
              <a:rPr sz="2550" b="1">
                <a:solidFill>
                  <a:srgbClr val="00865D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10779-E505-46EE-A4DD-518020762533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Decision history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1CACA-7C85-4E2B-A45D-87C8554A583A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Every DBKU and MPHLG decision is retained with remarks, officer, date, and document context.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A5B009-3170-4CFF-B62C-16FEA504BCC7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2286000" cy="289560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EE720-3723-4EF5-8F5D-042155B02899}"/>
              </a:ext>
            </a:extLst>
          </p:cNvPr>
          <p:cNvSpPr>
            <a:spLocks noGrp="1"/>
          </p:cNvSpPr>
          <p:nvPr/>
        </p:nvSpPr>
        <p:spPr>
          <a:xfrm>
            <a:off x="3695700" y="2247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F5FBF"/>
                </a:solidFill>
              </a:defRPr>
            </a:pPr>
            <a:r>
              <a:rPr sz="2550" b="1">
                <a:solidFill>
                  <a:srgbClr val="1F5FBF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6791DB-11B6-4B13-A751-A2428AFBC39E}"/>
              </a:ext>
            </a:extLst>
          </p:cNvPr>
          <p:cNvSpPr>
            <a:spLocks noGrp="1"/>
          </p:cNvSpPr>
          <p:nvPr/>
        </p:nvSpPr>
        <p:spPr>
          <a:xfrm>
            <a:off x="3695700" y="2876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Notifications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8AB0A7-7A7A-483C-9392-9DF74C7693FE}"/>
              </a:ext>
            </a:extLst>
          </p:cNvPr>
          <p:cNvSpPr>
            <a:spLocks noGrp="1"/>
          </p:cNvSpPr>
          <p:nvPr/>
        </p:nvSpPr>
        <p:spPr>
          <a:xfrm>
            <a:off x="3695700" y="35814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The system supports web notifications and can release renewal reminders by email and WhatsApp.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4687F8-FB61-454B-BECF-31C1DFFBF5D3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2286000" cy="2895600"/>
          </a:xfrm>
          <a:prstGeom prst="roundRect">
            <a:avLst>
              <a:gd name="adj" fmla="val 3333"/>
            </a:avLst>
          </a:prstGeom>
          <a:solidFill>
            <a:srgbClr val="F6FA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F927AE-4E57-4543-96A4-F14F6574E48E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F14DE-2ED8-4BA5-B8C3-57468503A623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Renewal monitoring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ADDF6D-007A-4781-8168-B04C8AF84B0F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Issued licenses are monitored at 3, 2, and 1 months before expiry.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FB72B1-3810-4B67-8D3B-AD470BBF1543}"/>
              </a:ext>
            </a:extLst>
          </p:cNvPr>
          <p:cNvSpPr>
            <a:spLocks noGrp="1"/>
          </p:cNvSpPr>
          <p:nvPr/>
        </p:nvSpPr>
        <p:spPr>
          <a:xfrm>
            <a:off x="9029700" y="2000250"/>
            <a:ext cx="2286000" cy="289560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C225B6-0F86-4C5C-AB29-8C2B70AC321A}"/>
              </a:ext>
            </a:extLst>
          </p:cNvPr>
          <p:cNvSpPr>
            <a:spLocks noGrp="1"/>
          </p:cNvSpPr>
          <p:nvPr/>
        </p:nvSpPr>
        <p:spPr>
          <a:xfrm>
            <a:off x="9258300" y="2247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8B2BD5"/>
                </a:solidFill>
              </a:defRPr>
            </a:pPr>
            <a:r>
              <a:rPr sz="2550" b="1">
                <a:solidFill>
                  <a:srgbClr val="8B2BD5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6FA426-EDBE-46CE-B778-FE32804B4A3E}"/>
              </a:ext>
            </a:extLst>
          </p:cNvPr>
          <p:cNvSpPr>
            <a:spLocks noGrp="1"/>
          </p:cNvSpPr>
          <p:nvPr/>
        </p:nvSpPr>
        <p:spPr>
          <a:xfrm>
            <a:off x="9258300" y="2876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71527"/>
                </a:solidFill>
              </a:defRPr>
            </a:pPr>
            <a:r>
              <a:rPr sz="1800" b="1">
                <a:solidFill>
                  <a:srgbClr val="071527"/>
                </a:solidFill>
              </a:rPr>
              <a:t>Cancellation route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07C351-C753-46B1-B83C-2D6FE5787655}"/>
              </a:ext>
            </a:extLst>
          </p:cNvPr>
          <p:cNvSpPr>
            <a:spLocks noGrp="1"/>
          </p:cNvSpPr>
          <p:nvPr/>
        </p:nvSpPr>
        <p:spPr>
          <a:xfrm>
            <a:off x="9258300" y="35814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27A"/>
                </a:solidFill>
              </a:defRPr>
            </a:pPr>
            <a:r>
              <a:rPr sz="1200" b="0">
                <a:solidFill>
                  <a:srgbClr val="52627A"/>
                </a:solidFill>
              </a:rPr>
              <a:t>After expiry without payment, PT(IKL) prepares notice, supervisor confirms, KB(LES) supports, applicant is notified.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1CF0BE-8206-485B-82EE-52AA7735F85B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5098B1-8ADE-4C18-88BF-5052694BB994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EBF97-5E58-4191-A7C6-6D96C4E0505E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91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AD095C-B344-4B0E-A72D-224E8CA10819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742DB9-B040-4790-9180-E3C4E3FB633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Framework and technical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C1ABB-629B-41D3-A5BF-C0491DE62A87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56C65-A1EA-4EF6-805A-A3A8AF649210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6FA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C8F34-CD97-4F64-B034-1F0CA91380B4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06B49"/>
                </a:solidFill>
              </a:defRPr>
            </a:pPr>
            <a:r>
              <a:rPr sz="2100" b="1">
                <a:solidFill>
                  <a:srgbClr val="006B49"/>
                </a:solidFill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04E7E1-4606-4D09-B8AB-8949A839689B}"/>
              </a:ext>
            </a:extLst>
          </p:cNvPr>
          <p:cNvSpPr>
            <a:spLocks noGrp="1"/>
          </p:cNvSpPr>
          <p:nvPr/>
        </p:nvSpPr>
        <p:spPr>
          <a:xfrm>
            <a:off x="106680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63FA1-2824-4C4B-A105-307891101C1C}"/>
              </a:ext>
            </a:extLst>
          </p:cNvPr>
          <p:cNvSpPr>
            <a:spLocks noGrp="1"/>
          </p:cNvSpPr>
          <p:nvPr/>
        </p:nvSpPr>
        <p:spPr>
          <a:xfrm>
            <a:off x="129540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React 19 + Vite 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4F0F0-C1B4-47E3-93B1-6B94C5FEBD9C}"/>
              </a:ext>
            </a:extLst>
          </p:cNvPr>
          <p:cNvSpPr>
            <a:spLocks noGrp="1"/>
          </p:cNvSpPr>
          <p:nvPr/>
        </p:nvSpPr>
        <p:spPr>
          <a:xfrm>
            <a:off x="129540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Single-page web application with fast build tooling.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A3EB1-39D3-4B8A-8ECF-2E526A849CC8}"/>
              </a:ext>
            </a:extLst>
          </p:cNvPr>
          <p:cNvSpPr>
            <a:spLocks noGrp="1"/>
          </p:cNvSpPr>
          <p:nvPr/>
        </p:nvSpPr>
        <p:spPr>
          <a:xfrm>
            <a:off x="106680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4E49E5-E98A-4BD9-AE25-DDA78F0D69DA}"/>
              </a:ext>
            </a:extLst>
          </p:cNvPr>
          <p:cNvSpPr>
            <a:spLocks noGrp="1"/>
          </p:cNvSpPr>
          <p:nvPr/>
        </p:nvSpPr>
        <p:spPr>
          <a:xfrm>
            <a:off x="129540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React Router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B85998-C248-46B4-8210-B21472A5A1D1}"/>
              </a:ext>
            </a:extLst>
          </p:cNvPr>
          <p:cNvSpPr>
            <a:spLocks noGrp="1"/>
          </p:cNvSpPr>
          <p:nvPr/>
        </p:nvSpPr>
        <p:spPr>
          <a:xfrm>
            <a:off x="129540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Role-based navigation for applicant, admin, and supervisor journeys.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81B2D-0C83-4ADF-B2DD-886D25645508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209EE-F95D-4A42-A677-7E621A345084}"/>
              </a:ext>
            </a:extLst>
          </p:cNvPr>
          <p:cNvSpPr>
            <a:spLocks noGrp="1"/>
          </p:cNvSpPr>
          <p:nvPr/>
        </p:nvSpPr>
        <p:spPr>
          <a:xfrm>
            <a:off x="129540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UI and document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1904F-27F9-42E2-9E25-DA5CAADA8994}"/>
              </a:ext>
            </a:extLst>
          </p:cNvPr>
          <p:cNvSpPr>
            <a:spLocks noGrp="1"/>
          </p:cNvSpPr>
          <p:nvPr/>
        </p:nvSpPr>
        <p:spPr>
          <a:xfrm>
            <a:off x="129540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CKEditor, qrcode.react, jsPDF/html2canvas, Mapbox/MapLibre.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698CCC-129B-4B61-A6CA-1595CEC8DD87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8298C-BCB8-4D6A-AE58-23194EBD9942}"/>
              </a:ext>
            </a:extLst>
          </p:cNvPr>
          <p:cNvSpPr>
            <a:spLocks noGrp="1"/>
          </p:cNvSpPr>
          <p:nvPr/>
        </p:nvSpPr>
        <p:spPr>
          <a:xfrm>
            <a:off x="478155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F5FBF"/>
                </a:solidFill>
              </a:defRPr>
            </a:pPr>
            <a:r>
              <a:rPr sz="2100" b="1">
                <a:solidFill>
                  <a:srgbClr val="1F5FBF"/>
                </a:solidFill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2B46AF-5412-451F-AD49-69A89F39FAE6}"/>
              </a:ext>
            </a:extLst>
          </p:cNvPr>
          <p:cNvSpPr>
            <a:spLocks noGrp="1"/>
          </p:cNvSpPr>
          <p:nvPr/>
        </p:nvSpPr>
        <p:spPr>
          <a:xfrm>
            <a:off x="485775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77FE6-8FD5-4F43-BFDA-DF4432B9B669}"/>
              </a:ext>
            </a:extLst>
          </p:cNvPr>
          <p:cNvSpPr>
            <a:spLocks noGrp="1"/>
          </p:cNvSpPr>
          <p:nvPr/>
        </p:nvSpPr>
        <p:spPr>
          <a:xfrm>
            <a:off x="508635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Django 5.2 + DRF 3.17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7F7EFE-F429-44D2-B64C-F77EE4E423E3}"/>
              </a:ext>
            </a:extLst>
          </p:cNvPr>
          <p:cNvSpPr>
            <a:spLocks noGrp="1"/>
          </p:cNvSpPr>
          <p:nvPr/>
        </p:nvSpPr>
        <p:spPr>
          <a:xfrm>
            <a:off x="508635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REST API layer for applications, accounts, and notifications.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8BFD46-8D9D-4437-B0A2-05242319D4AB}"/>
              </a:ext>
            </a:extLst>
          </p:cNvPr>
          <p:cNvSpPr>
            <a:spLocks noGrp="1"/>
          </p:cNvSpPr>
          <p:nvPr/>
        </p:nvSpPr>
        <p:spPr>
          <a:xfrm>
            <a:off x="485775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FDF0D8-69D7-4A49-ADF0-0B85C8AEFADE}"/>
              </a:ext>
            </a:extLst>
          </p:cNvPr>
          <p:cNvSpPr>
            <a:spLocks noGrp="1"/>
          </p:cNvSpPr>
          <p:nvPr/>
        </p:nvSpPr>
        <p:spPr>
          <a:xfrm>
            <a:off x="508635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SimpleJWT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DC1753-9B19-4237-9D75-3D5FB0F642D7}"/>
              </a:ext>
            </a:extLst>
          </p:cNvPr>
          <p:cNvSpPr>
            <a:spLocks noGrp="1"/>
          </p:cNvSpPr>
          <p:nvPr/>
        </p:nvSpPr>
        <p:spPr>
          <a:xfrm>
            <a:off x="508635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Bearer-token authentication with rotating refresh tokens.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8706B-38B2-4C62-8143-CEBA5EAFEA97}"/>
              </a:ext>
            </a:extLst>
          </p:cNvPr>
          <p:cNvSpPr>
            <a:spLocks noGrp="1"/>
          </p:cNvSpPr>
          <p:nvPr/>
        </p:nvSpPr>
        <p:spPr>
          <a:xfrm>
            <a:off x="485775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7D1C9C-F839-4A51-961D-7D2F993A120A}"/>
              </a:ext>
            </a:extLst>
          </p:cNvPr>
          <p:cNvSpPr>
            <a:spLocks noGrp="1"/>
          </p:cNvSpPr>
          <p:nvPr/>
        </p:nvSpPr>
        <p:spPr>
          <a:xfrm>
            <a:off x="508635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PostgreSQL-ready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8BE4E8-5844-44FE-BC04-43BEB263A8D9}"/>
              </a:ext>
            </a:extLst>
          </p:cNvPr>
          <p:cNvSpPr>
            <a:spLocks noGrp="1"/>
          </p:cNvSpPr>
          <p:nvPr/>
        </p:nvSpPr>
        <p:spPr>
          <a:xfrm>
            <a:off x="508635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psycopg2-binary dependency, media/static handling with WhiteNoise.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DB7E16-3793-47C6-9CA7-FCA4A4054E65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FFAF2"/>
          </a:solidFill>
          <a:ln w="9525">
            <a:solidFill>
              <a:srgbClr val="EAD8B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F2465-5799-4993-AB80-7005AB0EE424}"/>
              </a:ext>
            </a:extLst>
          </p:cNvPr>
          <p:cNvSpPr>
            <a:spLocks noGrp="1"/>
          </p:cNvSpPr>
          <p:nvPr/>
        </p:nvSpPr>
        <p:spPr>
          <a:xfrm>
            <a:off x="857250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FD2510-CCA9-4FAC-893E-E22D33AFE003}"/>
              </a:ext>
            </a:extLst>
          </p:cNvPr>
          <p:cNvSpPr>
            <a:spLocks noGrp="1"/>
          </p:cNvSpPr>
          <p:nvPr/>
        </p:nvSpPr>
        <p:spPr>
          <a:xfrm>
            <a:off x="864870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1A5DB1-6F26-4F15-80D1-DEE3A718ADC1}"/>
              </a:ext>
            </a:extLst>
          </p:cNvPr>
          <p:cNvSpPr>
            <a:spLocks noGrp="1"/>
          </p:cNvSpPr>
          <p:nvPr/>
        </p:nvSpPr>
        <p:spPr>
          <a:xfrm>
            <a:off x="887730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Gunicorn and Docker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C30C18-6E80-4469-8411-5A57A1CC4751}"/>
              </a:ext>
            </a:extLst>
          </p:cNvPr>
          <p:cNvSpPr>
            <a:spLocks noGrp="1"/>
          </p:cNvSpPr>
          <p:nvPr/>
        </p:nvSpPr>
        <p:spPr>
          <a:xfrm>
            <a:off x="887730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Backend can run as a production WSGI service.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053A3A-C613-434F-8778-7C2A1FFAFD64}"/>
              </a:ext>
            </a:extLst>
          </p:cNvPr>
          <p:cNvSpPr>
            <a:spLocks noGrp="1"/>
          </p:cNvSpPr>
          <p:nvPr/>
        </p:nvSpPr>
        <p:spPr>
          <a:xfrm>
            <a:off x="864870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C37881-93D7-4B96-B935-E469B38636BF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Nginx frontend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A0C4D8-7D0B-401A-AB4E-3B91419E3798}"/>
              </a:ext>
            </a:extLst>
          </p:cNvPr>
          <p:cNvSpPr>
            <a:spLocks noGrp="1"/>
          </p:cNvSpPr>
          <p:nvPr/>
        </p:nvSpPr>
        <p:spPr>
          <a:xfrm>
            <a:off x="887730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Frontend includes nginx config for static delivery.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B3F0CF-D634-459E-9BB4-C5AF68A413AC}"/>
              </a:ext>
            </a:extLst>
          </p:cNvPr>
          <p:cNvSpPr>
            <a:spLocks noGrp="1"/>
          </p:cNvSpPr>
          <p:nvPr/>
        </p:nvSpPr>
        <p:spPr>
          <a:xfrm>
            <a:off x="864870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18BF60-8209-46CB-AB0C-EA4CF3B2383B}"/>
              </a:ext>
            </a:extLst>
          </p:cNvPr>
          <p:cNvSpPr>
            <a:spLocks noGrp="1"/>
          </p:cNvSpPr>
          <p:nvPr/>
        </p:nvSpPr>
        <p:spPr>
          <a:xfrm>
            <a:off x="887730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71527"/>
                </a:solidFill>
              </a:defRPr>
            </a:pPr>
            <a:r>
              <a:rPr sz="1350" b="1">
                <a:solidFill>
                  <a:srgbClr val="071527"/>
                </a:solidFill>
              </a:rPr>
              <a:t>CORS configured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F0B2B-5D5A-4C35-9DA6-6F37D964A22A}"/>
              </a:ext>
            </a:extLst>
          </p:cNvPr>
          <p:cNvSpPr>
            <a:spLocks noGrp="1"/>
          </p:cNvSpPr>
          <p:nvPr/>
        </p:nvSpPr>
        <p:spPr>
          <a:xfrm>
            <a:off x="887730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27A"/>
                </a:solidFill>
              </a:defRPr>
            </a:pPr>
            <a:r>
              <a:rPr sz="1125" b="0">
                <a:solidFill>
                  <a:srgbClr val="52627A"/>
                </a:solidFill>
              </a:rPr>
              <a:t>Allowed origins include localhost and fastrack.sapotlokal.my.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F70477-8794-408B-9ED4-31126268CAB2}"/>
              </a:ext>
            </a:extLst>
          </p:cNvPr>
          <p:cNvSpPr>
            <a:spLocks noGrp="1"/>
          </p:cNvSpPr>
          <p:nvPr/>
        </p:nvSpPr>
        <p:spPr>
          <a:xfrm>
            <a:off x="819150" y="5410200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Architecture pattern: React client -&gt; authenticated REST API -&gt; Django domain modules -&gt; database, media, and notification services.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88A3AF-93C8-4733-BFD4-8828680D6D3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AB0CD3-6F28-49CA-A2B5-0BF73306D4B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514AB6-E51D-4BAA-8BEB-4A65142D140B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908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6623257-D972-42C2-935F-A66E1D16AF2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SECURITY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0E741-C9BC-4A57-9E79-E77FF7C8B2C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Rate limiting as backend traffic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194D0-8D19-448D-90A5-F52A18A8603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C6B61-D1BA-443F-8087-3DE1149E9194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71527"/>
                </a:solidFill>
              </a:defRPr>
            </a:pPr>
            <a:r>
              <a:rPr sz="1500" b="1">
                <a:solidFill>
                  <a:srgbClr val="071527"/>
                </a:solidFill>
              </a:rPr>
              <a:t>If a user, browser, or IP sends too many requests, Django temporarily blocks the request with 429 Too Many Requests.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16AD03-6507-448F-86B9-E728DE9C4CDD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8BC7A4-3AE8-45D2-859F-90F0F916FE30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76200" cy="1390650"/>
          </a:xfrm>
          <a:prstGeom prst="rect">
            <a:avLst/>
          </a:prstGeom>
          <a:solidFill>
            <a:srgbClr val="006B4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AEC07-A0F3-41B0-B641-D40A86B9A035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6B49"/>
                </a:solidFill>
              </a:defRPr>
            </a:pPr>
            <a:r>
              <a:rPr sz="1650" b="1">
                <a:solidFill>
                  <a:srgbClr val="006B49"/>
                </a:solidFill>
              </a:rPr>
              <a:t>Normal API traffic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28F42-31B1-4C00-B501-0AD4F80E5854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Anonymous API: 120/min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A605D-8E60-4372-8B47-44FC493F3DEA}"/>
              </a:ext>
            </a:extLst>
          </p:cNvPr>
          <p:cNvSpPr>
            <a:spLocks noGrp="1"/>
          </p:cNvSpPr>
          <p:nvPr/>
        </p:nvSpPr>
        <p:spPr>
          <a:xfrm>
            <a:off x="2800350" y="27622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Public pages, register, and login-page API calls before the user signs 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CEBC6-5898-4FA8-B782-E858C79EFDDF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Logged-in API: 1000/min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9A4ED-988F-4434-A4B1-622FA3ED867C}"/>
              </a:ext>
            </a:extLst>
          </p:cNvPr>
          <p:cNvSpPr>
            <a:spLocks noGrp="1"/>
          </p:cNvSpPr>
          <p:nvPr/>
        </p:nvSpPr>
        <p:spPr>
          <a:xfrm>
            <a:off x="2800350" y="3028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High enough for normal staff/applicant work, but still stops loops or spam clicks.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46ACC0-D8C3-42A8-82AE-C326CFD82887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FFAF2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61219-361A-4DA7-9548-89EF93E5D21D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76200" cy="13906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4B356-8CF6-4A99-A029-F58E0CFC0C8A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Login protection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7768E-9800-4B83-B517-214375AEFF78}"/>
              </a:ext>
            </a:extLst>
          </p:cNvPr>
          <p:cNvSpPr>
            <a:spLocks noGrp="1"/>
          </p:cNvSpPr>
          <p:nvPr/>
        </p:nvSpPr>
        <p:spPr>
          <a:xfrm>
            <a:off x="6553200" y="27622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Login per IP: 120/min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4B8461-6080-4712-A8CE-D892DA4D991A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Blocks obvious login flooding from one internet address.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FECF61-350F-4CD2-9281-521D26B1EFE0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Login username+IP: 10/min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0C6AE4-EA35-459F-93E6-D27712E8C215}"/>
              </a:ext>
            </a:extLst>
          </p:cNvPr>
          <p:cNvSpPr>
            <a:spLocks noGrp="1"/>
          </p:cNvSpPr>
          <p:nvPr/>
        </p:nvSpPr>
        <p:spPr>
          <a:xfrm>
            <a:off x="8362950" y="3028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Example: someone keeps guessing the password for ptikl from the same computer.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2510BC-103D-49EE-9BF4-5D8F1113E2B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4953000" cy="1581150"/>
          </a:xfrm>
          <a:prstGeom prst="roundRect">
            <a:avLst>
              <a:gd name="adj" fmla="val 4819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19058-71A1-4A6F-BE7D-69B13CB0C446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6200" cy="15811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367AB-6092-4282-AC6B-DDE1813594DA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F5FBF"/>
                </a:solidFill>
              </a:defRPr>
            </a:pPr>
            <a:r>
              <a:rPr sz="1650" b="1">
                <a:solidFill>
                  <a:srgbClr val="1F5FBF"/>
                </a:solidFill>
              </a:rPr>
              <a:t>Account recovery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CCE51A-AFD0-403A-8A8F-8A721A9F0229}"/>
              </a:ext>
            </a:extLst>
          </p:cNvPr>
          <p:cNvSpPr>
            <a:spLocks noGrp="1"/>
          </p:cNvSpPr>
          <p:nvPr/>
        </p:nvSpPr>
        <p:spPr>
          <a:xfrm>
            <a:off x="990600" y="4438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Register: 20/hour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8BF457-AAF4-42C7-A79B-263F39DB1D7E}"/>
              </a:ext>
            </a:extLst>
          </p:cNvPr>
          <p:cNvSpPr>
            <a:spLocks noGrp="1"/>
          </p:cNvSpPr>
          <p:nvPr/>
        </p:nvSpPr>
        <p:spPr>
          <a:xfrm>
            <a:off x="2800350" y="4438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Helps stop fake account creation from one IP.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AAD824-6018-4AF9-A0F7-894FFE566C38}"/>
              </a:ext>
            </a:extLst>
          </p:cNvPr>
          <p:cNvSpPr>
            <a:spLocks noGrp="1"/>
          </p:cNvSpPr>
          <p:nvPr/>
        </p:nvSpPr>
        <p:spPr>
          <a:xfrm>
            <a:off x="990600" y="468630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Reset request: 5/hour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1CE7C-50B1-4572-ABB6-49C2645B4CA8}"/>
              </a:ext>
            </a:extLst>
          </p:cNvPr>
          <p:cNvSpPr>
            <a:spLocks noGrp="1"/>
          </p:cNvSpPr>
          <p:nvPr/>
        </p:nvSpPr>
        <p:spPr>
          <a:xfrm>
            <a:off x="2800350" y="468630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Stops email or WhatsApp OTP spam.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005CF-F59B-4E5A-8D66-AD9AC4E11F6B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OTP verify: 30/hour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73E136-0B10-478F-8E63-EAF141AF050D}"/>
              </a:ext>
            </a:extLst>
          </p:cNvPr>
          <p:cNvSpPr>
            <a:spLocks noGrp="1"/>
          </p:cNvSpPr>
          <p:nvPr/>
        </p:nvSpPr>
        <p:spPr>
          <a:xfrm>
            <a:off x="2800350" y="4933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Limits repeated OTP guessing attempts.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149F01-05B1-4599-8F67-5A1897BBAAEF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Reset confirm: 10/hour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BAC88E-444E-43CF-A0D6-CD9CA9F3B154}"/>
              </a:ext>
            </a:extLst>
          </p:cNvPr>
          <p:cNvSpPr>
            <a:spLocks noGrp="1"/>
          </p:cNvSpPr>
          <p:nvPr/>
        </p:nvSpPr>
        <p:spPr>
          <a:xfrm>
            <a:off x="2800350" y="518160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Limits final password changes.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2AD5786-BA49-4154-86B0-71243A92503F}"/>
              </a:ext>
            </a:extLst>
          </p:cNvPr>
          <p:cNvSpPr>
            <a:spLocks noGrp="1"/>
          </p:cNvSpPr>
          <p:nvPr/>
        </p:nvSpPr>
        <p:spPr>
          <a:xfrm>
            <a:off x="6286500" y="39433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FFAF2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4FFAA5-4B5E-4082-BB89-8A0B194140EB}"/>
              </a:ext>
            </a:extLst>
          </p:cNvPr>
          <p:cNvSpPr>
            <a:spLocks noGrp="1"/>
          </p:cNvSpPr>
          <p:nvPr/>
        </p:nvSpPr>
        <p:spPr>
          <a:xfrm>
            <a:off x="6286500" y="3943350"/>
            <a:ext cx="76200" cy="1390650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3BFF4C-07C3-4CC4-BAD1-CE04958BBAED}"/>
              </a:ext>
            </a:extLst>
          </p:cNvPr>
          <p:cNvSpPr>
            <a:spLocks noGrp="1"/>
          </p:cNvSpPr>
          <p:nvPr/>
        </p:nvSpPr>
        <p:spPr>
          <a:xfrm>
            <a:off x="6553200" y="40957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8B2BD5"/>
                </a:solidFill>
              </a:defRPr>
            </a:pPr>
            <a:r>
              <a:rPr sz="1650" b="1">
                <a:solidFill>
                  <a:srgbClr val="8B2BD5"/>
                </a:solidFill>
              </a:rPr>
              <a:t>File upload protection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5AAB5-6F29-4FAA-B486-30364BC6BEB8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Upload: 60/hour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F76397-73A8-4615-B4D6-FFFC77CDB50D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A logged-in user can upload files up to 60 times per hour.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8D32-A40F-405D-9EAB-C021265B063D}"/>
              </a:ext>
            </a:extLst>
          </p:cNvPr>
          <p:cNvSpPr>
            <a:spLocks noGrp="1"/>
          </p:cNvSpPr>
          <p:nvPr/>
        </p:nvSpPr>
        <p:spPr>
          <a:xfrm>
            <a:off x="6553200" y="47053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71527"/>
                </a:solidFill>
              </a:defRPr>
            </a:pPr>
            <a:r>
              <a:rPr sz="1125" b="1">
                <a:solidFill>
                  <a:srgbClr val="071527"/>
                </a:solidFill>
              </a:rPr>
              <a:t>Why it matters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6C4877-7F8B-450E-A51F-3E3567360E6F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Protects storage and server resources from repeated upload spam.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12C5E7-886C-4439-9D64-48F25D67117A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06B49"/>
                </a:solidFill>
              </a:defRPr>
            </a:pPr>
            <a:r>
              <a:rPr sz="1575" b="1">
                <a:solidFill>
                  <a:srgbClr val="006B49"/>
                </a:solidFill>
              </a:rPr>
              <a:t>For ALiS, the defaults are balanced: strict on login/reset, generous for normal logged-in usage.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8D21D1-76AA-4A4A-93D5-6507E0EEACC2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BD144D-189E-42EC-AC46-A3D84E5C2CAE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10C9A5-A956-4A8A-809E-DA5E01BE3A71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0164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7A10BF-0A4A-4630-AE9A-ECC5DA48C9F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06B49"/>
                </a:solidFill>
              </a:defRPr>
            </a:pPr>
            <a:r>
              <a:rPr sz="1125" b="1">
                <a:solidFill>
                  <a:srgbClr val="006B49"/>
                </a:solidFill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23A7E-C4ED-4AEA-B1BD-825697F9C9F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71527"/>
                </a:solidFill>
              </a:defRPr>
            </a:pPr>
            <a:r>
              <a:rPr sz="3150" b="1">
                <a:solidFill>
                  <a:srgbClr val="071527"/>
                </a:solidFill>
              </a:rPr>
              <a:t>Recommended presentation 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BDC8A4-E101-4238-8825-D00EAA5EB59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814888"/>
            <a:ext cx="4762500" cy="25995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F70B2D-6CFC-47CC-9FDF-9ECA2FCDF7A9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4762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071527"/>
                </a:solidFill>
              </a:defRPr>
            </a:pPr>
            <a:r>
              <a:rPr sz="2475" b="1">
                <a:solidFill>
                  <a:srgbClr val="071527"/>
                </a:solidFill>
              </a:rPr>
              <a:t>ALiS gives DBKU an auditable operating model for advertisement licensing.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3F3CE-B7DE-4999-B918-BAE3E820A7CE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30368-E40B-463A-9475-9539DC767FAB}"/>
              </a:ext>
            </a:extLst>
          </p:cNvPr>
          <p:cNvSpPr>
            <a:spLocks noGrp="1"/>
          </p:cNvSpPr>
          <p:nvPr/>
        </p:nvSpPr>
        <p:spPr>
          <a:xfrm>
            <a:off x="1143000" y="35623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Confirm standard operating ownership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A4D9F-9C4E-473E-8C85-62CF8FF81AD4}"/>
              </a:ext>
            </a:extLst>
          </p:cNvPr>
          <p:cNvSpPr>
            <a:spLocks noGrp="1"/>
          </p:cNvSpPr>
          <p:nvPr/>
        </p:nvSpPr>
        <p:spPr>
          <a:xfrm>
            <a:off x="1143000" y="38385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Validate each queue, permission, and status label with department leads.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58459F-8A65-4027-8732-CB3125CEBF9E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79277-0F43-4C1F-B0AA-8047A834A1C7}"/>
              </a:ext>
            </a:extLst>
          </p:cNvPr>
          <p:cNvSpPr>
            <a:spLocks noGrp="1"/>
          </p:cNvSpPr>
          <p:nvPr/>
        </p:nvSpPr>
        <p:spPr>
          <a:xfrm>
            <a:off x="1143000" y="422910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Train by real user journey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F93871-1C1A-493D-9D56-4034D37A35EC}"/>
              </a:ext>
            </a:extLst>
          </p:cNvPr>
          <p:cNvSpPr>
            <a:spLocks noGrp="1"/>
          </p:cNvSpPr>
          <p:nvPr/>
        </p:nvSpPr>
        <p:spPr>
          <a:xfrm>
            <a:off x="1143000" y="45053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Run one sample application from submission to QR e-license.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E7565-3827-4D99-AA47-B03E5E8F87EE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B0CDC1-126A-4F60-90CE-706A11ADFE25}"/>
              </a:ext>
            </a:extLst>
          </p:cNvPr>
          <p:cNvSpPr>
            <a:spLocks noGrp="1"/>
          </p:cNvSpPr>
          <p:nvPr/>
        </p:nvSpPr>
        <p:spPr>
          <a:xfrm>
            <a:off x="1143000" y="4895850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71527"/>
                </a:solidFill>
              </a:defRPr>
            </a:pPr>
            <a:r>
              <a:rPr sz="1575" b="1">
                <a:solidFill>
                  <a:srgbClr val="071527"/>
                </a:solidFill>
              </a:rPr>
              <a:t>Track operational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E1766-9E37-4125-9E58-A875A8C96C91}"/>
              </a:ext>
            </a:extLst>
          </p:cNvPr>
          <p:cNvSpPr>
            <a:spLocks noGrp="1"/>
          </p:cNvSpPr>
          <p:nvPr/>
        </p:nvSpPr>
        <p:spPr>
          <a:xfrm>
            <a:off x="1143000" y="51720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27A"/>
                </a:solidFill>
              </a:defRPr>
            </a:pPr>
            <a:r>
              <a:rPr sz="1275" b="0">
                <a:solidFill>
                  <a:srgbClr val="52627A"/>
                </a:solidFill>
              </a:rPr>
              <a:t>Monitor pending tasks, resubmissions, approval duration, payment completion, and renewals.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E9783-364C-4A26-8BE1-6C6D9332D37E}"/>
              </a:ext>
            </a:extLst>
          </p:cNvPr>
          <p:cNvSpPr>
            <a:spLocks noGrp="1"/>
          </p:cNvSpPr>
          <p:nvPr/>
        </p:nvSpPr>
        <p:spPr>
          <a:xfrm>
            <a:off x="6229350" y="4667250"/>
            <a:ext cx="4629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6B49"/>
                </a:solidFill>
              </a:defRPr>
            </a:pPr>
            <a:r>
              <a:rPr sz="1650" b="1">
                <a:solidFill>
                  <a:srgbClr val="006B49"/>
                </a:solidFill>
              </a:rPr>
              <a:t>Use the live system screenshots during the talk to anchor discussion in actual DBKU workflows.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F57A1-6835-40E4-A04F-244EE4F0F9AD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6B9E5-66DD-43CB-A888-201E74B75CAE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2627A"/>
                </a:solidFill>
              </a:defRPr>
            </a:pPr>
            <a:r>
              <a:rPr sz="975" b="0">
                <a:solidFill>
                  <a:srgbClr val="52627A"/>
                </a:solidFill>
              </a:rPr>
              <a:t>DBKU Advertisement License Application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B520B-0351-4B34-B4BE-69C0659503A6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52627A"/>
                </a:solidFill>
              </a:defRPr>
            </a:pPr>
            <a:r>
              <a:rPr sz="975" b="1">
                <a:solidFill>
                  <a:srgbClr val="5262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8154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Microsoft Office PowerPoint</Application>
  <DocSecurity>0</DocSecurity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2026-06-30T05:07:44Z</dcterms:created>
  <dcterms:modified xsi:type="dcterms:W3CDTF">2026-06-30T05:13:24Z</dcterms:modified>
</cp:coreProperties>
</file>