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d4f762d5e6492e" /><Relationship Type="http://schemas.openxmlformats.org/officeDocument/2006/relationships/extended-properties" Target="/docProps/app.xml" Id="R4b9f78c5208446ab" /><Relationship Type="http://schemas.openxmlformats.org/officeDocument/2006/relationships/officeDocument" Target="/ppt/presentation.xml" Id="R681a6f331b6a4d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aa67b6ec37413b"/>
  </p:sldMasterIdLst>
  <p:notesMasterIdLst>
    <p:notesMasterId xmlns:r="http://schemas.openxmlformats.org/officeDocument/2006/relationships" r:id="Rfb28b0ad26f24071"/>
  </p:notesMasterIdLst>
  <p:sldIdLst>
    <p:sldId xmlns:r="http://schemas.openxmlformats.org/officeDocument/2006/relationships" id="256" r:id="R898dbc3de94e4144"/>
    <p:sldId xmlns:r="http://schemas.openxmlformats.org/officeDocument/2006/relationships" id="257" r:id="R9663a870022d4be2"/>
    <p:sldId xmlns:r="http://schemas.openxmlformats.org/officeDocument/2006/relationships" id="258" r:id="R5ecb0b96a07049e5"/>
    <p:sldId xmlns:r="http://schemas.openxmlformats.org/officeDocument/2006/relationships" id="259" r:id="R64d30956bd504acf"/>
    <p:sldId xmlns:r="http://schemas.openxmlformats.org/officeDocument/2006/relationships" id="260" r:id="R525b08206ab14b9e"/>
    <p:sldId xmlns:r="http://schemas.openxmlformats.org/officeDocument/2006/relationships" id="261" r:id="R1aae07766f5b4290"/>
    <p:sldId xmlns:r="http://schemas.openxmlformats.org/officeDocument/2006/relationships" id="262" r:id="Rf4271781ea6543f4"/>
    <p:sldId xmlns:r="http://schemas.openxmlformats.org/officeDocument/2006/relationships" id="263" r:id="R5ec8fb36592f49a2"/>
    <p:sldId xmlns:r="http://schemas.openxmlformats.org/officeDocument/2006/relationships" id="264" r:id="R3de62991a9194b8a"/>
    <p:sldId xmlns:r="http://schemas.openxmlformats.org/officeDocument/2006/relationships" id="265" r:id="R42438288675a44d0"/>
    <p:sldId xmlns:r="http://schemas.openxmlformats.org/officeDocument/2006/relationships" id="266" r:id="R86eaac967d4143f5"/>
    <p:sldId xmlns:r="http://schemas.openxmlformats.org/officeDocument/2006/relationships" id="267" r:id="R6818895465b349f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7edcd3b42e4331" /><Relationship Type="http://schemas.openxmlformats.org/officeDocument/2006/relationships/slideMaster" Target="/ppt/slideMasters/slideMaster1.xml" Id="R6baa67b6ec37413b" /><Relationship Type="http://schemas.openxmlformats.org/officeDocument/2006/relationships/notesMaster" Target="/ppt/notesMasters/notesMaster1.xml" Id="Rfb28b0ad26f24071" /><Relationship Type="http://schemas.openxmlformats.org/officeDocument/2006/relationships/presProps" Target="/ppt/presProps.xml" Id="R465d9ae5cf924b94" /><Relationship Type="http://schemas.openxmlformats.org/officeDocument/2006/relationships/tableStyles" Target="/ppt/tableStyles.xml" Id="Raa45bb6c57c64bf2" /><Relationship Type="http://schemas.openxmlformats.org/officeDocument/2006/relationships/slide" Target="/ppt/slides/slide1.xml" Id="R898dbc3de94e4144" /><Relationship Type="http://schemas.openxmlformats.org/officeDocument/2006/relationships/slide" Target="/ppt/slides/slide2.xml" Id="R9663a870022d4be2" /><Relationship Type="http://schemas.openxmlformats.org/officeDocument/2006/relationships/slide" Target="/ppt/slides/slide3.xml" Id="R5ecb0b96a07049e5" /><Relationship Type="http://schemas.openxmlformats.org/officeDocument/2006/relationships/slide" Target="/ppt/slides/slide4.xml" Id="R64d30956bd504acf" /><Relationship Type="http://schemas.openxmlformats.org/officeDocument/2006/relationships/slide" Target="/ppt/slides/slide5.xml" Id="R525b08206ab14b9e" /><Relationship Type="http://schemas.openxmlformats.org/officeDocument/2006/relationships/slide" Target="/ppt/slides/slide6.xml" Id="R1aae07766f5b4290" /><Relationship Type="http://schemas.openxmlformats.org/officeDocument/2006/relationships/slide" Target="/ppt/slides/slide7.xml" Id="Rf4271781ea6543f4" /><Relationship Type="http://schemas.openxmlformats.org/officeDocument/2006/relationships/slide" Target="/ppt/slides/slide8.xml" Id="R5ec8fb36592f49a2" /><Relationship Type="http://schemas.openxmlformats.org/officeDocument/2006/relationships/slide" Target="/ppt/slides/slide9.xml" Id="R3de62991a9194b8a" /><Relationship Type="http://schemas.openxmlformats.org/officeDocument/2006/relationships/slide" Target="/ppt/slides/slide10.xml" Id="R42438288675a44d0" /><Relationship Type="http://schemas.openxmlformats.org/officeDocument/2006/relationships/slide" Target="/ppt/slides/slide11.xml" Id="R86eaac967d4143f5" /><Relationship Type="http://schemas.openxmlformats.org/officeDocument/2006/relationships/slide" Target="/ppt/slides/slide12.xml" Id="R6818895465b349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fad9ccec9b48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66f633e7e443f6" /><Relationship Type="http://schemas.openxmlformats.org/officeDocument/2006/relationships/notesMaster" Target="/ppt/notesMasters/notesMaster1.xml" Id="Ra016c8587c4f48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17928d0dc0f4fb7" /><Relationship Type="http://schemas.openxmlformats.org/officeDocument/2006/relationships/notesMaster" Target="/ppt/notesMasters/notesMaster1.xml" Id="Rd40dde6c0b1c429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bd765403fe4def" /><Relationship Type="http://schemas.openxmlformats.org/officeDocument/2006/relationships/notesMaster" Target="/ppt/notesMasters/notesMaster1.xml" Id="Rc6ac4e538c6845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596956283194db1" /><Relationship Type="http://schemas.openxmlformats.org/officeDocument/2006/relationships/notesMaster" Target="/ppt/notesMasters/notesMaster1.xml" Id="R528fe14c3a55488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b352f9a4e41461d" /><Relationship Type="http://schemas.openxmlformats.org/officeDocument/2006/relationships/notesMaster" Target="/ppt/notesMasters/notesMaster1.xml" Id="Ra41cdb5846f1434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bf04b39333146a2" /><Relationship Type="http://schemas.openxmlformats.org/officeDocument/2006/relationships/notesMaster" Target="/ppt/notesMasters/notesMaster1.xml" Id="R47457f67dca644f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4ef3058f1b743c1" /><Relationship Type="http://schemas.openxmlformats.org/officeDocument/2006/relationships/notesMaster" Target="/ppt/notesMasters/notesMaster1.xml" Id="R3e0b820eca24406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a162e7eb5f8452c" /><Relationship Type="http://schemas.openxmlformats.org/officeDocument/2006/relationships/notesMaster" Target="/ppt/notesMasters/notesMaster1.xml" Id="R11a5f2dc6f3c409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58aca2c944543bb" /><Relationship Type="http://schemas.openxmlformats.org/officeDocument/2006/relationships/notesMaster" Target="/ppt/notesMasters/notesMaster1.xml" Id="Ra263b3a9fa8f470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e906cae00e245c8" /><Relationship Type="http://schemas.openxmlformats.org/officeDocument/2006/relationships/notesMaster" Target="/ppt/notesMasters/notesMaster1.xml" Id="R8d0f1016f2d2463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a6100859ca549ab" /><Relationship Type="http://schemas.openxmlformats.org/officeDocument/2006/relationships/notesMaster" Target="/ppt/notesMasters/notesMaster1.xml" Id="R0ebf83696c63425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80524575c9a4bb4" /><Relationship Type="http://schemas.openxmlformats.org/officeDocument/2006/relationships/notesMaster" Target="/ppt/notesMasters/notesMaster1.xml" Id="R1275168c3ae74f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0ff9ef4ee243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ebc120971d43b9" /><Relationship Type="http://schemas.openxmlformats.org/officeDocument/2006/relationships/slideLayout" Target="/ppt/slideLayouts/slideLayout1.xml" Id="Recd9d1cfee4b40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d9d1cfee4b40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610f77e40d4abc" /><Relationship Type="http://schemas.openxmlformats.org/officeDocument/2006/relationships/image" Target="/ppt/media/image.png" Id="R6eb122501dad447a" /><Relationship Type="http://schemas.openxmlformats.org/officeDocument/2006/relationships/notesSlide" Target="/ppt/notesSlides/notesSlide1.xml" Id="R01d1150ebb0a4a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7fb268f6f34e02" /><Relationship Type="http://schemas.openxmlformats.org/officeDocument/2006/relationships/notesSlide" Target="/ppt/notesSlides/notesSlide2.xml" Id="Ref15de63a12747b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d3d572d5a34a97" /><Relationship Type="http://schemas.openxmlformats.org/officeDocument/2006/relationships/notesSlide" Target="/ppt/notesSlides/notesSlide3.xml" Id="R5598a3b022804ee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ce99acef5e4266" /><Relationship Type="http://schemas.openxmlformats.org/officeDocument/2006/relationships/notesSlide" Target="/ppt/notesSlides/notesSlide4.xml" Id="R824bf87a9057439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633d8ddac14306" /><Relationship Type="http://schemas.openxmlformats.org/officeDocument/2006/relationships/image" Target="/ppt/media/image2.png" Id="R601029d607e44fc1" /><Relationship Type="http://schemas.openxmlformats.org/officeDocument/2006/relationships/notesSlide" Target="/ppt/notesSlides/notesSlide5.xml" Id="R67c9c5b490a541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394904e1f24fd4" /><Relationship Type="http://schemas.openxmlformats.org/officeDocument/2006/relationships/notesSlide" Target="/ppt/notesSlides/notesSlide6.xml" Id="Re741a015d964436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8fbcbbd3904ce4" /><Relationship Type="http://schemas.openxmlformats.org/officeDocument/2006/relationships/image" Target="/ppt/media/image3.png" Id="R2350ee45d29344aa" /><Relationship Type="http://schemas.openxmlformats.org/officeDocument/2006/relationships/notesSlide" Target="/ppt/notesSlides/notesSlide7.xml" Id="Rfacc68241e48459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a80c19db314547" /><Relationship Type="http://schemas.openxmlformats.org/officeDocument/2006/relationships/image" Target="/ppt/media/image4.png" Id="R95a8b6e824c54445" /><Relationship Type="http://schemas.openxmlformats.org/officeDocument/2006/relationships/notesSlide" Target="/ppt/notesSlides/notesSlide8.xml" Id="R08e98abade724aa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7523af1cd44332" /><Relationship Type="http://schemas.openxmlformats.org/officeDocument/2006/relationships/notesSlide" Target="/ppt/notesSlides/notesSlide9.xml" Id="R43bf581eb4de4fd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ad23db4f9742fd" /><Relationship Type="http://schemas.openxmlformats.org/officeDocument/2006/relationships/notesSlide" Target="/ppt/notesSlides/notesSlide10.xml" Id="R5917206d8cdf4b7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db329459c44b78" /><Relationship Type="http://schemas.openxmlformats.org/officeDocument/2006/relationships/notesSlide" Target="/ppt/notesSlides/notesSlide11.xml" Id="R7beb4a707e1f453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32d9a21b0343cd" /><Relationship Type="http://schemas.openxmlformats.org/officeDocument/2006/relationships/image" Target="/ppt/media/image5.png" Id="R7f2b61d62d9d4a5a" /><Relationship Type="http://schemas.openxmlformats.org/officeDocument/2006/relationships/notesSlide" Target="/ppt/notesSlides/notesSlide12.xml" Id="R2b780b3aca3c42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b122501dad447a"/>
          <a:stretch xmlns:a="http://schemas.openxmlformats.org/drawingml/2006/main"/>
        </p:blipFill>
        <p:spPr>
          <a:xfrm xmlns:a="http://schemas.openxmlformats.org/drawingml/2006/main">
            <a:off x="6457950" y="724672"/>
            <a:ext cx="4953000" cy="270355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FB1595-C445-4AD5-B228-7B4D7349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006B49"/>
                </a:solidFill>
              </a:defRPr>
            </a:pPr>
            <a:r>
              <a:rPr sz="5850" b="1">
                <a:solidFill>
                  <a:srgbClr val="006B49"/>
                </a:solidFill>
              </a:rPr>
              <a:t>ALiS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E553D0-5628-42BB-9EE7-7D85AEAFD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561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71527"/>
                </a:solidFill>
              </a:defRPr>
            </a:pPr>
            <a:r>
              <a:rPr sz="2625" b="1">
                <a:solidFill>
                  <a:srgbClr val="071527"/>
                </a:solidFill>
              </a:rPr>
              <a:t>Advertisement License Application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CC1F46-9697-4292-AC87-0070886F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519112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27A"/>
                </a:solidFill>
              </a:defRPr>
            </a:pPr>
            <a:r>
              <a:rPr sz="1800" b="0">
                <a:solidFill>
                  <a:srgbClr val="52627A"/>
                </a:solidFill>
              </a:rPr>
              <a:t>A role-based platform for DBKU advertisement licensing, technical review, approval, payment, and QR e-license issuance.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0884DB-43D2-4366-89DA-F837D6B29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8200"/>
            <a:ext cx="32004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9F8F1"/>
          </a:solidFill>
          <a:ln xmlns:a="http://schemas.openxmlformats.org/drawingml/2006/main" w="9525">
            <a:solidFill>
              <a:srgbClr val="00865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66E761-02F6-4927-B476-BEA0B65D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910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6B49"/>
                </a:solidFill>
              </a:defRPr>
            </a:pPr>
            <a:r>
              <a:rPr sz="1350" b="1">
                <a:solidFill>
                  <a:srgbClr val="006B49"/>
                </a:solidFill>
              </a:rPr>
              <a:t>System-focused presentation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D90CA1-EE41-4399-B7E3-AC55D13D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72100"/>
            <a:ext cx="638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27A"/>
                </a:solidFill>
              </a:defRPr>
            </a:pPr>
            <a:r>
              <a:rPr sz="1200" b="0">
                <a:solidFill>
                  <a:srgbClr val="52627A"/>
                </a:solidFill>
              </a:rPr>
              <a:t>Condensed from the demo deck and verified against the current ALiS repository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DEECD2-FC23-4ECA-8CBE-A2C5190B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8F9590-66AE-4D8E-B586-F4E6B61C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27A"/>
                </a:solidFill>
              </a:defRPr>
            </a:pPr>
            <a:r>
              <a:rPr sz="975" b="0">
                <a:solidFill>
                  <a:srgbClr val="52627A"/>
                </a:solidFill>
              </a:rPr>
              <a:t>DBKU Advertisement License Application 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C60A24-A7AC-48EF-8142-1BD0BD3E1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27A"/>
                </a:solidFill>
              </a:defRPr>
            </a:pPr>
            <a:r>
              <a:rPr sz="975" b="1">
                <a:solidFill>
                  <a:srgbClr val="52627A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339650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334E3E-CB8C-4F52-8015-46A81CF6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6B49"/>
                </a:solidFill>
              </a:defRPr>
            </a:pPr>
            <a:r>
              <a:rPr sz="1125" b="1">
                <a:solidFill>
                  <a:srgbClr val="006B49"/>
                </a:solidFill>
              </a:rPr>
              <a:t>SYSTEM PURPOSE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790202-CF2D-49E8-900A-FC56BF7BE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847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71527"/>
                </a:solidFill>
              </a:defRPr>
            </a:pPr>
            <a:r>
              <a:rPr sz="3150" b="1">
                <a:solidFill>
                  <a:srgbClr val="071527"/>
                </a:solidFill>
              </a:rPr>
              <a:t>What ALiS is built to solve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C4513A-1E69-418B-A49C-F6561E51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629AFA-A325-4218-8B01-4B72EA3F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6B49"/>
                </a:solidFill>
              </a:defRPr>
            </a:pPr>
            <a:r>
              <a:rPr sz="3900" b="1">
                <a:solidFill>
                  <a:srgbClr val="006B49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510D40-256C-4FFA-91DC-AD0AFB348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146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27A"/>
                </a:solidFill>
              </a:defRPr>
            </a:pPr>
            <a:r>
              <a:rPr sz="1275" b="0">
                <a:solidFill>
                  <a:srgbClr val="52627A"/>
                </a:solidFill>
              </a:rPr>
              <a:t>single source of truth for advertisement license applications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485CD9-BB94-4DA0-91B6-BD0CBD8B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0500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F5FBF"/>
                </a:solidFill>
              </a:defRPr>
            </a:pPr>
            <a:r>
              <a:rPr sz="3900" b="1">
                <a:solidFill>
                  <a:srgbClr val="1F5FBF"/>
                </a:solidFill>
              </a:rPr>
              <a:t>11+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47C6F1-D75C-40D8-B5E5-3CB546F4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146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27A"/>
                </a:solidFill>
              </a:defRPr>
            </a:pPr>
            <a:r>
              <a:rPr sz="1275" b="0">
                <a:solidFill>
                  <a:srgbClr val="52627A"/>
                </a:solidFill>
              </a:rPr>
              <a:t>internal and approval roles participating in one workflow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F03748-9C0A-483E-B9A1-B8392890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0500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8B2BD5"/>
                </a:solidFill>
              </a:defRPr>
            </a:pPr>
            <a:r>
              <a:rPr sz="3900" b="1">
                <a:solidFill>
                  <a:srgbClr val="8B2BD5"/>
                </a:solidFill>
              </a:rPr>
              <a:t>QR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D60436-F43F-4471-9C71-EFBF61961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146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27A"/>
                </a:solidFill>
              </a:defRPr>
            </a:pPr>
            <a:r>
              <a:rPr sz="1275" b="0">
                <a:solidFill>
                  <a:srgbClr val="52627A"/>
                </a:solidFill>
              </a:rPr>
              <a:t>e-license output for applicant download and verification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22CC63-5788-46A5-9567-4E8587248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1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0991BF-7575-43AF-B503-CB57EC6E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14800"/>
            <a:ext cx="933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71527"/>
                </a:solidFill>
              </a:defRPr>
            </a:pPr>
            <a:r>
              <a:rPr sz="1575" b="1">
                <a:solidFill>
                  <a:srgbClr val="071527"/>
                </a:solidFill>
              </a:rPr>
              <a:t>Replace fragmented handoffs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5AFF47-43FA-4343-B23D-6ED32425E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91025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27A"/>
                </a:solidFill>
              </a:defRPr>
            </a:pPr>
            <a:r>
              <a:rPr sz="1275" b="0">
                <a:solidFill>
                  <a:srgbClr val="52627A"/>
                </a:solidFill>
              </a:rPr>
              <a:t>Tasks move through named units with visible ownership and status.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15991A-7F7F-4746-94B1-11248F01A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434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553B15-7571-4954-B3EE-7015835C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48200"/>
            <a:ext cx="933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71527"/>
                </a:solidFill>
              </a:defRPr>
            </a:pPr>
            <a:r>
              <a:rPr sz="1575" b="1">
                <a:solidFill>
                  <a:srgbClr val="071527"/>
                </a:solidFill>
              </a:rPr>
              <a:t>Make decisions traceable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D5A6C9-F769-4A08-BEF7-E4E92F692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24425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27A"/>
                </a:solidFill>
              </a:defRPr>
            </a:pPr>
            <a:r>
              <a:rPr sz="1275" b="0">
                <a:solidFill>
                  <a:srgbClr val="52627A"/>
                </a:solidFill>
              </a:rPr>
              <a:t>Recommendations, remarks, signatures, dates, and generated documents stay with the application.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FBDDF1-708C-4B6A-9D93-80517898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768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05FE7B-A0A8-4E16-AEAC-251930C1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81600"/>
            <a:ext cx="933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71527"/>
                </a:solidFill>
              </a:defRPr>
            </a:pPr>
            <a:r>
              <a:rPr sz="1575" b="1">
                <a:solidFill>
                  <a:srgbClr val="071527"/>
                </a:solidFill>
              </a:rPr>
              <a:t>Close the loop with applicants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91236E-FF3E-49AA-A566-941A23DCB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457825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27A"/>
                </a:solidFill>
              </a:defRPr>
            </a:pPr>
            <a:r>
              <a:rPr sz="1275" b="0">
                <a:solidFill>
                  <a:srgbClr val="52627A"/>
                </a:solidFill>
              </a:rPr>
              <a:t>Applicants receive documents, upload receipts, and download the QR e-license from ALiS.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3155E6-120C-46D6-B1EA-176327F0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1627F7-1FF4-4116-AD80-189CDCAF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27A"/>
                </a:solidFill>
              </a:defRPr>
            </a:pPr>
            <a:r>
              <a:rPr sz="975" b="0">
                <a:solidFill>
                  <a:srgbClr val="52627A"/>
                </a:solidFill>
              </a:rPr>
              <a:t>DBKU Advertisement License Application System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628AD2-CFDC-434D-995D-28EB466A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27A"/>
                </a:solidFill>
              </a:defRPr>
            </a:pPr>
            <a:r>
              <a:rPr sz="975" b="1">
                <a:solidFill>
                  <a:srgbClr val="52627A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136549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855D2F-F70B-463D-8A36-3993D9D5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6B49"/>
                </a:solidFill>
              </a:defRPr>
            </a:pPr>
            <a:r>
              <a:rPr sz="1125" b="1">
                <a:solidFill>
                  <a:srgbClr val="006B49"/>
                </a:solidFill>
              </a:rPr>
              <a:t>USERS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E9D0FD-3ED8-4BA7-BD8A-7B60B0A5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847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71527"/>
                </a:solidFill>
              </a:defRPr>
            </a:pPr>
            <a:r>
              <a:rPr sz="3150" b="1">
                <a:solidFill>
                  <a:srgbClr val="071527"/>
                </a:solidFill>
              </a:rPr>
              <a:t>Role-based workspaces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CB1EC5-92E1-4502-8DDF-54E85B062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66818E-7225-46BE-B10B-E60AF3E5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481012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6FAF8"/>
          </a:solidFill>
          <a:ln xmlns:a="http://schemas.openxmlformats.org/drawingml/2006/main" w="9525">
            <a:solidFill>
              <a:srgbClr val="D8E3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D69921-4C53-4B3A-B59B-BE6E77F4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24050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6B49"/>
                </a:solidFill>
              </a:defRPr>
            </a:pPr>
            <a:r>
              <a:rPr sz="1500" b="1">
                <a:solidFill>
                  <a:srgbClr val="006B49"/>
                </a:solidFill>
              </a:rPr>
              <a:t>Applicant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43233C-9072-4573-BC43-0D6897210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924050"/>
            <a:ext cx="2457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27A"/>
                </a:solidFill>
              </a:defRPr>
            </a:pPr>
            <a:r>
              <a:rPr sz="1200" b="0">
                <a:solidFill>
                  <a:srgbClr val="52627A"/>
                </a:solidFill>
              </a:rPr>
              <a:t>Submit application, upload documents, pay, download QR.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82B06E-997A-4DF9-ADC7-E45C1CA7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809750"/>
            <a:ext cx="481012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8E3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80D7DE-50E8-4F0C-A420-19E98F26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24050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6B49"/>
                </a:solidFill>
              </a:defRPr>
            </a:pPr>
            <a:r>
              <a:rPr sz="1500" b="1">
                <a:solidFill>
                  <a:srgbClr val="006B49"/>
                </a:solidFill>
              </a:rPr>
              <a:t>PT(IKL)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EA7ACB-C0C4-4BEA-B35C-79BD38949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1924050"/>
            <a:ext cx="2457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27A"/>
                </a:solidFill>
              </a:defRPr>
            </a:pPr>
            <a:r>
              <a:rPr sz="1200" b="0">
                <a:solidFill>
                  <a:srgbClr val="52627A"/>
                </a:solidFill>
              </a:rPr>
              <a:t>Returned cases, letters, bills, receipts, e-license.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4CC1CD-A6F2-43CC-B5BD-B64D4DBC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481012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6FAF8"/>
          </a:solidFill>
          <a:ln xmlns:a="http://schemas.openxmlformats.org/drawingml/2006/main" w="9525">
            <a:solidFill>
              <a:srgbClr val="D8E3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B64635-A7C5-4115-92CB-868FEEBD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0350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6B49"/>
                </a:solidFill>
              </a:defRPr>
            </a:pPr>
            <a:r>
              <a:rPr sz="1500" b="1">
                <a:solidFill>
                  <a:srgbClr val="006B49"/>
                </a:solidFill>
              </a:rPr>
              <a:t>KU(IKL)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A02D22-7A99-4E81-8BB7-634424B3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800350"/>
            <a:ext cx="2457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27A"/>
                </a:solidFill>
              </a:defRPr>
            </a:pPr>
            <a:r>
              <a:rPr sz="1200" b="0">
                <a:solidFill>
                  <a:srgbClr val="52627A"/>
                </a:solidFill>
              </a:rPr>
              <a:t>Initial screening and final technical checking.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F54B7E-FDE1-4AA8-A5BE-13BE713AC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686050"/>
            <a:ext cx="481012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8E3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83AA9C-88BF-47A6-8B3D-757271F6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800350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6B49"/>
                </a:solidFill>
              </a:defRPr>
            </a:pPr>
            <a:r>
              <a:rPr sz="1500" b="1">
                <a:solidFill>
                  <a:srgbClr val="006B49"/>
                </a:solidFill>
              </a:rPr>
              <a:t>IKL Technical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D44473-157F-4163-9CA4-F795E3F7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800350"/>
            <a:ext cx="2457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27A"/>
                </a:solidFill>
              </a:defRPr>
            </a:pPr>
            <a:r>
              <a:rPr sz="1200" b="0">
                <a:solidFill>
                  <a:srgbClr val="52627A"/>
                </a:solidFill>
              </a:rPr>
              <a:t>Site visit, fee/deposit calculation, recommendation.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056C64-6F34-4998-84A7-B817CF1CD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62350"/>
            <a:ext cx="481012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6FAF8"/>
          </a:solidFill>
          <a:ln xmlns:a="http://schemas.openxmlformats.org/drawingml/2006/main" w="9525">
            <a:solidFill>
              <a:srgbClr val="D8E3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138E7A-C552-43EB-8233-F820F806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76650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71527"/>
                </a:solidFill>
              </a:defRPr>
            </a:pPr>
            <a:r>
              <a:rPr sz="1500" b="1">
                <a:solidFill>
                  <a:srgbClr val="071527"/>
                </a:solidFill>
              </a:rPr>
              <a:t>Technical Units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986F74-C340-4B67-840B-E7F0ED50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676650"/>
            <a:ext cx="2457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27A"/>
                </a:solidFill>
              </a:defRPr>
            </a:pPr>
            <a:r>
              <a:rPr sz="1200" b="0">
                <a:solidFill>
                  <a:srgbClr val="52627A"/>
                </a:solidFill>
              </a:rPr>
              <a:t>BLG, GPM, MNE, IMT, LNP, and ENG specialist reviews.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BADCD6-C29F-47CA-860E-8EAD2F04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562350"/>
            <a:ext cx="481012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8E3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542697-33FD-4F4A-8D39-F15B40260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676650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71527"/>
                </a:solidFill>
              </a:defRPr>
            </a:pPr>
            <a:r>
              <a:rPr sz="1500" b="1">
                <a:solidFill>
                  <a:srgbClr val="071527"/>
                </a:solidFill>
              </a:rPr>
              <a:t>KB(LES)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0A4FB4-141F-49AA-A3E6-46420F00A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676650"/>
            <a:ext cx="2457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27A"/>
                </a:solidFill>
              </a:defRPr>
            </a:pPr>
            <a:r>
              <a:rPr sz="1200" b="0">
                <a:solidFill>
                  <a:srgbClr val="52627A"/>
                </a:solidFill>
              </a:rPr>
              <a:t>Verification and unit support before approval.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82EA1D-61D4-4C2F-AFD3-6FCF5340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481012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6FAF8"/>
          </a:solidFill>
          <a:ln xmlns:a="http://schemas.openxmlformats.org/drawingml/2006/main" w="9525">
            <a:solidFill>
              <a:srgbClr val="D8E3E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EEB92E-28B7-4316-AEC9-E8DE4A27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52950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71527"/>
                </a:solidFill>
              </a:defRPr>
            </a:pPr>
            <a:r>
              <a:rPr sz="1500" b="1">
                <a:solidFill>
                  <a:srgbClr val="071527"/>
                </a:solidFill>
              </a:rPr>
              <a:t>TP(RES)/PGH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77F7A2-FE56-4379-88C7-31714474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552950"/>
            <a:ext cx="2457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27A"/>
                </a:solidFill>
              </a:defRPr>
            </a:pPr>
            <a:r>
              <a:rPr sz="1200" b="0">
                <a:solidFill>
                  <a:srgbClr val="52627A"/>
                </a:solidFill>
              </a:rPr>
              <a:t>Final approval recommendation and management decision.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1D929A-CF71-47D5-984B-F8D96504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438650"/>
            <a:ext cx="481012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8E3E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507A7C-DC1A-4F07-BD38-FE624621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552950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71527"/>
                </a:solidFill>
              </a:defRPr>
            </a:pPr>
            <a:r>
              <a:rPr sz="1500" b="1">
                <a:solidFill>
                  <a:srgbClr val="071527"/>
                </a:solidFill>
              </a:rPr>
              <a:t>MPHLG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E5A360-A9B6-449F-95C9-C579AA19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552950"/>
            <a:ext cx="2457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27A"/>
                </a:solidFill>
              </a:defRPr>
            </a:pPr>
            <a:r>
              <a:rPr sz="1200" b="0">
                <a:solidFill>
                  <a:srgbClr val="52627A"/>
                </a:solidFill>
              </a:rPr>
              <a:t>External review or approval stage where required.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9DBD83-0235-4E0E-B13F-2F9B0E7D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8FF78C-D479-488B-BD1F-768EB6872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27A"/>
                </a:solidFill>
              </a:defRPr>
            </a:pPr>
            <a:r>
              <a:rPr sz="975" b="0">
                <a:solidFill>
                  <a:srgbClr val="52627A"/>
                </a:solidFill>
              </a:rPr>
              <a:t>DBKU Advertisement License Application System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B9F9A6-0EFD-4E13-936B-7A1D45E4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27A"/>
                </a:solidFill>
              </a:defRPr>
            </a:pPr>
            <a:r>
              <a:rPr sz="975" b="1">
                <a:solidFill>
                  <a:srgbClr val="52627A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290433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7A0CD1-8FB3-4860-9CD4-9EC52E9B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6B49"/>
                </a:solidFill>
              </a:defRPr>
            </a:pPr>
            <a:r>
              <a:rPr sz="1125" b="1">
                <a:solidFill>
                  <a:srgbClr val="006B49"/>
                </a:solidFill>
              </a:rPr>
              <a:t>OPERATIONAL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61DB98-A86C-4BB5-91C0-F46CE62F3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847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71527"/>
                </a:solidFill>
              </a:defRPr>
            </a:pPr>
            <a:r>
              <a:rPr sz="3150" b="1">
                <a:solidFill>
                  <a:srgbClr val="071527"/>
                </a:solidFill>
              </a:rPr>
              <a:t>End-to-end license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11347D-61CE-4EEE-B914-7977FB15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E2A01F-67F7-41AB-9136-3C276543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228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9368D8-DACB-4617-B120-280476CD2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0865D"/>
          </a:solidFill>
          <a:ln xmlns:a="http://schemas.openxmlformats.org/drawingml/2006/main" w="9525">
            <a:solidFill>
              <a:srgbClr val="00865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F37E44-AABE-4516-9840-3E43A28EB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8D459E-ECF4-4BF6-9943-FB707595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71527"/>
                </a:solidFill>
              </a:defRPr>
            </a:pPr>
            <a:r>
              <a:rPr sz="1275" b="1">
                <a:solidFill>
                  <a:srgbClr val="071527"/>
                </a:solidFill>
              </a:rPr>
              <a:t>Applicant submits form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6421BC-411C-41CF-9E64-C3B19455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52650"/>
            <a:ext cx="228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0C86CD-CE98-4B57-97BC-8BC6812C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383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0865D"/>
          </a:solidFill>
          <a:ln xmlns:a="http://schemas.openxmlformats.org/drawingml/2006/main" w="9525">
            <a:solidFill>
              <a:srgbClr val="00865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A6E98B-AF0B-4A0D-936E-2F288C4C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145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FA6CC7-019C-4572-85F8-24349855A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9080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71527"/>
                </a:solidFill>
              </a:defRPr>
            </a:pPr>
            <a:r>
              <a:rPr sz="1275" b="1">
                <a:solidFill>
                  <a:srgbClr val="071527"/>
                </a:solidFill>
              </a:rPr>
              <a:t>KU(IKL) screens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DC21DE-3673-4F44-80A7-B7A8C849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52650"/>
            <a:ext cx="228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A568ED-1942-45FC-B726-BEB8D916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383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F5FBF"/>
          </a:solidFill>
          <a:ln xmlns:a="http://schemas.openxmlformats.org/drawingml/2006/main" w="9525">
            <a:solidFill>
              <a:srgbClr val="1F5FB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696986-81BE-4C2B-9057-9B3CD7C9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145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87782C-F0AB-4652-985E-87D21DDB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9080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71527"/>
                </a:solidFill>
              </a:defRPr>
            </a:pPr>
            <a:r>
              <a:rPr sz="1275" b="1">
                <a:solidFill>
                  <a:srgbClr val="071527"/>
                </a:solidFill>
              </a:rPr>
              <a:t>Technical 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EA4123-DAC1-4692-BE75-6A22E160E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52650"/>
            <a:ext cx="228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984F70-F529-4489-A41F-D58898B4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383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F5FBF"/>
          </a:solidFill>
          <a:ln xmlns:a="http://schemas.openxmlformats.org/drawingml/2006/main" w="9525">
            <a:solidFill>
              <a:srgbClr val="1F5FB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30035C-37C7-4C76-BA57-7606A14C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145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4E97E9-614F-40C9-A472-49AC590E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9080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71527"/>
                </a:solidFill>
              </a:defRPr>
            </a:pPr>
            <a:r>
              <a:rPr sz="1275" b="1">
                <a:solidFill>
                  <a:srgbClr val="071527"/>
                </a:solidFill>
              </a:rPr>
              <a:t>KU(IKL) final check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5798FB-D4AF-49DA-BFE0-106DCE79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228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2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FA6307-2B7E-49CF-9B85-98F96184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8B2BD5"/>
          </a:solidFill>
          <a:ln xmlns:a="http://schemas.openxmlformats.org/drawingml/2006/main" w="9525">
            <a:solidFill>
              <a:srgbClr val="8B2B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69F439-6411-4048-B765-BCD7CFD9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624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C0279B-D0E7-4FEB-97C9-A83AE49B5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71527"/>
                </a:solidFill>
              </a:defRPr>
            </a:pPr>
            <a:r>
              <a:rPr sz="1275" b="1">
                <a:solidFill>
                  <a:srgbClr val="071527"/>
                </a:solidFill>
              </a:rPr>
              <a:t>KB(LES) verifies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1E1147-FD29-4D01-B219-162C4133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00500"/>
            <a:ext cx="228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2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F80484-0971-4B87-8F47-F0162E41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862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8B2BD5"/>
          </a:solidFill>
          <a:ln xmlns:a="http://schemas.openxmlformats.org/drawingml/2006/main" w="9525">
            <a:solidFill>
              <a:srgbClr val="8B2B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EB605A-0022-44D3-A594-91B47927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624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35205B-8CA3-47DE-91C5-E9C771F0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386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71527"/>
                </a:solidFill>
              </a:defRPr>
            </a:pPr>
            <a:r>
              <a:rPr sz="1275" b="1">
                <a:solidFill>
                  <a:srgbClr val="071527"/>
                </a:solidFill>
              </a:rPr>
              <a:t>TP(RES)/PGH approves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1A9B42-60B7-4185-9C48-C5D45679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00500"/>
            <a:ext cx="228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B7E6B9-9884-4264-895E-371296B5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862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E2AC86-600F-4691-9C17-8406060BC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624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7DE143-C2CE-4A6B-87A3-E278AE81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386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71527"/>
                </a:solidFill>
              </a:defRPr>
            </a:pPr>
            <a:r>
              <a:rPr sz="1275" b="1">
                <a:solidFill>
                  <a:srgbClr val="071527"/>
                </a:solidFill>
              </a:rPr>
              <a:t>PT(IKL) bill and receipt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8D1C13-DD36-4029-A617-48FE6FE0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000500"/>
            <a:ext cx="228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596D84-B0BB-45F8-B80D-629EA296B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8862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B5ECC10-A095-4994-BE0E-3EAD27A7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9624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982CB4-B445-4C85-870F-F9CCC982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4386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71527"/>
                </a:solidFill>
              </a:defRPr>
            </a:pPr>
            <a:r>
              <a:rPr sz="1275" b="1">
                <a:solidFill>
                  <a:srgbClr val="071527"/>
                </a:solidFill>
              </a:rPr>
              <a:t>QR e-license issued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0CB6A8B-6576-40C1-BC1C-4FED315F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864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71527"/>
                </a:solidFill>
              </a:defRPr>
            </a:pPr>
            <a:r>
              <a:rPr sz="1650" b="1">
                <a:solidFill>
                  <a:srgbClr val="071527"/>
                </a:solidFill>
              </a:rPr>
              <a:t>Every step is linked to a status label, task queue, decision log, and department permission.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A35DC4E-2886-48C9-92E3-41E0811C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2FD0213-2C78-418B-959C-48D49F24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27A"/>
                </a:solidFill>
              </a:defRPr>
            </a:pPr>
            <a:r>
              <a:rPr sz="975" b="0">
                <a:solidFill>
                  <a:srgbClr val="52627A"/>
                </a:solidFill>
              </a:rPr>
              <a:t>DBKU Advertisement License Application System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18AB1E1-38BF-4CEC-8912-46ABAE087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27A"/>
                </a:solidFill>
              </a:defRPr>
            </a:pPr>
            <a:r>
              <a:rPr sz="975" b="1">
                <a:solidFill>
                  <a:srgbClr val="52627A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037437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F74FC1-E913-41C9-86A4-1FADBEF8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6B49"/>
                </a:solidFill>
              </a:defRPr>
            </a:pPr>
            <a:r>
              <a:rPr sz="1125" b="1">
                <a:solidFill>
                  <a:srgbClr val="006B49"/>
                </a:solidFill>
              </a:rPr>
              <a:t>TASK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F2D03D-7630-4939-875C-BDA08B2A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847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71527"/>
                </a:solidFill>
              </a:defRPr>
            </a:pPr>
            <a:r>
              <a:rPr sz="3150" b="1">
                <a:solidFill>
                  <a:srgbClr val="071527"/>
                </a:solidFill>
              </a:rPr>
              <a:t>Dashboards show the next action clearly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5399EB-164A-4462-95D1-37220BFA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E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1029d607e44fc1"/>
          <a:stretch xmlns:a="http://schemas.openxmlformats.org/drawingml/2006/main"/>
        </p:blipFill>
        <p:spPr>
          <a:xfrm xmlns:a="http://schemas.openxmlformats.org/drawingml/2006/main">
            <a:off x="5676900" y="1824241"/>
            <a:ext cx="5715000" cy="264754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E52175-A0A4-4505-A3D6-0C43B343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133450-B7E5-48AB-9AAA-0A6A6ED26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71527"/>
                </a:solidFill>
              </a:defRPr>
            </a:pPr>
            <a:r>
              <a:rPr sz="1575" b="1">
                <a:solidFill>
                  <a:srgbClr val="071527"/>
                </a:solidFill>
              </a:rPr>
              <a:t>Process list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9DD023-4AC4-45FF-9D9B-26D2CB33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88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27A"/>
                </a:solidFill>
              </a:defRPr>
            </a:pPr>
            <a:r>
              <a:rPr sz="1275" b="0">
                <a:solidFill>
                  <a:srgbClr val="52627A"/>
                </a:solidFill>
              </a:rPr>
              <a:t>Users see their unit and task count before opening the queue.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0375DF-ED81-4801-A2C6-71482674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860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6E0A65-98D9-48F8-8A17-D8AE6218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9082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71527"/>
                </a:solidFill>
              </a:defRPr>
            </a:pPr>
            <a:r>
              <a:rPr sz="1575" b="1">
                <a:solidFill>
                  <a:srgbClr val="071527"/>
                </a:solidFill>
              </a:rPr>
              <a:t>Personal task queue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3351BB-DB69-4F6C-A264-3FBC59027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670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27A"/>
                </a:solidFill>
              </a:defRPr>
            </a:pPr>
            <a:r>
              <a:rPr sz="1275" b="0">
                <a:solidFill>
                  <a:srgbClr val="52627A"/>
                </a:solidFill>
              </a:rPr>
              <a:t>Only records waiting for the current unit are actionable.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56ECF2-6C36-4A13-BF56-5C2D9A86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242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5838A4-6FCA-4D24-84D1-321C80C1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2902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71527"/>
                </a:solidFill>
              </a:defRPr>
            </a:pPr>
            <a:r>
              <a:rPr sz="1575" b="1">
                <a:solidFill>
                  <a:srgbClr val="071527"/>
                </a:solidFill>
              </a:rPr>
              <a:t>Stage-aware statuses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5DCBED-1213-4F8A-80E9-91166E97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27A"/>
                </a:solidFill>
              </a:defRPr>
            </a:pPr>
            <a:r>
              <a:rPr sz="1275" b="0">
                <a:solidFill>
                  <a:srgbClr val="52627A"/>
                </a:solidFill>
              </a:rPr>
              <a:t>For example, after KB(LES) verifies, PGH sees Pending TP(RES)/PGH Final Approval.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32D6F6-80DF-45B0-B590-684FADEF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62500"/>
            <a:ext cx="1428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865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8F103C-574B-46E7-A79F-B22F1111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83870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865D"/>
                </a:solidFill>
              </a:defRPr>
            </a:pPr>
            <a:r>
              <a:rPr sz="1125" b="1">
                <a:solidFill>
                  <a:srgbClr val="00865D"/>
                </a:solidFill>
              </a:rPr>
              <a:t>Personal Task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5DF9D4-15F2-4AA1-B921-DDA8496B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762500"/>
            <a:ext cx="1809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865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29D174-DDE3-4D50-B956-79015514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838700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865D"/>
                </a:solidFill>
              </a:defRPr>
            </a:pPr>
            <a:r>
              <a:rPr sz="1125" b="1">
                <a:solidFill>
                  <a:srgbClr val="00865D"/>
                </a:solidFill>
              </a:rPr>
              <a:t>Awaiting Approval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FFE4BB-9987-468E-8874-6A551FD4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762500"/>
            <a:ext cx="1238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5FB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7B9423-DAD0-4846-8637-11CD9EDB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838700"/>
            <a:ext cx="1009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5FBF"/>
                </a:solidFill>
              </a:defRPr>
            </a:pPr>
            <a:r>
              <a:rPr sz="1125" b="1">
                <a:solidFill>
                  <a:srgbClr val="1F5FBF"/>
                </a:solidFill>
              </a:rPr>
              <a:t>View Form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BDBE29-2B72-4609-875E-EE1CA191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6640FF-90E1-463A-9733-6A8BDBDF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27A"/>
                </a:solidFill>
              </a:defRPr>
            </a:pPr>
            <a:r>
              <a:rPr sz="975" b="0">
                <a:solidFill>
                  <a:srgbClr val="52627A"/>
                </a:solidFill>
              </a:rPr>
              <a:t>DBKU Advertisement License Application System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54B40B-37E4-4FBD-9E9A-4CA8A2D8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27A"/>
                </a:solidFill>
              </a:defRPr>
            </a:pPr>
            <a:r>
              <a:rPr sz="975" b="1">
                <a:solidFill>
                  <a:srgbClr val="52627A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776785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6996CD-026C-4E33-8D3E-92D15C06B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6B49"/>
                </a:solidFill>
              </a:defRPr>
            </a:pPr>
            <a:r>
              <a:rPr sz="1125" b="1">
                <a:solidFill>
                  <a:srgbClr val="006B49"/>
                </a:solidFill>
              </a:rPr>
              <a:t>TECHNICAL ROUTE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1AED89-FDCD-4FD9-940B-9376BC09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847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71527"/>
                </a:solidFill>
              </a:defRPr>
            </a:pPr>
            <a:r>
              <a:rPr sz="3150" b="1">
                <a:solidFill>
                  <a:srgbClr val="071527"/>
                </a:solidFill>
              </a:rPr>
              <a:t>Technical review converts site evidence into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C3AEAC-0263-4B23-8027-DDFE6796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473C3D-04A2-4483-893B-D7CD576D8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314325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6E4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FB2CD6-E1BB-48CC-AC61-3298DF6F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90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F5FBF"/>
                </a:solidFill>
              </a:defRPr>
            </a:pPr>
            <a:r>
              <a:rPr sz="1950" b="1">
                <a:solidFill>
                  <a:srgbClr val="1F5FBF"/>
                </a:solidFill>
              </a:rPr>
              <a:t>IKL Technical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624CC2-FB25-4781-BF8D-FBFEBF620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DE77B0-E0D6-4CA5-A2A5-7187BE86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2415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527"/>
                </a:solidFill>
              </a:defRPr>
            </a:pPr>
            <a:r>
              <a:rPr sz="1350" b="1">
                <a:solidFill>
                  <a:srgbClr val="071527"/>
                </a:solidFill>
              </a:rPr>
              <a:t>Site visit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6628F5-AFDF-4C3B-84B9-3304D349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0037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27A"/>
                </a:solidFill>
              </a:defRPr>
            </a:pPr>
            <a:r>
              <a:rPr sz="1125" b="0">
                <a:solidFill>
                  <a:srgbClr val="52627A"/>
                </a:solidFill>
              </a:rPr>
              <a:t>Record visit details, location evidence, and site photo.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1B9D5B-912E-4C94-B744-7AF8CD28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D9F26A-B958-4DAB-8102-E07FA3C8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9090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527"/>
                </a:solidFill>
              </a:defRPr>
            </a:pPr>
            <a:r>
              <a:rPr sz="1350" b="1">
                <a:solidFill>
                  <a:srgbClr val="071527"/>
                </a:solidFill>
              </a:rPr>
              <a:t>Fee calculation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C56B41-5E78-4592-B1C9-F6B1EFC3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6712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27A"/>
                </a:solidFill>
              </a:defRPr>
            </a:pPr>
            <a:r>
              <a:rPr sz="1125" b="0">
                <a:solidFill>
                  <a:srgbClr val="52627A"/>
                </a:solidFill>
              </a:rPr>
              <a:t>Capture advertisement size, license fee, deposit, and processing fee.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511E92-6BAA-4950-B173-944D0BE6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2219AD-C7B7-4AFE-B84F-90EA6198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5765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527"/>
                </a:solidFill>
              </a:defRPr>
            </a:pPr>
            <a:r>
              <a:rPr sz="1350" b="1">
                <a:solidFill>
                  <a:srgbClr val="071527"/>
                </a:solidFill>
              </a:rPr>
              <a:t>Final technical recommendation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AA6E05-A0C3-489C-895C-36D547A64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33387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27A"/>
                </a:solidFill>
              </a:defRPr>
            </a:pPr>
            <a:r>
              <a:rPr sz="1125" b="0">
                <a:solidFill>
                  <a:srgbClr val="52627A"/>
                </a:solidFill>
              </a:rPr>
              <a:t>Compile department feedback before KU(IKL) final checking.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78F88C-3C77-47F5-B2FD-8B72ABBA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145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6FAF8"/>
          </a:solidFill>
          <a:ln xmlns:a="http://schemas.openxmlformats.org/drawingml/2006/main" w="9525">
            <a:solidFill>
              <a:srgbClr val="DBE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8964C8-B485-4987-870E-D24BC09C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050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6B49"/>
                </a:solidFill>
              </a:defRPr>
            </a:pPr>
            <a:r>
              <a:rPr sz="2100" b="1">
                <a:solidFill>
                  <a:srgbClr val="006B49"/>
                </a:solidFill>
              </a:rPr>
              <a:t>BLG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178E91-A27C-489E-A9FF-BF26C8C9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64795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27A"/>
                </a:solidFill>
              </a:defRPr>
            </a:pPr>
            <a:r>
              <a:rPr sz="975" b="0">
                <a:solidFill>
                  <a:srgbClr val="52627A"/>
                </a:solidFill>
              </a:rPr>
              <a:t>Support / condition / reject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CE7ACC-05F9-40A0-AE2D-D143A389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145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BE3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25AE5F-3B86-48E6-AC70-E6523687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3050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6B49"/>
                </a:solidFill>
              </a:defRPr>
            </a:pPr>
            <a:r>
              <a:rPr sz="2100" b="1">
                <a:solidFill>
                  <a:srgbClr val="006B49"/>
                </a:solidFill>
              </a:rPr>
              <a:t>GPM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EB72D4-024C-42FC-A1E7-974DF1AAD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4795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27A"/>
                </a:solidFill>
              </a:defRPr>
            </a:pPr>
            <a:r>
              <a:rPr sz="975" b="0">
                <a:solidFill>
                  <a:srgbClr val="52627A"/>
                </a:solidFill>
              </a:rPr>
              <a:t>Support / condition / reject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72DBC3-3A09-4B45-9A15-07297634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145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6FAF8"/>
          </a:solidFill>
          <a:ln xmlns:a="http://schemas.openxmlformats.org/drawingml/2006/main" w="9525">
            <a:solidFill>
              <a:srgbClr val="DBE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6700DD-52A0-4FAE-B8D1-B056137D9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050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6B49"/>
                </a:solidFill>
              </a:defRPr>
            </a:pPr>
            <a:r>
              <a:rPr sz="2100" b="1">
                <a:solidFill>
                  <a:srgbClr val="006B49"/>
                </a:solidFill>
              </a:rPr>
              <a:t>MNE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8A3520-7C93-4833-AC8C-7B3667F6F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4795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27A"/>
                </a:solidFill>
              </a:defRPr>
            </a:pPr>
            <a:r>
              <a:rPr sz="975" b="0">
                <a:solidFill>
                  <a:srgbClr val="52627A"/>
                </a:solidFill>
              </a:rPr>
              <a:t>Support / condition / reject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95CF15-813E-40C3-AF10-9CD3EF41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480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BE3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5E436B-9268-458D-857B-57D2C74E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385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6B49"/>
                </a:solidFill>
              </a:defRPr>
            </a:pPr>
            <a:r>
              <a:rPr sz="2100" b="1">
                <a:solidFill>
                  <a:srgbClr val="006B49"/>
                </a:solidFill>
              </a:rPr>
              <a:t>IMT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80CDAD-ED70-4574-9A93-E22A0BA2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98145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27A"/>
                </a:solidFill>
              </a:defRPr>
            </a:pPr>
            <a:r>
              <a:rPr sz="975" b="0">
                <a:solidFill>
                  <a:srgbClr val="52627A"/>
                </a:solidFill>
              </a:rPr>
              <a:t>Support / condition / reject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84FAE0-E758-4B60-B6BF-C1BA344D4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4480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6FAF8"/>
          </a:solidFill>
          <a:ln xmlns:a="http://schemas.openxmlformats.org/drawingml/2006/main" w="9525">
            <a:solidFill>
              <a:srgbClr val="DBE3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6F5A44-8A67-4CF9-9BBB-1CDFA6679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385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6B49"/>
                </a:solidFill>
              </a:defRPr>
            </a:pPr>
            <a:r>
              <a:rPr sz="2100" b="1">
                <a:solidFill>
                  <a:srgbClr val="006B49"/>
                </a:solidFill>
              </a:rPr>
              <a:t>LNP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22BB60-5601-41E1-97DB-867073E5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8145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27A"/>
                </a:solidFill>
              </a:defRPr>
            </a:pPr>
            <a:r>
              <a:rPr sz="975" b="0">
                <a:solidFill>
                  <a:srgbClr val="52627A"/>
                </a:solidFill>
              </a:rPr>
              <a:t>Support / condition / reject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360CF4-0DC7-4DA7-B542-B8E749CA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480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BE3E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313A54-1FF7-4466-A226-3DB4E594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385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6B49"/>
                </a:solidFill>
              </a:defRPr>
            </a:pPr>
            <a:r>
              <a:rPr sz="2100" b="1">
                <a:solidFill>
                  <a:srgbClr val="006B49"/>
                </a:solidFill>
              </a:rPr>
              <a:t>ENG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D484E5-DA43-461C-9093-B204ACE0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98145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27A"/>
                </a:solidFill>
              </a:defRPr>
            </a:pPr>
            <a:r>
              <a:rPr sz="975" b="0">
                <a:solidFill>
                  <a:srgbClr val="52627A"/>
                </a:solidFill>
              </a:rPr>
              <a:t>Support / condition / reject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ADCC4E-9E39-4E71-B409-A3D03FB3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010150"/>
            <a:ext cx="600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71527"/>
                </a:solidFill>
              </a:defRPr>
            </a:pPr>
            <a:r>
              <a:rPr sz="1500" b="1">
                <a:solidFill>
                  <a:srgbClr val="071527"/>
                </a:solidFill>
              </a:rPr>
              <a:t>External technical units record scoped remarks; IKL Technical consolidates the full site review.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C5F28E-E983-4C58-A370-3D32DF54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E19B23F-8D74-46A2-BD91-7B338744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27A"/>
                </a:solidFill>
              </a:defRPr>
            </a:pPr>
            <a:r>
              <a:rPr sz="975" b="0">
                <a:solidFill>
                  <a:srgbClr val="52627A"/>
                </a:solidFill>
              </a:rPr>
              <a:t>DBKU Advertisement License Application System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00D9F8-F8DB-4F84-9874-EBF0218A0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27A"/>
                </a:solidFill>
              </a:defRPr>
            </a:pPr>
            <a:r>
              <a:rPr sz="975" b="1">
                <a:solidFill>
                  <a:srgbClr val="52627A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09608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11964D-4972-4252-BD5B-5639575C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6B49"/>
                </a:solidFill>
              </a:defRPr>
            </a:pPr>
            <a:r>
              <a:rPr sz="1125" b="1">
                <a:solidFill>
                  <a:srgbClr val="006B49"/>
                </a:solidFill>
              </a:rPr>
              <a:t>VERIFICATION AND APPROVAL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A4542C-D4CD-4427-A697-B13FE8E65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847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71527"/>
                </a:solidFill>
              </a:defRPr>
            </a:pPr>
            <a:r>
              <a:rPr sz="3150" b="1">
                <a:solidFill>
                  <a:srgbClr val="071527"/>
                </a:solidFill>
              </a:rPr>
              <a:t>Approval governance is visible and auditable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F5D2DE-A199-45E5-9480-1A63B1A9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E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50ee45d29344aa"/>
          <a:stretch xmlns:a="http://schemas.openxmlformats.org/drawingml/2006/main"/>
        </p:blipFill>
        <p:spPr>
          <a:xfrm xmlns:a="http://schemas.openxmlformats.org/drawingml/2006/main">
            <a:off x="5981700" y="1947949"/>
            <a:ext cx="5381625" cy="2523951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CE641B-E5F2-4DDA-8A21-54AC26C3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4191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A0F4AE-5AFF-4F11-9324-9E6DF11E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145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97706"/>
                </a:solidFill>
              </a:defRPr>
            </a:pPr>
            <a:r>
              <a:rPr sz="1650" b="1">
                <a:solidFill>
                  <a:srgbClr val="D97706"/>
                </a:solidFill>
              </a:rPr>
              <a:t>KB(LES)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7873D9-0F4E-4065-BCF4-6A8FA238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1145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527"/>
                </a:solidFill>
              </a:defRPr>
            </a:pPr>
            <a:r>
              <a:rPr sz="1350" b="1">
                <a:solidFill>
                  <a:srgbClr val="071527"/>
                </a:solidFill>
              </a:rPr>
              <a:t>Verify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F52F39-D7F5-45B3-8F92-A4447059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71800"/>
            <a:ext cx="4191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B2B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1C30FC-3994-4F01-9FCD-A2874846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051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B2BD5"/>
                </a:solidFill>
              </a:defRPr>
            </a:pPr>
            <a:r>
              <a:rPr sz="1650" b="1">
                <a:solidFill>
                  <a:srgbClr val="8B2BD5"/>
                </a:solidFill>
              </a:rPr>
              <a:t>TP(RES)/PGH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195EB0-E72F-4F93-A4C2-B3243C4B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1051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527"/>
                </a:solidFill>
              </a:defRPr>
            </a:pPr>
            <a:r>
              <a:rPr sz="1350" b="1">
                <a:solidFill>
                  <a:srgbClr val="071527"/>
                </a:solidFill>
              </a:rPr>
              <a:t>Final approval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EBC03B-EB32-459E-BA5E-00C26CE1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62400"/>
            <a:ext cx="4191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5FB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DE8DDF-A676-41D6-89B9-1039AD69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957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5FBF"/>
                </a:solidFill>
              </a:defRPr>
            </a:pPr>
            <a:r>
              <a:rPr sz="1650" b="1">
                <a:solidFill>
                  <a:srgbClr val="1F5FBF"/>
                </a:solidFill>
              </a:rPr>
              <a:t>MPHLG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4904ED-9235-4AEA-BE21-3EAA2BF1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957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527"/>
                </a:solidFill>
              </a:defRPr>
            </a:pPr>
            <a:r>
              <a:rPr sz="1350" b="1">
                <a:solidFill>
                  <a:srgbClr val="071527"/>
                </a:solidFill>
              </a:rPr>
              <a:t>Review when required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EA6A4D-6866-47BF-842C-9F5B60DE7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71527"/>
                </a:solidFill>
              </a:defRPr>
            </a:pPr>
            <a:r>
              <a:rPr sz="1650" b="1">
                <a:solidFill>
                  <a:srgbClr val="071527"/>
                </a:solidFill>
              </a:rPr>
              <a:t>Decision log captures department, recommendation, remarks, date, and signature reference.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E84D5B-597C-4381-B9D7-0608DCD5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8B3591-50BB-48CC-9615-3AC2D8F0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27A"/>
                </a:solidFill>
              </a:defRPr>
            </a:pPr>
            <a:r>
              <a:rPr sz="975" b="0">
                <a:solidFill>
                  <a:srgbClr val="52627A"/>
                </a:solidFill>
              </a:rPr>
              <a:t>DBKU Advertisement License Application System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000292-D8C0-47CE-9035-D6B29CB4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27A"/>
                </a:solidFill>
              </a:defRPr>
            </a:pPr>
            <a:r>
              <a:rPr sz="975" b="1">
                <a:solidFill>
                  <a:srgbClr val="52627A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307522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979E31-B736-43E0-9B86-D2804E63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6B49"/>
                </a:solidFill>
              </a:defRPr>
            </a:pPr>
            <a:r>
              <a:rPr sz="1125" b="1">
                <a:solidFill>
                  <a:srgbClr val="006B49"/>
                </a:solidFill>
              </a:rPr>
              <a:t>DOCUMENTS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F08D8E-2C62-49E3-8B86-36CADBD28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847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71527"/>
                </a:solidFill>
              </a:defRPr>
            </a:pPr>
            <a:r>
              <a:rPr sz="3150" b="1">
                <a:solidFill>
                  <a:srgbClr val="071527"/>
                </a:solidFill>
              </a:rPr>
              <a:t>Payment and e-license complete the applicant journey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0B1B1C-BC6A-48FB-BCE0-870759388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93FB9E-4080-419A-8857-725E137B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C5F81A-5DFE-472E-91E1-064A32B0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62150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71527"/>
                </a:solidFill>
              </a:defRPr>
            </a:pPr>
            <a:r>
              <a:rPr sz="1575" b="1">
                <a:solidFill>
                  <a:srgbClr val="071527"/>
                </a:solidFill>
              </a:rPr>
              <a:t>Approval letter and bill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5FE042-38D5-412A-ACC3-96D86977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3837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27A"/>
                </a:solidFill>
              </a:defRPr>
            </a:pPr>
            <a:r>
              <a:rPr sz="1275" b="0">
                <a:solidFill>
                  <a:srgbClr val="52627A"/>
                </a:solidFill>
              </a:rPr>
              <a:t>PT(IKL) uploads approved documents for applicant action.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4B0AC3-BE09-4C3D-A2CC-CC6327B53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D6A155-0640-4F55-AD44-76DDE3B9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38450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71527"/>
                </a:solidFill>
              </a:defRPr>
            </a:pPr>
            <a:r>
              <a:rPr sz="1575" b="1">
                <a:solidFill>
                  <a:srgbClr val="071527"/>
                </a:solidFill>
              </a:rPr>
              <a:t>Receipt proof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22D072-D1B3-46BC-8AC3-AC5313D0C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1467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27A"/>
                </a:solidFill>
              </a:defRPr>
            </a:pPr>
            <a:r>
              <a:rPr sz="1275" b="0">
                <a:solidFill>
                  <a:srgbClr val="52627A"/>
                </a:solidFill>
              </a:rPr>
              <a:t>Applicant uploads payment receipt; PT(IKL) verifies valid or rejected payment.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7ED17E-4240-443B-97FA-1D5A0D2A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B9A8FC-0DEB-4BA9-ADAA-BE01CE4F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71527"/>
                </a:solidFill>
              </a:defRPr>
            </a:pPr>
            <a:r>
              <a:rPr sz="1575" b="1">
                <a:solidFill>
                  <a:srgbClr val="071527"/>
                </a:solidFill>
              </a:rPr>
              <a:t>Official receipt and advertisement license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6EF0CC-0B96-4BE1-B532-2EBFB80D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27A"/>
                </a:solidFill>
              </a:defRPr>
            </a:pPr>
            <a:r>
              <a:rPr sz="1275" b="0">
                <a:solidFill>
                  <a:srgbClr val="52627A"/>
                </a:solidFill>
              </a:rPr>
              <a:t>Once verified, PT(IKL) uploads final documents and issues the QR e-license.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E9C67E-15D4-4D00-80A2-E0C604C4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2914650" cy="291465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4E2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82EF6E-2784-4CA8-8E5A-9A63232C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81250"/>
            <a:ext cx="215265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2F2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a8b6e824c54445"/>
          <a:stretch xmlns:a="http://schemas.openxmlformats.org/drawingml/2006/main"/>
        </p:blipFill>
        <p:spPr>
          <a:xfrm xmlns:a="http://schemas.openxmlformats.org/drawingml/2006/main">
            <a:off x="7162800" y="2622503"/>
            <a:ext cx="1733550" cy="946245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697BFE-C095-4188-93E0-93AA2FA4E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03860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527"/>
                </a:solidFill>
              </a:defRPr>
            </a:pPr>
            <a:r>
              <a:rPr sz="1350" b="1">
                <a:solidFill>
                  <a:srgbClr val="071527"/>
                </a:solidFill>
              </a:rPr>
              <a:t>Issued document package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42ED7D-202B-4BE7-9E1D-0784DF65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4350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6B49"/>
                </a:solidFill>
              </a:defRPr>
            </a:pPr>
            <a:r>
              <a:rPr sz="1875" b="1">
                <a:solidFill>
                  <a:srgbClr val="006B49"/>
                </a:solidFill>
              </a:rPr>
              <a:t>QR e-license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BF1AF4-C0C1-470E-BEE3-AFC56BEF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5245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2627A"/>
                </a:solidFill>
              </a:defRPr>
            </a:pPr>
            <a:r>
              <a:rPr sz="1275" b="0">
                <a:solidFill>
                  <a:srgbClr val="52627A"/>
                </a:solidFill>
              </a:rPr>
              <a:t>Downloadable by applicant after license issuance.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219F0C-94CB-4E94-B64F-51A80896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981739-0A75-47AA-8B05-A14236D9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27A"/>
                </a:solidFill>
              </a:defRPr>
            </a:pPr>
            <a:r>
              <a:rPr sz="975" b="0">
                <a:solidFill>
                  <a:srgbClr val="52627A"/>
                </a:solidFill>
              </a:rPr>
              <a:t>DBKU Advertisement License Application System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3BA9F5-FA8C-4D34-80F5-6ACDC53CC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27A"/>
                </a:solidFill>
              </a:defRPr>
            </a:pPr>
            <a:r>
              <a:rPr sz="975" b="1">
                <a:solidFill>
                  <a:srgbClr val="52627A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406126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2DAB6C-09F5-44B8-9F4B-1CEB31E1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6B49"/>
                </a:solidFill>
              </a:defRPr>
            </a:pPr>
            <a:r>
              <a:rPr sz="1125" b="1">
                <a:solidFill>
                  <a:srgbClr val="006B49"/>
                </a:solidFill>
              </a:rPr>
              <a:t>MONITORING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1FE86E-C456-4026-B4FE-523961A4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847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71527"/>
                </a:solidFill>
              </a:defRPr>
            </a:pPr>
            <a:r>
              <a:rPr sz="3150" b="1">
                <a:solidFill>
                  <a:srgbClr val="071527"/>
                </a:solidFill>
              </a:rPr>
              <a:t>Controls continue after the license is issued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38CD87-6BB7-424B-968F-767BC651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49DCA2-2F8F-49CD-9E80-3B7F70CF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286000" cy="28956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8"/>
          </a:solidFill>
          <a:ln xmlns:a="http://schemas.openxmlformats.org/drawingml/2006/main" w="9525">
            <a:solidFill>
              <a:srgbClr val="D7E2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1BDCDD-2774-4561-B74B-65569A588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865D"/>
                </a:solidFill>
              </a:defRPr>
            </a:pPr>
            <a:r>
              <a:rPr sz="2550" b="1">
                <a:solidFill>
                  <a:srgbClr val="00865D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E1D93D-5699-4004-A9FA-A22E1DDC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1527"/>
                </a:solidFill>
              </a:defRPr>
            </a:pPr>
            <a:r>
              <a:rPr sz="1800" b="1">
                <a:solidFill>
                  <a:srgbClr val="071527"/>
                </a:solidFill>
              </a:rPr>
              <a:t>Decision history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5D87A5-2DCE-4D35-B965-0D2CA86F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81400"/>
            <a:ext cx="1809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27A"/>
                </a:solidFill>
              </a:defRPr>
            </a:pPr>
            <a:r>
              <a:rPr sz="1200" b="0">
                <a:solidFill>
                  <a:srgbClr val="52627A"/>
                </a:solidFill>
              </a:rPr>
              <a:t>Every DBKU and MPHLG decision is retained with remarks, officer, date, and document context.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B13BE8-19F9-4664-9E52-2E8CA5149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000250"/>
            <a:ext cx="2286000" cy="28956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7E2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999D26-849D-4755-A82E-0343C171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2479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F5FBF"/>
                </a:solidFill>
              </a:defRPr>
            </a:pPr>
            <a:r>
              <a:rPr sz="2550" b="1">
                <a:solidFill>
                  <a:srgbClr val="1F5FB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D9E58B-3EE1-427F-8FB6-1E97D74C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8765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1527"/>
                </a:solidFill>
              </a:defRPr>
            </a:pPr>
            <a:r>
              <a:rPr sz="1800" b="1">
                <a:solidFill>
                  <a:srgbClr val="071527"/>
                </a:solidFill>
              </a:rPr>
              <a:t>Notifications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048BFB-712E-4012-B768-1D33A71A7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581400"/>
            <a:ext cx="1809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27A"/>
                </a:solidFill>
              </a:defRPr>
            </a:pPr>
            <a:r>
              <a:rPr sz="1200" b="0">
                <a:solidFill>
                  <a:srgbClr val="52627A"/>
                </a:solidFill>
              </a:rPr>
              <a:t>The system supports web notifications and can release renewal reminders by email and WhatsApp.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CF0FFD-AA5E-4509-8AC7-EA4DC6A0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00250"/>
            <a:ext cx="2286000" cy="28956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8"/>
          </a:solidFill>
          <a:ln xmlns:a="http://schemas.openxmlformats.org/drawingml/2006/main" w="9525">
            <a:solidFill>
              <a:srgbClr val="D7E2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0BD818-2E07-444C-9F73-005128ED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479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97706"/>
                </a:solidFill>
              </a:defRPr>
            </a:pPr>
            <a:r>
              <a:rPr sz="2550" b="1">
                <a:solidFill>
                  <a:srgbClr val="D97706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8B7C27-FDFA-4DEE-8991-B303CC19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765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1527"/>
                </a:solidFill>
              </a:defRPr>
            </a:pPr>
            <a:r>
              <a:rPr sz="1800" b="1">
                <a:solidFill>
                  <a:srgbClr val="071527"/>
                </a:solidFill>
              </a:rPr>
              <a:t>Renewal monitoring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A7B756-B6A0-4194-B4E9-BDCE8AA6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81400"/>
            <a:ext cx="1809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27A"/>
                </a:solidFill>
              </a:defRPr>
            </a:pPr>
            <a:r>
              <a:rPr sz="1200" b="0">
                <a:solidFill>
                  <a:srgbClr val="52627A"/>
                </a:solidFill>
              </a:rPr>
              <a:t>Issued licenses are monitored at 3, 2, and 1 months before expiry.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E460E7-6112-4F6D-8525-E8D3C03D4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00250"/>
            <a:ext cx="2286000" cy="28956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7E2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6AD142-0514-4509-B0FB-C58534050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479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8B2BD5"/>
                </a:solidFill>
              </a:defRPr>
            </a:pPr>
            <a:r>
              <a:rPr sz="2550" b="1">
                <a:solidFill>
                  <a:srgbClr val="8B2BD5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CAE975-7683-4F85-BD71-2A1C7826C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765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1527"/>
                </a:solidFill>
              </a:defRPr>
            </a:pPr>
            <a:r>
              <a:rPr sz="1800" b="1">
                <a:solidFill>
                  <a:srgbClr val="071527"/>
                </a:solidFill>
              </a:rPr>
              <a:t>Cancellation route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068CB5-00C1-477C-B4BD-284B3AFD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581400"/>
            <a:ext cx="1809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27A"/>
                </a:solidFill>
              </a:defRPr>
            </a:pPr>
            <a:r>
              <a:rPr sz="1200" b="0">
                <a:solidFill>
                  <a:srgbClr val="52627A"/>
                </a:solidFill>
              </a:rPr>
              <a:t>After expiry without payment, PT(IKL) prepares notice, supervisor confirms, KB(LES) supports, applicant is notified.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277785-32F3-49B6-BE20-B1F0FE2B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6252A7-F377-44AE-9F2F-C2EF9DCB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27A"/>
                </a:solidFill>
              </a:defRPr>
            </a:pPr>
            <a:r>
              <a:rPr sz="975" b="0">
                <a:solidFill>
                  <a:srgbClr val="52627A"/>
                </a:solidFill>
              </a:rPr>
              <a:t>DBKU Advertisement License Application System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D7CDB9-85BC-44A6-942A-023C623B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27A"/>
                </a:solidFill>
              </a:defRPr>
            </a:pPr>
            <a:r>
              <a:rPr sz="975" b="1">
                <a:solidFill>
                  <a:srgbClr val="52627A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510247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6EE823-F94F-4B20-B830-189D0BD2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6B49"/>
                </a:solidFill>
              </a:defRPr>
            </a:pPr>
            <a:r>
              <a:rPr sz="1125" b="1">
                <a:solidFill>
                  <a:srgbClr val="006B49"/>
                </a:solidFill>
              </a:rPr>
              <a:t>TECHNOLOGY STACK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C49B77-8DEF-46B6-BC57-EB6A194D3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847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71527"/>
                </a:solidFill>
              </a:defRPr>
            </a:pPr>
            <a:r>
              <a:rPr sz="3150" b="1">
                <a:solidFill>
                  <a:srgbClr val="071527"/>
                </a:solidFill>
              </a:rPr>
              <a:t>Framework and technical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6AAAEE-6EDF-452D-8344-B5A1E4A0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7D0405-5679-4ECF-BFDC-B5189F1E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32004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6FAF8"/>
          </a:solidFill>
          <a:ln xmlns:a="http://schemas.openxmlformats.org/drawingml/2006/main" w="9525">
            <a:solidFill>
              <a:srgbClr val="D7E2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B38C5B-08B5-4D4F-AD14-D389CC867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98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6B49"/>
                </a:solidFill>
              </a:defRPr>
            </a:pPr>
            <a:r>
              <a:rPr sz="2100" b="1">
                <a:solidFill>
                  <a:srgbClr val="006B49"/>
                </a:solidFill>
              </a:rPr>
              <a:t>Frontend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B9A3DE-653E-4CB7-A491-9E1D1C45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384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2A6DFE-1CD4-48B7-BAD0-1F229E4F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4320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527"/>
                </a:solidFill>
              </a:defRPr>
            </a:pPr>
            <a:r>
              <a:rPr sz="1350" b="1">
                <a:solidFill>
                  <a:srgbClr val="071527"/>
                </a:solidFill>
              </a:rPr>
              <a:t>React 19 + Vite 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ABFC49-F530-4AAA-B999-5DEB19C5E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19425"/>
            <a:ext cx="2362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27A"/>
                </a:solidFill>
              </a:defRPr>
            </a:pPr>
            <a:r>
              <a:rPr sz="1125" b="0">
                <a:solidFill>
                  <a:srgbClr val="52627A"/>
                </a:solidFill>
              </a:rPr>
              <a:t>Single-page web application with fast build tooling.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73C4E1-CA95-4992-A089-62AA4FBA1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052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E7BD2D-8B80-486A-B51A-0AE84F5B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0995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527"/>
                </a:solidFill>
              </a:defRPr>
            </a:pPr>
            <a:r>
              <a:rPr sz="1350" b="1">
                <a:solidFill>
                  <a:srgbClr val="071527"/>
                </a:solidFill>
              </a:rPr>
              <a:t>React Router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A92130-A2A7-4C1A-B0EF-3A765849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86175"/>
            <a:ext cx="2362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27A"/>
                </a:solidFill>
              </a:defRPr>
            </a:pPr>
            <a:r>
              <a:rPr sz="1125" b="0">
                <a:solidFill>
                  <a:srgbClr val="52627A"/>
                </a:solidFill>
              </a:rPr>
              <a:t>Role-based navigation for applicant, admin, and supervisor journeys.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A4EF27-F60A-47AF-829B-FE8B0C56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71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E66E0D-978C-4B72-8899-0D32EFE9C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7670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527"/>
                </a:solidFill>
              </a:defRPr>
            </a:pPr>
            <a:r>
              <a:rPr sz="1350" b="1">
                <a:solidFill>
                  <a:srgbClr val="071527"/>
                </a:solidFill>
              </a:rPr>
              <a:t>UI and document tools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E723E5-AF97-4AC0-803D-7A697E7E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352925"/>
            <a:ext cx="2362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27A"/>
                </a:solidFill>
              </a:defRPr>
            </a:pPr>
            <a:r>
              <a:rPr sz="1125" b="0">
                <a:solidFill>
                  <a:srgbClr val="52627A"/>
                </a:solidFill>
              </a:rPr>
              <a:t>CKEditor, qrcode.react, jsPDF/html2canvas, Mapbox/MapLibre.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B872F8-0C72-4B61-8600-3F1B736A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24050"/>
            <a:ext cx="32004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7E2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12BAA5-BA4F-472C-B06F-F8E014DA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098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5FBF"/>
                </a:solidFill>
              </a:defRPr>
            </a:pPr>
            <a:r>
              <a:rPr sz="2100" b="1">
                <a:solidFill>
                  <a:srgbClr val="1F5FBF"/>
                </a:solidFill>
              </a:rPr>
              <a:t>Backend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C6EBA8-0A27-4676-B8A0-017C362B1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384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403356-7FF1-4E40-AA94-D72FCA93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527"/>
                </a:solidFill>
              </a:defRPr>
            </a:pPr>
            <a:r>
              <a:rPr sz="1350" b="1">
                <a:solidFill>
                  <a:srgbClr val="071527"/>
                </a:solidFill>
              </a:rPr>
              <a:t>Django 5.2 + DRF 3.17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7762E5-E0E0-45FF-B7CD-00C009CF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019425"/>
            <a:ext cx="2362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27A"/>
                </a:solidFill>
              </a:defRPr>
            </a:pPr>
            <a:r>
              <a:rPr sz="1125" b="0">
                <a:solidFill>
                  <a:srgbClr val="52627A"/>
                </a:solidFill>
              </a:rPr>
              <a:t>REST API layer for applications, accounts, and notifications.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BF5D33-6EDF-4E0D-852C-614FC85C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052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AF29F5-4A5E-4F6B-B009-C14D6759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40995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527"/>
                </a:solidFill>
              </a:defRPr>
            </a:pPr>
            <a:r>
              <a:rPr sz="1350" b="1">
                <a:solidFill>
                  <a:srgbClr val="071527"/>
                </a:solidFill>
              </a:rPr>
              <a:t>SimpleJWT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F73E12-5F2A-4140-BC85-EA1E9DC4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686175"/>
            <a:ext cx="2362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27A"/>
                </a:solidFill>
              </a:defRPr>
            </a:pPr>
            <a:r>
              <a:rPr sz="1125" b="0">
                <a:solidFill>
                  <a:srgbClr val="52627A"/>
                </a:solidFill>
              </a:rPr>
              <a:t>Bearer-token authentication with rotating refresh tokens.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09BE6D-26C7-488A-A2F3-7FD12F04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171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8E643D-16D0-4126-A7D5-4076C2ED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07670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527"/>
                </a:solidFill>
              </a:defRPr>
            </a:pPr>
            <a:r>
              <a:rPr sz="1350" b="1">
                <a:solidFill>
                  <a:srgbClr val="071527"/>
                </a:solidFill>
              </a:rPr>
              <a:t>PostgreSQL-ready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DB9576-CAEB-4AC1-9227-732EA41B3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352925"/>
            <a:ext cx="2362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27A"/>
                </a:solidFill>
              </a:defRPr>
            </a:pPr>
            <a:r>
              <a:rPr sz="1125" b="0">
                <a:solidFill>
                  <a:srgbClr val="52627A"/>
                </a:solidFill>
              </a:rPr>
              <a:t>psycopg2-binary dependency, media/static handling with WhiteNoise.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372927-0B60-4A92-AE84-1186EF173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24050"/>
            <a:ext cx="32004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AF2"/>
          </a:solidFill>
          <a:ln xmlns:a="http://schemas.openxmlformats.org/drawingml/2006/main" w="9525">
            <a:solidFill>
              <a:srgbClr val="EAD8B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DFA46F-0AEC-43B3-A5E6-7338C7A2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098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97706"/>
                </a:solidFill>
              </a:defRPr>
            </a:pPr>
            <a:r>
              <a:rPr sz="2100" b="1">
                <a:solidFill>
                  <a:srgbClr val="D97706"/>
                </a:solidFill>
              </a:rPr>
              <a:t>Runtime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6016CC-7C58-423D-AEEB-AA1C958B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384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42778A-613F-4AE3-8779-A0132DCAB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74320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527"/>
                </a:solidFill>
              </a:defRPr>
            </a:pPr>
            <a:r>
              <a:rPr sz="1350" b="1">
                <a:solidFill>
                  <a:srgbClr val="071527"/>
                </a:solidFill>
              </a:rPr>
              <a:t>Gunicorn and Docker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1806DD-C42E-4B70-9FDD-9FB1EDA1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019425"/>
            <a:ext cx="2362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27A"/>
                </a:solidFill>
              </a:defRPr>
            </a:pPr>
            <a:r>
              <a:rPr sz="1125" b="0">
                <a:solidFill>
                  <a:srgbClr val="52627A"/>
                </a:solidFill>
              </a:rPr>
              <a:t>Backend can run as a production WSGI service.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CDC94A-17B5-49F3-BD39-0726F9A6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052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A3E051-59E8-4863-85B5-9613B8A00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40995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527"/>
                </a:solidFill>
              </a:defRPr>
            </a:pPr>
            <a:r>
              <a:rPr sz="1350" b="1">
                <a:solidFill>
                  <a:srgbClr val="071527"/>
                </a:solidFill>
              </a:rPr>
              <a:t>Nginx frontend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696D49-0BCD-482A-8F6F-DFF52F55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686175"/>
            <a:ext cx="2362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27A"/>
                </a:solidFill>
              </a:defRPr>
            </a:pPr>
            <a:r>
              <a:rPr sz="1125" b="0">
                <a:solidFill>
                  <a:srgbClr val="52627A"/>
                </a:solidFill>
              </a:rPr>
              <a:t>Frontend includes nginx config for static delivery.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025E4D-CCCB-4CD8-8F9A-6DC1FB65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171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105AEFB-76C2-4E1C-9B68-34DC2B763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07670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527"/>
                </a:solidFill>
              </a:defRPr>
            </a:pPr>
            <a:r>
              <a:rPr sz="1350" b="1">
                <a:solidFill>
                  <a:srgbClr val="071527"/>
                </a:solidFill>
              </a:rPr>
              <a:t>CORS configured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9832842-2BB9-4F40-98DA-2D6B9072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352925"/>
            <a:ext cx="2362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27A"/>
                </a:solidFill>
              </a:defRPr>
            </a:pPr>
            <a:r>
              <a:rPr sz="1125" b="0">
                <a:solidFill>
                  <a:srgbClr val="52627A"/>
                </a:solidFill>
              </a:rPr>
              <a:t>Allowed origins include localhost and fastrack.sapotlokal.my.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9C54F98-CDDC-4130-88FB-220D600E9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10200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71527"/>
                </a:solidFill>
              </a:defRPr>
            </a:pPr>
            <a:r>
              <a:rPr sz="1575" b="1">
                <a:solidFill>
                  <a:srgbClr val="071527"/>
                </a:solidFill>
              </a:rPr>
              <a:t>Architecture pattern: React client -&gt; authenticated REST API -&gt; Django domain modules -&gt; database, media, and notification services.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68E6C85-4C9D-4EB6-BE4A-89794D16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07928CF-7861-44ED-AC8D-3DB16DC7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27A"/>
                </a:solidFill>
              </a:defRPr>
            </a:pPr>
            <a:r>
              <a:rPr sz="975" b="0">
                <a:solidFill>
                  <a:srgbClr val="52627A"/>
                </a:solidFill>
              </a:rPr>
              <a:t>DBKU Advertisement License Application System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4136D14-6CBD-4FE3-96F4-A362078DE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27A"/>
                </a:solidFill>
              </a:defRPr>
            </a:pPr>
            <a:r>
              <a:rPr sz="975" b="1">
                <a:solidFill>
                  <a:srgbClr val="52627A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2951246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0E8CCE-C206-4917-8E6F-3926746C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6B49"/>
                </a:solidFill>
              </a:defRPr>
            </a:pPr>
            <a:r>
              <a:rPr sz="1125" b="1">
                <a:solidFill>
                  <a:srgbClr val="006B49"/>
                </a:solidFill>
              </a:rPr>
              <a:t>SECURITY 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E80B78-D94B-488B-BC24-674EF33A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847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71527"/>
                </a:solidFill>
              </a:defRPr>
            </a:pPr>
            <a:r>
              <a:rPr sz="3150" b="1">
                <a:solidFill>
                  <a:srgbClr val="071527"/>
                </a:solidFill>
              </a:rPr>
              <a:t>Rate limiting as backend traffic rules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44CADE-D698-4D8E-B563-E32CC61C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A4005C-B515-4905-8B17-8901D043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71527"/>
                </a:solidFill>
              </a:defRPr>
            </a:pPr>
            <a:r>
              <a:rPr sz="1500" b="1">
                <a:solidFill>
                  <a:srgbClr val="071527"/>
                </a:solidFill>
              </a:rPr>
              <a:t>If a user, browser, or IP sends too many requests, Django temporarily blocks the request with 429 Too Many Requests.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17110B-0D66-4BE4-BB8A-F4DDD3BA0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49530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7E2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E072F9-9560-4C5E-B900-1AC8AC3D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762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AA693F-8F37-4EB0-860A-28F309B6A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1935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6B49"/>
                </a:solidFill>
              </a:defRPr>
            </a:pPr>
            <a:r>
              <a:rPr sz="1650" b="1">
                <a:solidFill>
                  <a:srgbClr val="006B49"/>
                </a:solidFill>
              </a:rPr>
              <a:t>Normal API traffic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E7E6AF-2F7C-475F-8E29-E7CB04094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62250"/>
            <a:ext cx="1733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1527"/>
                </a:solidFill>
              </a:defRPr>
            </a:pPr>
            <a:r>
              <a:rPr sz="1125" b="1">
                <a:solidFill>
                  <a:srgbClr val="071527"/>
                </a:solidFill>
              </a:rPr>
              <a:t>Anonymous API: 120/min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50A673-7518-4545-99E4-10A458CCF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762250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27A"/>
                </a:solidFill>
              </a:defRPr>
            </a:pPr>
            <a:r>
              <a:rPr sz="975" b="0">
                <a:solidFill>
                  <a:srgbClr val="52627A"/>
                </a:solidFill>
              </a:rPr>
              <a:t>Public pages, register, and login-page API calls before the user signs in.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708E7F-EE83-408D-B293-5A01E057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28950"/>
            <a:ext cx="1733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1527"/>
                </a:solidFill>
              </a:defRPr>
            </a:pPr>
            <a:r>
              <a:rPr sz="1125" b="1">
                <a:solidFill>
                  <a:srgbClr val="071527"/>
                </a:solidFill>
              </a:rPr>
              <a:t>Logged-in API: 1000/min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A8C717-DE12-4488-8275-76315651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028950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27A"/>
                </a:solidFill>
              </a:defRPr>
            </a:pPr>
            <a:r>
              <a:rPr sz="975" b="0">
                <a:solidFill>
                  <a:srgbClr val="52627A"/>
                </a:solidFill>
              </a:rPr>
              <a:t>High enough for normal staff/applicant work, but still stops loops or spam clicks.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E717F0-4A7F-41AB-B7DF-ABCDE0EB8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66950"/>
            <a:ext cx="49530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AF2"/>
          </a:solidFill>
          <a:ln xmlns:a="http://schemas.openxmlformats.org/drawingml/2006/main" w="9525">
            <a:solidFill>
              <a:srgbClr val="D7E2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B54530-E399-4924-B904-BA13D97D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66950"/>
            <a:ext cx="762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341B28-7C29-4FC4-9F62-F8CB8280B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1935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97706"/>
                </a:solidFill>
              </a:defRPr>
            </a:pPr>
            <a:r>
              <a:rPr sz="1650" b="1">
                <a:solidFill>
                  <a:srgbClr val="D97706"/>
                </a:solidFill>
              </a:rPr>
              <a:t>Login protection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C11801-5668-4BF4-A826-A11F2374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62250"/>
            <a:ext cx="1733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1527"/>
                </a:solidFill>
              </a:defRPr>
            </a:pPr>
            <a:r>
              <a:rPr sz="1125" b="1">
                <a:solidFill>
                  <a:srgbClr val="071527"/>
                </a:solidFill>
              </a:rPr>
              <a:t>Login per IP: 120/min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4878FC-00C8-4D6E-BDFE-034A45CB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62250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27A"/>
                </a:solidFill>
              </a:defRPr>
            </a:pPr>
            <a:r>
              <a:rPr sz="975" b="0">
                <a:solidFill>
                  <a:srgbClr val="52627A"/>
                </a:solidFill>
              </a:rPr>
              <a:t>Blocks obvious login flooding from one internet address.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6F7CFB-451C-4F6F-8678-33D31145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28950"/>
            <a:ext cx="1733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1527"/>
                </a:solidFill>
              </a:defRPr>
            </a:pPr>
            <a:r>
              <a:rPr sz="1125" b="1">
                <a:solidFill>
                  <a:srgbClr val="071527"/>
                </a:solidFill>
              </a:rPr>
              <a:t>Login username+IP: 10/min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0C6147-78B3-453E-88FC-59731D0A2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28950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27A"/>
                </a:solidFill>
              </a:defRPr>
            </a:pPr>
            <a:r>
              <a:rPr sz="975" b="0">
                <a:solidFill>
                  <a:srgbClr val="52627A"/>
                </a:solidFill>
              </a:rPr>
              <a:t>Example: someone keeps guessing the password for ptikl from the same computer.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B354AC-07FD-498E-AAFC-BC297E4F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49530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7E2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D239DC-F1B5-4894-AC43-A32272E7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762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5073F2-8803-425E-873B-27B5ABDC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9575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5FBF"/>
                </a:solidFill>
              </a:defRPr>
            </a:pPr>
            <a:r>
              <a:rPr sz="1650" b="1">
                <a:solidFill>
                  <a:srgbClr val="1F5FBF"/>
                </a:solidFill>
              </a:rPr>
              <a:t>Account recovery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0F7C2B-EF44-41E2-9CEA-D442BFA2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38650"/>
            <a:ext cx="1733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1527"/>
                </a:solidFill>
              </a:defRPr>
            </a:pPr>
            <a:r>
              <a:rPr sz="1125" b="1">
                <a:solidFill>
                  <a:srgbClr val="071527"/>
                </a:solidFill>
              </a:rPr>
              <a:t>Register: 20/hour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72DD36-D3EF-4204-874F-DA97CA23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438650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27A"/>
                </a:solidFill>
              </a:defRPr>
            </a:pPr>
            <a:r>
              <a:rPr sz="975" b="0">
                <a:solidFill>
                  <a:srgbClr val="52627A"/>
                </a:solidFill>
              </a:rPr>
              <a:t>Helps stop fake account creation from one IP.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4CA79C-A28E-46DE-BEF1-007633A2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86300"/>
            <a:ext cx="1733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1527"/>
                </a:solidFill>
              </a:defRPr>
            </a:pPr>
            <a:r>
              <a:rPr sz="1125" b="1">
                <a:solidFill>
                  <a:srgbClr val="071527"/>
                </a:solidFill>
              </a:rPr>
              <a:t>Reset request: 5/hour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4A9725-E4DB-4678-AF9C-1EF2B560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686300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27A"/>
                </a:solidFill>
              </a:defRPr>
            </a:pPr>
            <a:r>
              <a:rPr sz="975" b="0">
                <a:solidFill>
                  <a:srgbClr val="52627A"/>
                </a:solidFill>
              </a:rPr>
              <a:t>Stops email or WhatsApp OTP spam.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CD2FAC-9230-41B2-B4BB-4896057C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33950"/>
            <a:ext cx="1733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1527"/>
                </a:solidFill>
              </a:defRPr>
            </a:pPr>
            <a:r>
              <a:rPr sz="1125" b="1">
                <a:solidFill>
                  <a:srgbClr val="071527"/>
                </a:solidFill>
              </a:rPr>
              <a:t>OTP verify: 30/hour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F7F4F2-9FAA-4302-A9BA-6AEF27016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933950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27A"/>
                </a:solidFill>
              </a:defRPr>
            </a:pPr>
            <a:r>
              <a:rPr sz="975" b="0">
                <a:solidFill>
                  <a:srgbClr val="52627A"/>
                </a:solidFill>
              </a:rPr>
              <a:t>Limits repeated OTP guessing attempts.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29FB45-37C1-48A4-AE69-95E9D54B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81600"/>
            <a:ext cx="1733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1527"/>
                </a:solidFill>
              </a:defRPr>
            </a:pPr>
            <a:r>
              <a:rPr sz="1125" b="1">
                <a:solidFill>
                  <a:srgbClr val="071527"/>
                </a:solidFill>
              </a:rPr>
              <a:t>Reset confirm: 10/hour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1E19D1-221E-42F9-BAFB-1592BD08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181600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27A"/>
                </a:solidFill>
              </a:defRPr>
            </a:pPr>
            <a:r>
              <a:rPr sz="975" b="0">
                <a:solidFill>
                  <a:srgbClr val="52627A"/>
                </a:solidFill>
              </a:rPr>
              <a:t>Limits final password changes.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2483B7-65E9-4462-95AA-8EA10A30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43350"/>
            <a:ext cx="49530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AF2"/>
          </a:solidFill>
          <a:ln xmlns:a="http://schemas.openxmlformats.org/drawingml/2006/main" w="9525">
            <a:solidFill>
              <a:srgbClr val="D7E2E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4508EC-CD89-49E1-BA08-DA2EC2A7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43350"/>
            <a:ext cx="762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2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E7A8C3-885B-4938-8479-798CF59C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9575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B2BD5"/>
                </a:solidFill>
              </a:defRPr>
            </a:pPr>
            <a:r>
              <a:rPr sz="1650" b="1">
                <a:solidFill>
                  <a:srgbClr val="8B2BD5"/>
                </a:solidFill>
              </a:rPr>
              <a:t>File upload protection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770CAF-5178-4F8A-A3F1-686A3ABC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438650"/>
            <a:ext cx="1733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1527"/>
                </a:solidFill>
              </a:defRPr>
            </a:pPr>
            <a:r>
              <a:rPr sz="1125" b="1">
                <a:solidFill>
                  <a:srgbClr val="071527"/>
                </a:solidFill>
              </a:rPr>
              <a:t>Upload: 60/hour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B4A950-71E4-48C0-9551-A0C18B17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38650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27A"/>
                </a:solidFill>
              </a:defRPr>
            </a:pPr>
            <a:r>
              <a:rPr sz="975" b="0">
                <a:solidFill>
                  <a:srgbClr val="52627A"/>
                </a:solidFill>
              </a:rPr>
              <a:t>A logged-in user can upload files up to 60 times per hour.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0A44F1F-EDB5-45FA-81D4-02B1375C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705350"/>
            <a:ext cx="1733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1527"/>
                </a:solidFill>
              </a:defRPr>
            </a:pPr>
            <a:r>
              <a:rPr sz="1125" b="1">
                <a:solidFill>
                  <a:srgbClr val="071527"/>
                </a:solidFill>
              </a:rPr>
              <a:t>Why it matters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9E4C165-5183-40D3-99A9-77F6873F1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705350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27A"/>
                </a:solidFill>
              </a:defRPr>
            </a:pPr>
            <a:r>
              <a:rPr sz="975" b="0">
                <a:solidFill>
                  <a:srgbClr val="52627A"/>
                </a:solidFill>
              </a:rPr>
              <a:t>Protects storage and server resources from repeated upload spam.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79ABCD5-49CD-4400-B0B4-74C1C89D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5785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6B49"/>
                </a:solidFill>
              </a:defRPr>
            </a:pPr>
            <a:r>
              <a:rPr sz="1575" b="1">
                <a:solidFill>
                  <a:srgbClr val="006B49"/>
                </a:solidFill>
              </a:rPr>
              <a:t>For ALiS, the defaults are balanced: strict on login/reset, generous for normal logged-in usage.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9644B6F-2865-48AB-8249-EFE19204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2CE15E0-4EEC-4B0C-B8F3-9827D24C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27A"/>
                </a:solidFill>
              </a:defRPr>
            </a:pPr>
            <a:r>
              <a:rPr sz="975" b="0">
                <a:solidFill>
                  <a:srgbClr val="52627A"/>
                </a:solidFill>
              </a:rPr>
              <a:t>DBKU Advertisement License Application System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BEA65AF-219C-4A68-AE97-C8BC961D0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27A"/>
                </a:solidFill>
              </a:defRPr>
            </a:pPr>
            <a:r>
              <a:rPr sz="975" b="1">
                <a:solidFill>
                  <a:srgbClr val="52627A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0148172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09A757-210C-4D86-8E0D-4D79FB45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6B49"/>
                </a:solidFill>
              </a:defRPr>
            </a:pPr>
            <a:r>
              <a:rPr sz="1125" b="1">
                <a:solidFill>
                  <a:srgbClr val="006B49"/>
                </a:solidFill>
              </a:rPr>
              <a:t>IMPACT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0DA096-C6D3-453A-BF4E-B0929CBE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847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71527"/>
                </a:solidFill>
              </a:defRPr>
            </a:pPr>
            <a:r>
              <a:rPr sz="3150" b="1">
                <a:solidFill>
                  <a:srgbClr val="071527"/>
                </a:solidFill>
              </a:rPr>
              <a:t>System value and presentation close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4AF97E-1B83-4539-AC61-D3186336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E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2b61d62d9d4a5a"/>
          <a:stretch xmlns:a="http://schemas.openxmlformats.org/drawingml/2006/main"/>
        </p:blipFill>
        <p:spPr>
          <a:xfrm xmlns:a="http://schemas.openxmlformats.org/drawingml/2006/main">
            <a:off x="6191250" y="1814888"/>
            <a:ext cx="4762500" cy="259957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475616-E7DF-4DC0-8766-434147E9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4762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71527"/>
                </a:solidFill>
              </a:defRPr>
            </a:pPr>
            <a:r>
              <a:rPr sz="2475" b="1">
                <a:solidFill>
                  <a:srgbClr val="071527"/>
                </a:solidFill>
              </a:rPr>
              <a:t>ALiS gives DBKU an auditable operating model for advertisement licensing.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C5842A-9F85-4735-BB8F-321901FA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8BABE1-20A2-4EB1-9ACF-3D2ABF259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62350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71527"/>
                </a:solidFill>
              </a:defRPr>
            </a:pPr>
            <a:r>
              <a:rPr sz="1575" b="1">
                <a:solidFill>
                  <a:srgbClr val="071527"/>
                </a:solidFill>
              </a:rPr>
              <a:t>Confirm standard operating ownership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4F3411-74E9-495E-B7B2-44CFEF38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3857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27A"/>
                </a:solidFill>
              </a:defRPr>
            </a:pPr>
            <a:r>
              <a:rPr sz="1275" b="0">
                <a:solidFill>
                  <a:srgbClr val="52627A"/>
                </a:solidFill>
              </a:rPr>
              <a:t>Validate each queue, permission, and status label with department leads.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C1919D-3B97-4B37-BD55-299C71C2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E56BCC-4824-44AB-A1AD-4C003A24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29100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71527"/>
                </a:solidFill>
              </a:defRPr>
            </a:pPr>
            <a:r>
              <a:rPr sz="1575" b="1">
                <a:solidFill>
                  <a:srgbClr val="071527"/>
                </a:solidFill>
              </a:rPr>
              <a:t>Train by real user journey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C05CEC-AF43-45B5-809B-B6D5EEAB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0532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27A"/>
                </a:solidFill>
              </a:defRPr>
            </a:pPr>
            <a:r>
              <a:rPr sz="1275" b="0">
                <a:solidFill>
                  <a:srgbClr val="52627A"/>
                </a:solidFill>
              </a:rPr>
              <a:t>Run one sample application from submission to QR e-license.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BC03F5-CB97-4576-9CA9-5FC270EFA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911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D2E5D1-B7A5-4AB2-9CA7-FE508072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95850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71527"/>
                </a:solidFill>
              </a:defRPr>
            </a:pPr>
            <a:r>
              <a:rPr sz="1575" b="1">
                <a:solidFill>
                  <a:srgbClr val="071527"/>
                </a:solidFill>
              </a:rPr>
              <a:t>Track operational metrics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ED1279-42C2-4B67-BFAD-8F02A000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7207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27A"/>
                </a:solidFill>
              </a:defRPr>
            </a:pPr>
            <a:r>
              <a:rPr sz="1275" b="0">
                <a:solidFill>
                  <a:srgbClr val="52627A"/>
                </a:solidFill>
              </a:rPr>
              <a:t>Monitor pending tasks, resubmissions, approval duration, payment completion, and renewals.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596B51-C4D1-44B4-A5E6-EF1E48530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667250"/>
            <a:ext cx="4629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6B49"/>
                </a:solidFill>
              </a:defRPr>
            </a:pPr>
            <a:r>
              <a:rPr sz="1650" b="1">
                <a:solidFill>
                  <a:srgbClr val="006B49"/>
                </a:solidFill>
              </a:rPr>
              <a:t>Use the live system screenshots during the talk to anchor discussion in actual DBKU workflows.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A703A5-4C21-41B1-8DC0-47A61392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5A7D26-AB68-4C92-BBD8-4F45AEE64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27A"/>
                </a:solidFill>
              </a:defRPr>
            </a:pPr>
            <a:r>
              <a:rPr sz="975" b="0">
                <a:solidFill>
                  <a:srgbClr val="52627A"/>
                </a:solidFill>
              </a:rPr>
              <a:t>DBKU Advertisement License Application System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B24A50-C50D-448D-8AC5-FC112F22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27A"/>
                </a:solidFill>
              </a:defRPr>
            </a:pPr>
            <a:r>
              <a:rPr sz="975" b="1">
                <a:solidFill>
                  <a:srgbClr val="52627A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613875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2026-06-30T05:39:36.3780000Z</dcterms:created>
  <dcterms:modified xsi:type="dcterms:W3CDTF">2026-06-30T05:39:36.3780000Z</dcterms:modified>
</coreProperties>
</file>