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1"/>
  </p:notesMasterIdLst>
  <p:sldIdLst>
    <p:sldId id="351" r:id="rId3"/>
    <p:sldId id="352" r:id="rId4"/>
    <p:sldId id="353" r:id="rId5"/>
    <p:sldId id="354" r:id="rId6"/>
    <p:sldId id="355" r:id="rId7"/>
    <p:sldId id="271" r:id="rId8"/>
    <p:sldId id="269" r:id="rId9"/>
    <p:sldId id="256" r:id="rId10"/>
    <p:sldId id="270" r:id="rId11"/>
    <p:sldId id="257" r:id="rId12"/>
    <p:sldId id="344" r:id="rId13"/>
    <p:sldId id="258" r:id="rId14"/>
    <p:sldId id="259" r:id="rId15"/>
    <p:sldId id="260" r:id="rId16"/>
    <p:sldId id="272" r:id="rId17"/>
    <p:sldId id="262" r:id="rId18"/>
    <p:sldId id="263" r:id="rId19"/>
    <p:sldId id="264" r:id="rId20"/>
    <p:sldId id="265" r:id="rId21"/>
    <p:sldId id="273" r:id="rId22"/>
    <p:sldId id="266" r:id="rId23"/>
    <p:sldId id="267" r:id="rId24"/>
    <p:sldId id="274" r:id="rId25"/>
    <p:sldId id="287" r:id="rId26"/>
    <p:sldId id="276" r:id="rId27"/>
    <p:sldId id="275" r:id="rId28"/>
    <p:sldId id="277" r:id="rId29"/>
    <p:sldId id="278" r:id="rId30"/>
    <p:sldId id="279" r:id="rId31"/>
    <p:sldId id="280" r:id="rId32"/>
    <p:sldId id="281" r:id="rId33"/>
    <p:sldId id="282" r:id="rId34"/>
    <p:sldId id="288" r:id="rId35"/>
    <p:sldId id="289" r:id="rId36"/>
    <p:sldId id="290" r:id="rId37"/>
    <p:sldId id="291" r:id="rId38"/>
    <p:sldId id="305" r:id="rId39"/>
    <p:sldId id="292" r:id="rId40"/>
    <p:sldId id="293" r:id="rId41"/>
    <p:sldId id="295" r:id="rId42"/>
    <p:sldId id="296" r:id="rId43"/>
    <p:sldId id="297" r:id="rId44"/>
    <p:sldId id="298" r:id="rId45"/>
    <p:sldId id="299" r:id="rId46"/>
    <p:sldId id="309" r:id="rId47"/>
    <p:sldId id="331" r:id="rId48"/>
    <p:sldId id="303" r:id="rId49"/>
    <p:sldId id="310" r:id="rId50"/>
    <p:sldId id="314" r:id="rId51"/>
    <p:sldId id="311" r:id="rId52"/>
    <p:sldId id="312" r:id="rId53"/>
    <p:sldId id="315" r:id="rId54"/>
    <p:sldId id="313" r:id="rId55"/>
    <p:sldId id="316" r:id="rId56"/>
    <p:sldId id="317" r:id="rId57"/>
    <p:sldId id="321" r:id="rId58"/>
    <p:sldId id="318" r:id="rId59"/>
    <p:sldId id="319" r:id="rId60"/>
    <p:sldId id="322" r:id="rId61"/>
    <p:sldId id="320" r:id="rId62"/>
    <p:sldId id="323" r:id="rId63"/>
    <p:sldId id="332" r:id="rId64"/>
    <p:sldId id="324" r:id="rId65"/>
    <p:sldId id="325" r:id="rId66"/>
    <p:sldId id="326" r:id="rId67"/>
    <p:sldId id="333" r:id="rId68"/>
    <p:sldId id="327" r:id="rId69"/>
    <p:sldId id="328" r:id="rId70"/>
    <p:sldId id="329" r:id="rId71"/>
    <p:sldId id="338" r:id="rId72"/>
    <p:sldId id="330" r:id="rId73"/>
    <p:sldId id="334" r:id="rId74"/>
    <p:sldId id="339" r:id="rId75"/>
    <p:sldId id="335" r:id="rId76"/>
    <p:sldId id="337" r:id="rId77"/>
    <p:sldId id="340" r:id="rId78"/>
    <p:sldId id="342" r:id="rId79"/>
    <p:sldId id="341" r:id="rId80"/>
    <p:sldId id="304" r:id="rId81"/>
    <p:sldId id="343" r:id="rId82"/>
    <p:sldId id="285" r:id="rId83"/>
    <p:sldId id="345" r:id="rId84"/>
    <p:sldId id="286" r:id="rId85"/>
    <p:sldId id="346" r:id="rId86"/>
    <p:sldId id="347" r:id="rId87"/>
    <p:sldId id="348" r:id="rId88"/>
    <p:sldId id="349" r:id="rId89"/>
    <p:sldId id="350" r:id="rId9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tableStyles" Target="tableStyle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018D7-9AA6-4765-A152-A05F3E0CADDE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EDCD5-D14A-453A-8974-921C85C72B6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6862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B1BD4-6463-E67D-9FF4-F812C1D79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B3B67-62B7-EA31-A679-252CC7B13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1DE86-9C36-3222-C6BC-0ADE5F676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D7E8B-3EAC-3DAD-52BA-87124A92B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248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2F967-497E-1F1C-E32B-AA8E0E2A0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A17A0-0547-1D67-2D28-4F96CD337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1B0EC-4113-0793-CA6F-4D1115EBA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882A9-C340-E556-8D0D-71F1B7962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78085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123AA-8F46-AE0E-069D-76D8BCA20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F5892-FE84-C840-E930-583EE9576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D7AE8-18B4-D569-F2F7-E98CE9B95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1D8C8-4A16-8143-260F-F02441F2D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39366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800B-7BE3-D75C-D5C0-0561771CA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08BB4-2467-EE97-3C0F-AD2B067A7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10EBC-24F5-D934-2137-AE8AE5082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C47DE-B7BF-0899-A6D6-AD6242BC3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30198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833BE-C942-CB26-D713-6B629D76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A8D60-4C55-F0A5-DA81-2129A5827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A08BD-936E-D0AD-BE36-5209CC88C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28CF1-E8BD-8CFC-9B07-6E5E80797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15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43969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E64B2-9B1E-FFCE-0E72-2262FAF6D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7E93C-2B27-C401-9AD4-C2A130770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DABD0D-5165-6637-F662-14CC8DE78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61752-B5DC-7433-CD34-2FBD00023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20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88226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80148-F68B-CD76-5C42-C317CA67F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E6445-709F-E4AD-F39A-6D7ED3C1D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E3DA5D-8E4F-3AB3-1E71-3E7807136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CAA1B-1472-EAD6-AE20-6AA0EA9A8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24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23148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20B54-C8D6-12A9-F51C-A894DDA80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B7FA3-E92E-83B5-3B24-941D4D806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5A816-C315-39C9-F19B-FBC564421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8DBAE-C1D0-D0EF-4E73-A45E8D984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33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9256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869FF-51F5-3B04-593A-990573BD7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45318-1D20-2449-4D58-0E5147B42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7AC51-A6F5-3B36-AD16-33EC48A21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4DF5F-2AFE-FFD8-D5BB-329B8E2BC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37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27288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FB44A-2DBC-CDCF-50C2-CB08CB510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FFA30-35CE-58A2-7840-7D758B1F7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1C4A5-6C6B-1125-31A5-BAF3D9E7D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82DE3-0E81-6A52-52F9-FA15B9FDE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45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072613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15396-B881-B935-EE48-3DDA8E598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46B75-82E4-29F2-70B3-A661CFA0F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8F789-FB96-6581-F426-101409B8A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82935-6978-0161-E489-6CD0B0C56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46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217988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F4304-06F4-DB86-A379-BBCB7393F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01B33-6309-F144-BACB-BF2E3D389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9A6BF-3831-C826-5DA6-D138AB036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4A932-1B62-54E2-5427-8B0F71C87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49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979754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85519-5885-42A4-1EFD-D59B0101A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14340-DC9B-254E-921E-B80DB7679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EC23D-C48A-570C-DD15-990879FB5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FE73D-83C3-D5FD-686D-2D8AD41E4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52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05741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4D39F-8C03-945B-025E-76A023C83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2784E-D277-03B5-E919-1E903A29B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337C83-8A62-63DD-580A-CE591C619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F468C-E2A0-E790-BE24-CB28897C8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56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53941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FC270-D069-5D66-8621-8BCEFC84C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0F886-B5EA-2DDE-7740-D74FC2721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F2E17-4B64-0547-90EC-F196A8671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878F8-F7B5-9C2B-3344-638AFB169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59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60886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E89BF-9C1B-589C-9687-A8BCF9C40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11DD0-8BF9-31F6-BBC5-1938FAECF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738C2-007B-AA68-C191-2BAF37BB6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6D0B2-EAFF-3996-329D-E3ADE5ABE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62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833066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06F60-425F-EE20-92A4-EF3306C21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573AB-7B0A-61AE-A4A8-91061AB0B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F954A-4B58-462C-0DC1-D6784AA1D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033F6-9D52-CD28-AD41-8DF789E19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66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814138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29E37-C5FE-4366-8638-D3EB6772E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823DA-037D-157A-18A8-18543D7B9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06DBC-9EF0-63F0-41DC-1E510BD02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4DA19-64C8-F296-41EF-F0BFF3BFF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70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619727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D086D-A940-3363-BC2D-77CA4EE8C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A5763-AE01-6887-58B2-FE095743B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D0494-E660-1218-65D8-CD6C554A6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277D8-51E1-FA9D-E16A-37F153FD9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73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420026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2CFD5-E54D-3582-8207-5BC43D52B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25E15-E76B-571D-F1CE-582A955BE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A75CA-E1F6-C36D-8AC2-5372F9DA1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D5837-B6AC-CF90-3767-E316E0967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77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656903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77039-8743-CC99-5E60-ECE250575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07093-A5A7-C8B0-26C9-4D4A6B9FB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E95E5-30C6-CEE8-E45A-2B8EAAED0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D9553-8A52-79F5-2EBD-54D9A53BD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80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883139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FAB16-A0FB-36BE-5EC7-61DB6FA80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93DC9F-A9D9-6B80-61DD-C7453CE6E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2BBAD-3247-C3E3-0403-0DB320695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A224F-EA9D-BE68-3CB7-8E90F4B74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EDCD5-D14A-453A-8974-921C85C72B6A}" type="slidenum">
              <a:rPr lang="en-MY" smtClean="0"/>
              <a:t>82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81871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B7609-0FC7-96D1-D1C2-4CB552D1E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1BB60-E7D2-E4E9-A8BA-70316637B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D3760-EA74-4701-6DFD-18D71D99B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308B3-E170-ECFC-51AB-9A5C004F2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77289-2C57-0E46-1E52-C09A2F2A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3145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27EE-89F4-E6DE-A6DF-43CA3C674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DC3DF-FBA5-C7ED-4EE2-102870D6F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4A338-3655-5AA8-8E8D-D2363303A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D7933-60F4-609B-1EB2-F8B7D3310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3FAD4-3B88-0118-7397-118A53B3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7179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CEC7D-F669-330F-E57B-358FD98C1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BC181-75C8-A920-583D-A1CFB4EED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87890-1CBA-44CD-B79D-7D02F7DAC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3029E-C056-7D2F-738A-B0E56CC80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0D143-970C-02D5-9002-CDB19DF7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7936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A5B51-988D-EA2E-AE57-66B3AC3F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1AAB1-DCCF-15BD-0AFB-445644DD9F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97888-EB02-9521-4592-59B0E50F8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0E51C-8CA5-4A2B-FE83-24E4F3291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DE161-667B-89EE-1854-AAB0166E6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8AC7B-6632-6BB1-1D03-5F55F87F0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14229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B5BCA-60E6-098A-F5B1-C670FDB8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7C2CA-B7FF-7094-A167-5E6E4554B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58DDA-D3D1-5EE6-F8F3-E658FE990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B5BCC-B8BD-1618-05B7-A1012E984D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FDB49D-F4F7-D72C-F20A-E0862AEB2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467EAE-6959-BF6D-071F-0CB3C0E8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EC8F6-3A8A-FD5E-DC74-69D101575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8CA608-7898-7279-5344-65B785AE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2435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056F7-D6D3-1982-7B74-DD6AFC59A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52626-2761-28A6-C5E7-5217E9330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67C14-25ED-B045-2B7E-CC5C96ED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0A570-EA6A-671F-52E9-94F370E5F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44207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275236-A01A-8A07-AAE2-6C9D328F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F83B4A-077B-EB8F-DA88-495D02DB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DC196-81B9-0FEA-6300-28A68349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86974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3257B-AB2B-BD32-73CF-3D28A7CB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C9819-4231-890A-471A-27AED60DC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18460-DCC9-9826-1F7C-280556D28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1B8F1-7148-7246-F496-D897B59C8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5B6DC-1564-BFE4-91D2-A066A403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C6103-2CF6-D233-FC1B-9F8C7C31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60885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8F44-D9F7-5D42-4811-934C4CB6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7A33F9-45C6-B973-1C06-C5B3F23B70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6DE75-1454-57AF-6C12-FC20133CE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6440A-83F8-341C-A520-929441166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02B3E-6F31-5798-78F1-C3E5A17F1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63F00-5EFE-801B-8EA2-F042DD05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71282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A563-92A0-B161-AF36-F960754F1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140C5-6698-C7F9-FC12-92CEDAAA3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FE45D-DDF2-6380-FC78-33D3DF04E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DBA29-1B9B-5676-1EE2-7BF3CDBF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AB782-A3A3-EC3D-6636-336962A1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04533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06DF54-C4D9-102E-1998-FD117D5023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6B08F-7B71-96DC-F063-07CC9871F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54B4E-26DB-82E3-B56B-34F1B7EA6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0446-1D9D-1DF6-1253-F437567A1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FDD1A-9A3F-9BB8-F693-952F7C2BD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7953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13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59FD4C-FA73-A117-4A57-B9350510B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C385C-2FCD-3F09-20B6-D11C42EF3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24EA5-9E87-CB0D-B829-BA4B2A1F5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26ED7-B8ED-42F5-AC7E-2C7A269F4060}" type="datetimeFigureOut">
              <a:rPr lang="en-MY" smtClean="0"/>
              <a:t>30/6/2026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C89D9-A282-2916-6D38-8EE82CFD1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9CB00-1F2E-D0DC-DB70-05072FFAB9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F3B6E-A039-4053-BA31-DA10F72C63F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52112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39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35D833D-4C4E-44E4-8761-F4A1E65A2EC5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06B49"/>
                </a:solidFill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06B4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USERS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224BF2-7B3A-4C05-AA5E-F9608B3A71E0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71527"/>
                </a:solidFill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Role-based workspaces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A170D4-66E9-4A29-9B86-9DDE19C7CE0D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CC98D1C-6AD9-4D87-896C-7E2C57EB2DBD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AF8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8F5E30-F47C-4AE5-90BA-FEF19E455813}"/>
              </a:ext>
            </a:extLst>
          </p:cNvPr>
          <p:cNvSpPr>
            <a:spLocks noGrp="1"/>
          </p:cNvSpPr>
          <p:nvPr/>
        </p:nvSpPr>
        <p:spPr>
          <a:xfrm>
            <a:off x="952500" y="19240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06B49"/>
                </a:solidFill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6B4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Applicant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3BF5C9-3847-475F-BDA6-6BFA51C31A1B}"/>
              </a:ext>
            </a:extLst>
          </p:cNvPr>
          <p:cNvSpPr>
            <a:spLocks noGrp="1"/>
          </p:cNvSpPr>
          <p:nvPr/>
        </p:nvSpPr>
        <p:spPr>
          <a:xfrm>
            <a:off x="2838450" y="19240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2627A"/>
                </a:solidFill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Submit application, upload documents, pay, download QR.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5326DA-C9AB-4765-9586-AF12D3B77807}"/>
              </a:ext>
            </a:extLst>
          </p:cNvPr>
          <p:cNvSpPr>
            <a:spLocks noGrp="1"/>
          </p:cNvSpPr>
          <p:nvPr/>
        </p:nvSpPr>
        <p:spPr>
          <a:xfrm>
            <a:off x="6219825" y="18097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D93D66-456A-4ABD-9933-4D1B77F6A6F4}"/>
              </a:ext>
            </a:extLst>
          </p:cNvPr>
          <p:cNvSpPr>
            <a:spLocks noGrp="1"/>
          </p:cNvSpPr>
          <p:nvPr/>
        </p:nvSpPr>
        <p:spPr>
          <a:xfrm>
            <a:off x="6429375" y="19240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06B49"/>
                </a:solidFill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6B4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PT(IKL)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732BD3-7705-4A52-A587-9105682CB22D}"/>
              </a:ext>
            </a:extLst>
          </p:cNvPr>
          <p:cNvSpPr>
            <a:spLocks noGrp="1"/>
          </p:cNvSpPr>
          <p:nvPr/>
        </p:nvSpPr>
        <p:spPr>
          <a:xfrm>
            <a:off x="8315325" y="19240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2627A"/>
                </a:solidFill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Returned cases, letters, bills, receipts, e-license.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60527B0-DF33-4BF4-9187-5BF4A320D2E2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AF8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E2E871-C522-42C5-AEDA-0199548CC846}"/>
              </a:ext>
            </a:extLst>
          </p:cNvPr>
          <p:cNvSpPr>
            <a:spLocks noGrp="1"/>
          </p:cNvSpPr>
          <p:nvPr/>
        </p:nvSpPr>
        <p:spPr>
          <a:xfrm>
            <a:off x="952500" y="28003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06B49"/>
                </a:solidFill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6B4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KU(IKL)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BA1D55-42CF-4E3E-B9E0-B43EFEF8ECEC}"/>
              </a:ext>
            </a:extLst>
          </p:cNvPr>
          <p:cNvSpPr>
            <a:spLocks noGrp="1"/>
          </p:cNvSpPr>
          <p:nvPr/>
        </p:nvSpPr>
        <p:spPr>
          <a:xfrm>
            <a:off x="2838450" y="28003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2627A"/>
                </a:solidFill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Initial screening and final technical checking.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DC8714-792D-4FDC-81D1-516D6E8A1B30}"/>
              </a:ext>
            </a:extLst>
          </p:cNvPr>
          <p:cNvSpPr>
            <a:spLocks noGrp="1"/>
          </p:cNvSpPr>
          <p:nvPr/>
        </p:nvSpPr>
        <p:spPr>
          <a:xfrm>
            <a:off x="6219825" y="26860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7FAC4B-BA28-4065-8739-9ED8C93BAA37}"/>
              </a:ext>
            </a:extLst>
          </p:cNvPr>
          <p:cNvSpPr>
            <a:spLocks noGrp="1"/>
          </p:cNvSpPr>
          <p:nvPr/>
        </p:nvSpPr>
        <p:spPr>
          <a:xfrm>
            <a:off x="6429375" y="28003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06B49"/>
                </a:solidFill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6B4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IKL Technical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1F67A1-36FB-4913-AF93-5CD49619F5D9}"/>
              </a:ext>
            </a:extLst>
          </p:cNvPr>
          <p:cNvSpPr>
            <a:spLocks noGrp="1"/>
          </p:cNvSpPr>
          <p:nvPr/>
        </p:nvSpPr>
        <p:spPr>
          <a:xfrm>
            <a:off x="8315325" y="28003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2627A"/>
                </a:solidFill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Site visit, fee/deposit calculation, recommendation.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32E2000-C78C-4615-BE0E-A82ED4787F04}"/>
              </a:ext>
            </a:extLst>
          </p:cNvPr>
          <p:cNvSpPr>
            <a:spLocks noGrp="1"/>
          </p:cNvSpPr>
          <p:nvPr/>
        </p:nvSpPr>
        <p:spPr>
          <a:xfrm>
            <a:off x="742950" y="35623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AF8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99789B-50E8-4BDF-B785-5896F4CF001F}"/>
              </a:ext>
            </a:extLst>
          </p:cNvPr>
          <p:cNvSpPr>
            <a:spLocks noGrp="1"/>
          </p:cNvSpPr>
          <p:nvPr/>
        </p:nvSpPr>
        <p:spPr>
          <a:xfrm>
            <a:off x="952500" y="36766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71527"/>
                </a:solidFill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BLG/GPM/MNE/IMT/LNP/ENG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B03C19-967B-451F-B46A-D9C000C87431}"/>
              </a:ext>
            </a:extLst>
          </p:cNvPr>
          <p:cNvSpPr>
            <a:spLocks noGrp="1"/>
          </p:cNvSpPr>
          <p:nvPr/>
        </p:nvSpPr>
        <p:spPr>
          <a:xfrm>
            <a:off x="2838450" y="36766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2627A"/>
                </a:solidFill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Specialist technical reviews and remarks.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FF09AE3-CD51-49AF-A853-DC9BFC30B2E6}"/>
              </a:ext>
            </a:extLst>
          </p:cNvPr>
          <p:cNvSpPr>
            <a:spLocks noGrp="1"/>
          </p:cNvSpPr>
          <p:nvPr/>
        </p:nvSpPr>
        <p:spPr>
          <a:xfrm>
            <a:off x="6219825" y="35623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67E688-1650-4D33-B554-5C3049AA298C}"/>
              </a:ext>
            </a:extLst>
          </p:cNvPr>
          <p:cNvSpPr>
            <a:spLocks noGrp="1"/>
          </p:cNvSpPr>
          <p:nvPr/>
        </p:nvSpPr>
        <p:spPr>
          <a:xfrm>
            <a:off x="6429375" y="36766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71527"/>
                </a:solidFill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KB(LES)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CB122F-B9C1-4103-98CA-A968BD59BE08}"/>
              </a:ext>
            </a:extLst>
          </p:cNvPr>
          <p:cNvSpPr>
            <a:spLocks noGrp="1"/>
          </p:cNvSpPr>
          <p:nvPr/>
        </p:nvSpPr>
        <p:spPr>
          <a:xfrm>
            <a:off x="8315325" y="36766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2627A"/>
                </a:solidFill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Verification and unit support before approval.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380D1D0-FE74-4277-8247-F27C3B9D4173}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AF8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23996E-B97F-4587-9DF6-5165B6028197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71527"/>
                </a:solidFill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TP(RES)/PGH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EBA167-1E7D-4F0F-BAD9-147DB03E8AB6}"/>
              </a:ext>
            </a:extLst>
          </p:cNvPr>
          <p:cNvSpPr>
            <a:spLocks noGrp="1"/>
          </p:cNvSpPr>
          <p:nvPr/>
        </p:nvSpPr>
        <p:spPr>
          <a:xfrm>
            <a:off x="2838450" y="45529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2627A"/>
                </a:solidFill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Final approval recommendation and management decision.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393743B-7B7F-4514-8159-F3B05414C37C}"/>
              </a:ext>
            </a:extLst>
          </p:cNvPr>
          <p:cNvSpPr>
            <a:spLocks noGrp="1"/>
          </p:cNvSpPr>
          <p:nvPr/>
        </p:nvSpPr>
        <p:spPr>
          <a:xfrm>
            <a:off x="6219825" y="4438650"/>
            <a:ext cx="4810125" cy="66675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F42C78-F062-4F3A-929C-2403D2CB2478}"/>
              </a:ext>
            </a:extLst>
          </p:cNvPr>
          <p:cNvSpPr>
            <a:spLocks noGrp="1"/>
          </p:cNvSpPr>
          <p:nvPr/>
        </p:nvSpPr>
        <p:spPr>
          <a:xfrm>
            <a:off x="6429375" y="455295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71527"/>
                </a:solidFill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MPHLG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375B4A-5CE5-49B5-97A1-39C6D2EC38A1}"/>
              </a:ext>
            </a:extLst>
          </p:cNvPr>
          <p:cNvSpPr>
            <a:spLocks noGrp="1"/>
          </p:cNvSpPr>
          <p:nvPr/>
        </p:nvSpPr>
        <p:spPr>
          <a:xfrm>
            <a:off x="8315325" y="45529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2627A"/>
                </a:solidFill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External review or approval stage where required.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2A4DFC-E8B0-4047-909F-2C5BD0C3E0D8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04E3F3-A273-457D-A4EB-D7C2747FFDC3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27A"/>
                </a:solidFill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DBKU Advertisement License Application System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2AD1E9-034E-454E-AE9A-1D0533D54A63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52627A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7519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2176035D-CCEB-40BB-A230-DF90234417F3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06B49"/>
                </a:solidFill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06B4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OPERATIONAL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F2B608-5BCE-4E73-A34D-A8640DBD6859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71527"/>
                </a:solidFill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End-to-end license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199EC6-B4D3-4B5E-A658-F6CC36069816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14FBB2-215D-4762-8354-85F3D93AD506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2286000" cy="2857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C8CE44-79B0-46FF-80F4-D0C3CFC3A0A9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00865D"/>
          </a:solidFill>
          <a:ln w="9525">
            <a:solidFill>
              <a:srgbClr val="00865D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9CE9B2-D875-4D26-95CA-D11F943FAB7D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FFFFFF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1B26EE-46F7-47FD-BA41-96559A651F1C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071527"/>
                </a:solidFill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Applicant submits 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CAEA25-F2A3-4FF3-BF71-AC4E2BFEBFF2}"/>
              </a:ext>
            </a:extLst>
          </p:cNvPr>
          <p:cNvSpPr>
            <a:spLocks noGrp="1"/>
          </p:cNvSpPr>
          <p:nvPr/>
        </p:nvSpPr>
        <p:spPr>
          <a:xfrm>
            <a:off x="3524250" y="2152650"/>
            <a:ext cx="2286000" cy="2857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94B701-651F-4090-A380-FF90AD110C71}"/>
              </a:ext>
            </a:extLst>
          </p:cNvPr>
          <p:cNvSpPr>
            <a:spLocks noGrp="1"/>
          </p:cNvSpPr>
          <p:nvPr/>
        </p:nvSpPr>
        <p:spPr>
          <a:xfrm>
            <a:off x="3524250" y="20383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00865D"/>
          </a:solidFill>
          <a:ln w="9525">
            <a:solidFill>
              <a:srgbClr val="00865D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E93AAB-28B1-492E-9BA3-4F7CAB18635F}"/>
              </a:ext>
            </a:extLst>
          </p:cNvPr>
          <p:cNvSpPr>
            <a:spLocks noGrp="1"/>
          </p:cNvSpPr>
          <p:nvPr/>
        </p:nvSpPr>
        <p:spPr>
          <a:xfrm>
            <a:off x="3524250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FFFFFF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545694-0E03-438D-96ED-C2A627517402}"/>
              </a:ext>
            </a:extLst>
          </p:cNvPr>
          <p:cNvSpPr>
            <a:spLocks noGrp="1"/>
          </p:cNvSpPr>
          <p:nvPr/>
        </p:nvSpPr>
        <p:spPr>
          <a:xfrm>
            <a:off x="3524250" y="25908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071527"/>
                </a:solidFill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KU(IKL) screens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169C92-F7C1-406E-AD5C-A770A58611F5}"/>
              </a:ext>
            </a:extLst>
          </p:cNvPr>
          <p:cNvSpPr>
            <a:spLocks noGrp="1"/>
          </p:cNvSpPr>
          <p:nvPr/>
        </p:nvSpPr>
        <p:spPr>
          <a:xfrm>
            <a:off x="6305550" y="2152650"/>
            <a:ext cx="2286000" cy="28575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C2E56D-6FE3-47EF-B593-26382B8150A6}"/>
              </a:ext>
            </a:extLst>
          </p:cNvPr>
          <p:cNvSpPr>
            <a:spLocks noGrp="1"/>
          </p:cNvSpPr>
          <p:nvPr/>
        </p:nvSpPr>
        <p:spPr>
          <a:xfrm>
            <a:off x="6305550" y="20383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1F5FBF"/>
          </a:solidFill>
          <a:ln w="9525">
            <a:solidFill>
              <a:srgbClr val="1F5FB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3829D9-B676-4AD8-AE60-2F41FCEF38B8}"/>
              </a:ext>
            </a:extLst>
          </p:cNvPr>
          <p:cNvSpPr>
            <a:spLocks noGrp="1"/>
          </p:cNvSpPr>
          <p:nvPr/>
        </p:nvSpPr>
        <p:spPr>
          <a:xfrm>
            <a:off x="6305550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FFFFFF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B30825-312E-4640-BA83-D7F05815D423}"/>
              </a:ext>
            </a:extLst>
          </p:cNvPr>
          <p:cNvSpPr>
            <a:spLocks noGrp="1"/>
          </p:cNvSpPr>
          <p:nvPr/>
        </p:nvSpPr>
        <p:spPr>
          <a:xfrm>
            <a:off x="6305550" y="25908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071527"/>
                </a:solidFill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Technical 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0006F2-C704-4DC5-8496-5E223A783A36}"/>
              </a:ext>
            </a:extLst>
          </p:cNvPr>
          <p:cNvSpPr>
            <a:spLocks noGrp="1"/>
          </p:cNvSpPr>
          <p:nvPr/>
        </p:nvSpPr>
        <p:spPr>
          <a:xfrm>
            <a:off x="9086850" y="2152650"/>
            <a:ext cx="2286000" cy="28575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36C68F0-6FFE-44B0-A9D1-FCD55030CAA7}"/>
              </a:ext>
            </a:extLst>
          </p:cNvPr>
          <p:cNvSpPr>
            <a:spLocks noGrp="1"/>
          </p:cNvSpPr>
          <p:nvPr/>
        </p:nvSpPr>
        <p:spPr>
          <a:xfrm>
            <a:off x="9086850" y="20383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1F5FBF"/>
          </a:solidFill>
          <a:ln w="9525">
            <a:solidFill>
              <a:srgbClr val="1F5FB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BD95E2-8881-403D-836F-CF18E6342AD3}"/>
              </a:ext>
            </a:extLst>
          </p:cNvPr>
          <p:cNvSpPr>
            <a:spLocks noGrp="1"/>
          </p:cNvSpPr>
          <p:nvPr/>
        </p:nvSpPr>
        <p:spPr>
          <a:xfrm>
            <a:off x="9086850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FFFFFF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B9F4FC-E08E-45AF-BCF2-87D4D01875AD}"/>
              </a:ext>
            </a:extLst>
          </p:cNvPr>
          <p:cNvSpPr>
            <a:spLocks noGrp="1"/>
          </p:cNvSpPr>
          <p:nvPr/>
        </p:nvSpPr>
        <p:spPr>
          <a:xfrm>
            <a:off x="9086850" y="25908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071527"/>
                </a:solidFill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KU(IKL) final check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0F2F40-4AC2-4F40-9359-345E8AD1511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2286000" cy="28575"/>
          </a:xfrm>
          <a:prstGeom prst="rect">
            <a:avLst/>
          </a:prstGeom>
          <a:solidFill>
            <a:srgbClr val="8B2BD5"/>
          </a:solidFill>
          <a:ln w="0">
            <a:noFill/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A21491-204E-4587-8312-AAB9DB9817F6}"/>
              </a:ext>
            </a:extLst>
          </p:cNvPr>
          <p:cNvSpPr>
            <a:spLocks noGrp="1"/>
          </p:cNvSpPr>
          <p:nvPr/>
        </p:nvSpPr>
        <p:spPr>
          <a:xfrm>
            <a:off x="742950" y="38862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8B2BD5"/>
          </a:solidFill>
          <a:ln w="9525">
            <a:solidFill>
              <a:srgbClr val="8B2BD5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9892A2-DFD5-4CC2-B952-19CAB2EA812D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FFFFFF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F0F555-26B6-43A1-984C-50CB9E5A5BD0}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071527"/>
                </a:solidFill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KB(LES) verifies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DD13F5-E8BE-4264-8C66-049179007C37}"/>
              </a:ext>
            </a:extLst>
          </p:cNvPr>
          <p:cNvSpPr>
            <a:spLocks noGrp="1"/>
          </p:cNvSpPr>
          <p:nvPr/>
        </p:nvSpPr>
        <p:spPr>
          <a:xfrm>
            <a:off x="3524250" y="4000500"/>
            <a:ext cx="2286000" cy="28575"/>
          </a:xfrm>
          <a:prstGeom prst="rect">
            <a:avLst/>
          </a:prstGeom>
          <a:solidFill>
            <a:srgbClr val="8B2BD5"/>
          </a:solidFill>
          <a:ln w="0">
            <a:noFill/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8E2D6DC-F3CF-476A-9BF2-B9F42E3D509E}"/>
              </a:ext>
            </a:extLst>
          </p:cNvPr>
          <p:cNvSpPr>
            <a:spLocks noGrp="1"/>
          </p:cNvSpPr>
          <p:nvPr/>
        </p:nvSpPr>
        <p:spPr>
          <a:xfrm>
            <a:off x="3524250" y="38862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8B2BD5"/>
          </a:solidFill>
          <a:ln w="9525">
            <a:solidFill>
              <a:srgbClr val="8B2BD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455E49-ADC5-47C5-B6FF-A496A2BF7E45}"/>
              </a:ext>
            </a:extLst>
          </p:cNvPr>
          <p:cNvSpPr>
            <a:spLocks noGrp="1"/>
          </p:cNvSpPr>
          <p:nvPr/>
        </p:nvSpPr>
        <p:spPr>
          <a:xfrm>
            <a:off x="3524250" y="39624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FFFFFF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713E53-FAEB-4069-B991-F47A938923CA}"/>
              </a:ext>
            </a:extLst>
          </p:cNvPr>
          <p:cNvSpPr>
            <a:spLocks noGrp="1"/>
          </p:cNvSpPr>
          <p:nvPr/>
        </p:nvSpPr>
        <p:spPr>
          <a:xfrm>
            <a:off x="3524250" y="443865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071527"/>
                </a:solidFill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TP(RES)/PGH approves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4696B1-B563-47D3-B345-7ED3D053E7FC}"/>
              </a:ext>
            </a:extLst>
          </p:cNvPr>
          <p:cNvSpPr>
            <a:spLocks noGrp="1"/>
          </p:cNvSpPr>
          <p:nvPr/>
        </p:nvSpPr>
        <p:spPr>
          <a:xfrm>
            <a:off x="6305550" y="4000500"/>
            <a:ext cx="2286000" cy="28575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0284D6F-8476-4693-9EA3-87DFD0B76810}"/>
              </a:ext>
            </a:extLst>
          </p:cNvPr>
          <p:cNvSpPr>
            <a:spLocks noGrp="1"/>
          </p:cNvSpPr>
          <p:nvPr/>
        </p:nvSpPr>
        <p:spPr>
          <a:xfrm>
            <a:off x="6305550" y="38862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6CE8F7-ADA3-4985-A326-BA34F22957C8}"/>
              </a:ext>
            </a:extLst>
          </p:cNvPr>
          <p:cNvSpPr>
            <a:spLocks noGrp="1"/>
          </p:cNvSpPr>
          <p:nvPr/>
        </p:nvSpPr>
        <p:spPr>
          <a:xfrm>
            <a:off x="6305550" y="39624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FFFFFF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48F099-23A0-499E-AD90-E50C60E809A1}"/>
              </a:ext>
            </a:extLst>
          </p:cNvPr>
          <p:cNvSpPr>
            <a:spLocks noGrp="1"/>
          </p:cNvSpPr>
          <p:nvPr/>
        </p:nvSpPr>
        <p:spPr>
          <a:xfrm>
            <a:off x="6305550" y="443865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071527"/>
                </a:solidFill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PT(IKL) bill and receipt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A989A3-1A84-4A04-9A23-E9D18108DDF9}"/>
              </a:ext>
            </a:extLst>
          </p:cNvPr>
          <p:cNvSpPr>
            <a:spLocks noGrp="1"/>
          </p:cNvSpPr>
          <p:nvPr/>
        </p:nvSpPr>
        <p:spPr>
          <a:xfrm>
            <a:off x="9086850" y="4000500"/>
            <a:ext cx="2286000" cy="28575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4EB2E52-D360-474A-9B55-3989A92AED46}"/>
              </a:ext>
            </a:extLst>
          </p:cNvPr>
          <p:cNvSpPr>
            <a:spLocks noGrp="1"/>
          </p:cNvSpPr>
          <p:nvPr/>
        </p:nvSpPr>
        <p:spPr>
          <a:xfrm>
            <a:off x="9086850" y="38862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9346AE-0275-4F55-87BB-99B2022E77C9}"/>
              </a:ext>
            </a:extLst>
          </p:cNvPr>
          <p:cNvSpPr>
            <a:spLocks noGrp="1"/>
          </p:cNvSpPr>
          <p:nvPr/>
        </p:nvSpPr>
        <p:spPr>
          <a:xfrm>
            <a:off x="9086850" y="39624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FFFFFF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E4E8E09-0E48-416E-97E6-F3E21AF83340}"/>
              </a:ext>
            </a:extLst>
          </p:cNvPr>
          <p:cNvSpPr>
            <a:spLocks noGrp="1"/>
          </p:cNvSpPr>
          <p:nvPr/>
        </p:nvSpPr>
        <p:spPr>
          <a:xfrm>
            <a:off x="9086850" y="443865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071527"/>
                </a:solidFill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QR e-license issued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335791-8D53-4832-97BC-465F2CE8D791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E806D89-8ADE-4D10-B39D-E04AAAAAF79C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27A"/>
                </a:solidFill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DBKU Advertisement License Application System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C70597-04A9-4FC9-B129-5BC426FB579C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52627A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6639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2AD095C-B344-4B0E-A72D-224E8CA10819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06B49"/>
                </a:solidFill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06B4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TECHNOLOGY STACK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742DB9-B040-4790-9180-E3C4E3FB633B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71527"/>
                </a:solidFill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Framework and technical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C1ABB-629B-41D3-A5BF-C0491DE62A87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456C65-A1EA-4EF6-805A-A3A8AF649210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3200400" cy="3143250"/>
          </a:xfrm>
          <a:prstGeom prst="roundRect">
            <a:avLst>
              <a:gd name="adj" fmla="val 2424"/>
            </a:avLst>
          </a:prstGeom>
          <a:solidFill>
            <a:srgbClr val="F6FAF8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2C8F34-CD97-4F64-B034-1F0CA91380B4}"/>
              </a:ext>
            </a:extLst>
          </p:cNvPr>
          <p:cNvSpPr>
            <a:spLocks noGrp="1"/>
          </p:cNvSpPr>
          <p:nvPr/>
        </p:nvSpPr>
        <p:spPr>
          <a:xfrm>
            <a:off x="990600" y="22098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B49"/>
                </a:solidFill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B4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Frontend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04E7E1-4606-4D09-B8AB-8949A839689B}"/>
              </a:ext>
            </a:extLst>
          </p:cNvPr>
          <p:cNvSpPr>
            <a:spLocks noGrp="1"/>
          </p:cNvSpPr>
          <p:nvPr/>
        </p:nvSpPr>
        <p:spPr>
          <a:xfrm>
            <a:off x="1066800" y="28384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663FA1-2824-4C4B-A105-307891101C1C}"/>
              </a:ext>
            </a:extLst>
          </p:cNvPr>
          <p:cNvSpPr>
            <a:spLocks noGrp="1"/>
          </p:cNvSpPr>
          <p:nvPr/>
        </p:nvSpPr>
        <p:spPr>
          <a:xfrm>
            <a:off x="1295400" y="274320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071527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React 19 + Vite 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04F0F0-C1B4-47E3-93B1-6B94C5FEBD9C}"/>
              </a:ext>
            </a:extLst>
          </p:cNvPr>
          <p:cNvSpPr>
            <a:spLocks noGrp="1"/>
          </p:cNvSpPr>
          <p:nvPr/>
        </p:nvSpPr>
        <p:spPr>
          <a:xfrm>
            <a:off x="1295400" y="30194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52627A"/>
                </a:solidFill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Single-page web application with fast build tooling.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2A3EB1-39D3-4B8A-8ECF-2E526A849CC8}"/>
              </a:ext>
            </a:extLst>
          </p:cNvPr>
          <p:cNvSpPr>
            <a:spLocks noGrp="1"/>
          </p:cNvSpPr>
          <p:nvPr/>
        </p:nvSpPr>
        <p:spPr>
          <a:xfrm>
            <a:off x="1066800" y="350520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4E49E5-E98A-4BD9-AE25-DDA78F0D69DA}"/>
              </a:ext>
            </a:extLst>
          </p:cNvPr>
          <p:cNvSpPr>
            <a:spLocks noGrp="1"/>
          </p:cNvSpPr>
          <p:nvPr/>
        </p:nvSpPr>
        <p:spPr>
          <a:xfrm>
            <a:off x="1295400" y="340995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071527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React Router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B85998-C248-46B4-8210-B21472A5A1D1}"/>
              </a:ext>
            </a:extLst>
          </p:cNvPr>
          <p:cNvSpPr>
            <a:spLocks noGrp="1"/>
          </p:cNvSpPr>
          <p:nvPr/>
        </p:nvSpPr>
        <p:spPr>
          <a:xfrm>
            <a:off x="1295400" y="368617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52627A"/>
                </a:solidFill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Role-based navigation for applicant, admin, and supervisor journeys.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381B2D-0C83-4ADF-B2DD-886D25645508}"/>
              </a:ext>
            </a:extLst>
          </p:cNvPr>
          <p:cNvSpPr>
            <a:spLocks noGrp="1"/>
          </p:cNvSpPr>
          <p:nvPr/>
        </p:nvSpPr>
        <p:spPr>
          <a:xfrm>
            <a:off x="1066800" y="41719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A209EE-F95D-4A42-A677-7E621A345084}"/>
              </a:ext>
            </a:extLst>
          </p:cNvPr>
          <p:cNvSpPr>
            <a:spLocks noGrp="1"/>
          </p:cNvSpPr>
          <p:nvPr/>
        </p:nvSpPr>
        <p:spPr>
          <a:xfrm>
            <a:off x="1295400" y="407670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071527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UI and document tools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31904F-27F9-42E2-9E25-DA5CAADA8994}"/>
              </a:ext>
            </a:extLst>
          </p:cNvPr>
          <p:cNvSpPr>
            <a:spLocks noGrp="1"/>
          </p:cNvSpPr>
          <p:nvPr/>
        </p:nvSpPr>
        <p:spPr>
          <a:xfrm>
            <a:off x="1295400" y="43529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52627A"/>
                </a:solidFill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CKEditor, qrcode.react, jsPDF/html2canvas, Mapbox/MapLibre.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698CCC-129B-4B61-A6CA-1595CEC8DD87}"/>
              </a:ext>
            </a:extLst>
          </p:cNvPr>
          <p:cNvSpPr>
            <a:spLocks noGrp="1"/>
          </p:cNvSpPr>
          <p:nvPr/>
        </p:nvSpPr>
        <p:spPr>
          <a:xfrm>
            <a:off x="4495800" y="1924050"/>
            <a:ext cx="3200400" cy="3143250"/>
          </a:xfrm>
          <a:prstGeom prst="roundRect">
            <a:avLst>
              <a:gd name="adj" fmla="val 2424"/>
            </a:avLst>
          </a:prstGeom>
          <a:solidFill>
            <a:srgbClr val="F7FBFF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18298C-BCB8-4D6A-AE58-23194EBD9942}"/>
              </a:ext>
            </a:extLst>
          </p:cNvPr>
          <p:cNvSpPr>
            <a:spLocks noGrp="1"/>
          </p:cNvSpPr>
          <p:nvPr/>
        </p:nvSpPr>
        <p:spPr>
          <a:xfrm>
            <a:off x="4781550" y="22098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1F5FBF"/>
                </a:solidFill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1F5FB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Backend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2B46AF-5412-451F-AD49-69A89F39FAE6}"/>
              </a:ext>
            </a:extLst>
          </p:cNvPr>
          <p:cNvSpPr>
            <a:spLocks noGrp="1"/>
          </p:cNvSpPr>
          <p:nvPr/>
        </p:nvSpPr>
        <p:spPr>
          <a:xfrm>
            <a:off x="4857750" y="28384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77FE6-8FD5-4F43-BFDA-DF4432B9B669}"/>
              </a:ext>
            </a:extLst>
          </p:cNvPr>
          <p:cNvSpPr>
            <a:spLocks noGrp="1"/>
          </p:cNvSpPr>
          <p:nvPr/>
        </p:nvSpPr>
        <p:spPr>
          <a:xfrm>
            <a:off x="5086350" y="274320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071527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Django 5.2 + DRF 3.17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7F7EFE-F429-44D2-B64C-F77EE4E423E3}"/>
              </a:ext>
            </a:extLst>
          </p:cNvPr>
          <p:cNvSpPr>
            <a:spLocks noGrp="1"/>
          </p:cNvSpPr>
          <p:nvPr/>
        </p:nvSpPr>
        <p:spPr>
          <a:xfrm>
            <a:off x="5086350" y="30194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52627A"/>
                </a:solidFill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REST API layer for applications, accounts, and notifications.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8BFD46-8D9D-4437-B0A2-05242319D4AB}"/>
              </a:ext>
            </a:extLst>
          </p:cNvPr>
          <p:cNvSpPr>
            <a:spLocks noGrp="1"/>
          </p:cNvSpPr>
          <p:nvPr/>
        </p:nvSpPr>
        <p:spPr>
          <a:xfrm>
            <a:off x="4857750" y="350520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FDF0D8-69D7-4A49-ADF0-0B85C8AEFADE}"/>
              </a:ext>
            </a:extLst>
          </p:cNvPr>
          <p:cNvSpPr>
            <a:spLocks noGrp="1"/>
          </p:cNvSpPr>
          <p:nvPr/>
        </p:nvSpPr>
        <p:spPr>
          <a:xfrm>
            <a:off x="5086350" y="340995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071527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SimpleJWT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DC1753-9B19-4237-9D75-3D5FB0F642D7}"/>
              </a:ext>
            </a:extLst>
          </p:cNvPr>
          <p:cNvSpPr>
            <a:spLocks noGrp="1"/>
          </p:cNvSpPr>
          <p:nvPr/>
        </p:nvSpPr>
        <p:spPr>
          <a:xfrm>
            <a:off x="5086350" y="368617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52627A"/>
                </a:solidFill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Bearer-token authentication with rotating refresh tokens.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A8706B-38B2-4C62-8143-CEBA5EAFEA97}"/>
              </a:ext>
            </a:extLst>
          </p:cNvPr>
          <p:cNvSpPr>
            <a:spLocks noGrp="1"/>
          </p:cNvSpPr>
          <p:nvPr/>
        </p:nvSpPr>
        <p:spPr>
          <a:xfrm>
            <a:off x="4857750" y="41719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7D1C9C-F839-4A51-961D-7D2F993A120A}"/>
              </a:ext>
            </a:extLst>
          </p:cNvPr>
          <p:cNvSpPr>
            <a:spLocks noGrp="1"/>
          </p:cNvSpPr>
          <p:nvPr/>
        </p:nvSpPr>
        <p:spPr>
          <a:xfrm>
            <a:off x="5086350" y="407670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071527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PostgreSQL-ready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8BE4E8-5844-44FE-BC04-43BEB263A8D9}"/>
              </a:ext>
            </a:extLst>
          </p:cNvPr>
          <p:cNvSpPr>
            <a:spLocks noGrp="1"/>
          </p:cNvSpPr>
          <p:nvPr/>
        </p:nvSpPr>
        <p:spPr>
          <a:xfrm>
            <a:off x="5086350" y="43529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52627A"/>
                </a:solidFill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psycopg2-binary dependency, media/static handling with WhiteNoise.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ADB7E16-3793-47C6-9CA7-FCA4A4054E65}"/>
              </a:ext>
            </a:extLst>
          </p:cNvPr>
          <p:cNvSpPr>
            <a:spLocks noGrp="1"/>
          </p:cNvSpPr>
          <p:nvPr/>
        </p:nvSpPr>
        <p:spPr>
          <a:xfrm>
            <a:off x="8286750" y="1924050"/>
            <a:ext cx="3200400" cy="3143250"/>
          </a:xfrm>
          <a:prstGeom prst="roundRect">
            <a:avLst>
              <a:gd name="adj" fmla="val 2424"/>
            </a:avLst>
          </a:prstGeom>
          <a:solidFill>
            <a:srgbClr val="FFFAF2"/>
          </a:solidFill>
          <a:ln w="9525">
            <a:solidFill>
              <a:srgbClr val="EAD8B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5F2465-5799-4993-AB80-7005AB0EE424}"/>
              </a:ext>
            </a:extLst>
          </p:cNvPr>
          <p:cNvSpPr>
            <a:spLocks noGrp="1"/>
          </p:cNvSpPr>
          <p:nvPr/>
        </p:nvSpPr>
        <p:spPr>
          <a:xfrm>
            <a:off x="8572500" y="22098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D97706"/>
                </a:solidFill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Runtime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FD2510-CCA9-4FAC-893E-E22D33AFE003}"/>
              </a:ext>
            </a:extLst>
          </p:cNvPr>
          <p:cNvSpPr>
            <a:spLocks noGrp="1"/>
          </p:cNvSpPr>
          <p:nvPr/>
        </p:nvSpPr>
        <p:spPr>
          <a:xfrm>
            <a:off x="8648700" y="28384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1A5DB1-6F26-4F15-80D1-DEE3A718ADC1}"/>
              </a:ext>
            </a:extLst>
          </p:cNvPr>
          <p:cNvSpPr>
            <a:spLocks noGrp="1"/>
          </p:cNvSpPr>
          <p:nvPr/>
        </p:nvSpPr>
        <p:spPr>
          <a:xfrm>
            <a:off x="8877300" y="274320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071527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Gunicorn and Docker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C30C18-6E80-4469-8411-5A57A1CC4751}"/>
              </a:ext>
            </a:extLst>
          </p:cNvPr>
          <p:cNvSpPr>
            <a:spLocks noGrp="1"/>
          </p:cNvSpPr>
          <p:nvPr/>
        </p:nvSpPr>
        <p:spPr>
          <a:xfrm>
            <a:off x="8877300" y="30194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52627A"/>
                </a:solidFill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Backend can run as a production WSGI service.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053A3A-C613-434F-8778-7C2A1FFAFD64}"/>
              </a:ext>
            </a:extLst>
          </p:cNvPr>
          <p:cNvSpPr>
            <a:spLocks noGrp="1"/>
          </p:cNvSpPr>
          <p:nvPr/>
        </p:nvSpPr>
        <p:spPr>
          <a:xfrm>
            <a:off x="8648700" y="350520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C37881-93D7-4B96-B935-E469B38636BF}"/>
              </a:ext>
            </a:extLst>
          </p:cNvPr>
          <p:cNvSpPr>
            <a:spLocks noGrp="1"/>
          </p:cNvSpPr>
          <p:nvPr/>
        </p:nvSpPr>
        <p:spPr>
          <a:xfrm>
            <a:off x="8877300" y="340995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071527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Nginx frontend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A0C4D8-7D0B-401A-AB4E-3B91419E3798}"/>
              </a:ext>
            </a:extLst>
          </p:cNvPr>
          <p:cNvSpPr>
            <a:spLocks noGrp="1"/>
          </p:cNvSpPr>
          <p:nvPr/>
        </p:nvSpPr>
        <p:spPr>
          <a:xfrm>
            <a:off x="8877300" y="368617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52627A"/>
                </a:solidFill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Frontend includes nginx config for static delivery.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B3F0CF-D634-459E-9BB4-C5AF68A413AC}"/>
              </a:ext>
            </a:extLst>
          </p:cNvPr>
          <p:cNvSpPr>
            <a:spLocks noGrp="1"/>
          </p:cNvSpPr>
          <p:nvPr/>
        </p:nvSpPr>
        <p:spPr>
          <a:xfrm>
            <a:off x="8648700" y="4171950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718BF60-8209-46CB-AB0C-EA4CF3B2383B}"/>
              </a:ext>
            </a:extLst>
          </p:cNvPr>
          <p:cNvSpPr>
            <a:spLocks noGrp="1"/>
          </p:cNvSpPr>
          <p:nvPr/>
        </p:nvSpPr>
        <p:spPr>
          <a:xfrm>
            <a:off x="8877300" y="4076700"/>
            <a:ext cx="2362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071527"/>
                </a:solidFill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CORS configured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3F0B2B-5D5A-4C35-9DA6-6F37D964A22A}"/>
              </a:ext>
            </a:extLst>
          </p:cNvPr>
          <p:cNvSpPr>
            <a:spLocks noGrp="1"/>
          </p:cNvSpPr>
          <p:nvPr/>
        </p:nvSpPr>
        <p:spPr>
          <a:xfrm>
            <a:off x="8877300" y="43529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52627A"/>
                </a:solidFill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Allowed origins include localhost and fastrack.sapotlokal.my.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F70477-8794-408B-9ED4-31126268CAB2}"/>
              </a:ext>
            </a:extLst>
          </p:cNvPr>
          <p:cNvSpPr>
            <a:spLocks noGrp="1"/>
          </p:cNvSpPr>
          <p:nvPr/>
        </p:nvSpPr>
        <p:spPr>
          <a:xfrm>
            <a:off x="819150" y="5410200"/>
            <a:ext cx="981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71527"/>
                </a:solidFill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Architecture pattern: React client -&gt; authenticated REST API -&gt; Django domain modules -&gt; database, media, and notification services.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88A3AF-93C8-4733-BFD4-8828680D6D38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FAB0CD3-6F28-49CA-A2B5-0BF73306D4B3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27A"/>
                </a:solidFill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DBKU Advertisement License Application System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4514AB6-E51D-4BAA-8BEB-4A65142D140B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52627A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59082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B6623257-D972-42C2-935F-A66E1D16AF24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06B49"/>
                </a:solidFill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06B4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SECURITY CONTROLS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B0E741-C9BC-4A57-9E79-E77FF7C8B2C6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847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71527"/>
                </a:solidFill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Rate limiting as backend traffic rules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E194D0-8D19-448D-90A5-F52A18A8603D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9D5E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3C6B61-D1BA-443F-8087-3DE1149E9194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71527"/>
                </a:solidFill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If a user, browser, or IP sends too many requests, Django temporarily blocks the request with 429 Too Many Requests.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16AD03-6507-448F-86B9-E728DE9C4CDD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4953000" cy="1390650"/>
          </a:xfrm>
          <a:prstGeom prst="roundRect">
            <a:avLst>
              <a:gd name="adj" fmla="val 5479"/>
            </a:avLst>
          </a:prstGeom>
          <a:solidFill>
            <a:srgbClr val="F7FBFF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8BC7A4-3AE8-45D2-859F-90F0F916FE30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76200" cy="1390650"/>
          </a:xfrm>
          <a:prstGeom prst="rect">
            <a:avLst/>
          </a:prstGeom>
          <a:solidFill>
            <a:srgbClr val="006B49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4AEC07-A0F3-41B0-B641-D40A86B9A035}"/>
              </a:ext>
            </a:extLst>
          </p:cNvPr>
          <p:cNvSpPr>
            <a:spLocks noGrp="1"/>
          </p:cNvSpPr>
          <p:nvPr/>
        </p:nvSpPr>
        <p:spPr>
          <a:xfrm>
            <a:off x="990600" y="2419350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006B49"/>
                </a:solidFill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006B4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Normal API traffic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E28F42-31B1-4C00-B501-0AD4F80E5854}"/>
              </a:ext>
            </a:extLst>
          </p:cNvPr>
          <p:cNvSpPr>
            <a:spLocks noGrp="1"/>
          </p:cNvSpPr>
          <p:nvPr/>
        </p:nvSpPr>
        <p:spPr>
          <a:xfrm>
            <a:off x="990600" y="27622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1527"/>
                </a:solidFill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Anonymous API: 120/min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6A605D-8E60-4372-8B47-44FC493F3DEA}"/>
              </a:ext>
            </a:extLst>
          </p:cNvPr>
          <p:cNvSpPr>
            <a:spLocks noGrp="1"/>
          </p:cNvSpPr>
          <p:nvPr/>
        </p:nvSpPr>
        <p:spPr>
          <a:xfrm>
            <a:off x="2800350" y="27622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27A"/>
                </a:solidFill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Public pages, register, and login-page API calls before the user signs in.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FCEBC6-5898-4FA8-B782-E858C79EFDDF}"/>
              </a:ext>
            </a:extLst>
          </p:cNvPr>
          <p:cNvSpPr>
            <a:spLocks noGrp="1"/>
          </p:cNvSpPr>
          <p:nvPr/>
        </p:nvSpPr>
        <p:spPr>
          <a:xfrm>
            <a:off x="990600" y="30289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1527"/>
                </a:solidFill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Logged-in API: 1000/min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B9A4ED-988F-4434-A4B1-622FA3ED867C}"/>
              </a:ext>
            </a:extLst>
          </p:cNvPr>
          <p:cNvSpPr>
            <a:spLocks noGrp="1"/>
          </p:cNvSpPr>
          <p:nvPr/>
        </p:nvSpPr>
        <p:spPr>
          <a:xfrm>
            <a:off x="2800350" y="30289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27A"/>
                </a:solidFill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High enough for normal staff/applicant work, but still stops loops or spam clicks.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46ACC0-D8C3-42A8-82AE-C326CFD82887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4953000" cy="1390650"/>
          </a:xfrm>
          <a:prstGeom prst="roundRect">
            <a:avLst>
              <a:gd name="adj" fmla="val 5479"/>
            </a:avLst>
          </a:prstGeom>
          <a:solidFill>
            <a:srgbClr val="FFFAF2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E61219-361A-4DA7-9548-89EF93E5D21D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76200" cy="13906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E4B356-8CF6-4A99-A029-F58E0CFC0C8A}"/>
              </a:ext>
            </a:extLst>
          </p:cNvPr>
          <p:cNvSpPr>
            <a:spLocks noGrp="1"/>
          </p:cNvSpPr>
          <p:nvPr/>
        </p:nvSpPr>
        <p:spPr>
          <a:xfrm>
            <a:off x="6553200" y="2419350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D97706"/>
                </a:solidFill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Login protection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D7768E-9800-4B83-B517-214375AEFF78}"/>
              </a:ext>
            </a:extLst>
          </p:cNvPr>
          <p:cNvSpPr>
            <a:spLocks noGrp="1"/>
          </p:cNvSpPr>
          <p:nvPr/>
        </p:nvSpPr>
        <p:spPr>
          <a:xfrm>
            <a:off x="6553200" y="27622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1527"/>
                </a:solidFill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Login per IP: 120/min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4B8461-6080-4712-A8CE-D892DA4D991A}"/>
              </a:ext>
            </a:extLst>
          </p:cNvPr>
          <p:cNvSpPr>
            <a:spLocks noGrp="1"/>
          </p:cNvSpPr>
          <p:nvPr/>
        </p:nvSpPr>
        <p:spPr>
          <a:xfrm>
            <a:off x="8362950" y="27622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27A"/>
                </a:solidFill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Blocks obvious login flooding from one internet address.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FECF61-350F-4CD2-9281-521D26B1EFE0}"/>
              </a:ext>
            </a:extLst>
          </p:cNvPr>
          <p:cNvSpPr>
            <a:spLocks noGrp="1"/>
          </p:cNvSpPr>
          <p:nvPr/>
        </p:nvSpPr>
        <p:spPr>
          <a:xfrm>
            <a:off x="6553200" y="30289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1527"/>
                </a:solidFill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Login username+IP: 10/min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0C6AE4-EA35-459F-93E6-D27712E8C215}"/>
              </a:ext>
            </a:extLst>
          </p:cNvPr>
          <p:cNvSpPr>
            <a:spLocks noGrp="1"/>
          </p:cNvSpPr>
          <p:nvPr/>
        </p:nvSpPr>
        <p:spPr>
          <a:xfrm>
            <a:off x="8362950" y="30289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27A"/>
                </a:solidFill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Example: someone keeps guessing the password for ptikl from the same computer.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32510BC-103D-49EE-9BF4-5D8F1113E2BD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4953000" cy="1581150"/>
          </a:xfrm>
          <a:prstGeom prst="roundRect">
            <a:avLst>
              <a:gd name="adj" fmla="val 4819"/>
            </a:avLst>
          </a:prstGeom>
          <a:solidFill>
            <a:srgbClr val="F7FBFF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819058-71A1-4A6F-BE7D-69B13CB0C446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76200" cy="1581150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7367AB-6092-4282-AC6B-DDE1813594DA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F5FBF"/>
                </a:solidFill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F5FB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Account recovery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CCE51A-AFD0-403A-8A8F-8A721A9F0229}"/>
              </a:ext>
            </a:extLst>
          </p:cNvPr>
          <p:cNvSpPr>
            <a:spLocks noGrp="1"/>
          </p:cNvSpPr>
          <p:nvPr/>
        </p:nvSpPr>
        <p:spPr>
          <a:xfrm>
            <a:off x="990600" y="44386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1527"/>
                </a:solidFill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Register: 20/hour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8BF457-AAF4-42C7-A79B-263F39DB1D7E}"/>
              </a:ext>
            </a:extLst>
          </p:cNvPr>
          <p:cNvSpPr>
            <a:spLocks noGrp="1"/>
          </p:cNvSpPr>
          <p:nvPr/>
        </p:nvSpPr>
        <p:spPr>
          <a:xfrm>
            <a:off x="2800350" y="44386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27A"/>
                </a:solidFill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Helps stop fake account creation from one IP.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AAD824-6018-4AF9-A0F7-894FFE566C38}"/>
              </a:ext>
            </a:extLst>
          </p:cNvPr>
          <p:cNvSpPr>
            <a:spLocks noGrp="1"/>
          </p:cNvSpPr>
          <p:nvPr/>
        </p:nvSpPr>
        <p:spPr>
          <a:xfrm>
            <a:off x="990600" y="468630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1527"/>
                </a:solidFill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Reset request: 5/hour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A1CE7C-50B1-4572-ABB6-49C2645B4CA8}"/>
              </a:ext>
            </a:extLst>
          </p:cNvPr>
          <p:cNvSpPr>
            <a:spLocks noGrp="1"/>
          </p:cNvSpPr>
          <p:nvPr/>
        </p:nvSpPr>
        <p:spPr>
          <a:xfrm>
            <a:off x="2800350" y="468630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27A"/>
                </a:solidFill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Stops email or WhatsApp OTP spam.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5005CF-F59B-4E5A-8D66-AD9AC4E11F6B}"/>
              </a:ext>
            </a:extLst>
          </p:cNvPr>
          <p:cNvSpPr>
            <a:spLocks noGrp="1"/>
          </p:cNvSpPr>
          <p:nvPr/>
        </p:nvSpPr>
        <p:spPr>
          <a:xfrm>
            <a:off x="990600" y="49339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1527"/>
                </a:solidFill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OTP verify: 30/hour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73E136-0B10-478F-8E63-EAF141AF050D}"/>
              </a:ext>
            </a:extLst>
          </p:cNvPr>
          <p:cNvSpPr>
            <a:spLocks noGrp="1"/>
          </p:cNvSpPr>
          <p:nvPr/>
        </p:nvSpPr>
        <p:spPr>
          <a:xfrm>
            <a:off x="2800350" y="49339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27A"/>
                </a:solidFill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Limits repeated OTP guessing attempts.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149F01-05B1-4599-8F67-5A1897BBAAEF}"/>
              </a:ext>
            </a:extLst>
          </p:cNvPr>
          <p:cNvSpPr>
            <a:spLocks noGrp="1"/>
          </p:cNvSpPr>
          <p:nvPr/>
        </p:nvSpPr>
        <p:spPr>
          <a:xfrm>
            <a:off x="990600" y="518160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1527"/>
                </a:solidFill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Reset confirm: 10/hour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BAC88E-444E-43CF-A0D6-CD9CA9F3B154}"/>
              </a:ext>
            </a:extLst>
          </p:cNvPr>
          <p:cNvSpPr>
            <a:spLocks noGrp="1"/>
          </p:cNvSpPr>
          <p:nvPr/>
        </p:nvSpPr>
        <p:spPr>
          <a:xfrm>
            <a:off x="2800350" y="518160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27A"/>
                </a:solidFill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Limits final password changes.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2AD5786-BA49-4154-86B0-71243A92503F}"/>
              </a:ext>
            </a:extLst>
          </p:cNvPr>
          <p:cNvSpPr>
            <a:spLocks noGrp="1"/>
          </p:cNvSpPr>
          <p:nvPr/>
        </p:nvSpPr>
        <p:spPr>
          <a:xfrm>
            <a:off x="6286500" y="3943350"/>
            <a:ext cx="4953000" cy="1390650"/>
          </a:xfrm>
          <a:prstGeom prst="roundRect">
            <a:avLst>
              <a:gd name="adj" fmla="val 5479"/>
            </a:avLst>
          </a:prstGeom>
          <a:solidFill>
            <a:srgbClr val="FFFAF2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4FFAA5-4B5E-4082-BB89-8A0B194140EB}"/>
              </a:ext>
            </a:extLst>
          </p:cNvPr>
          <p:cNvSpPr>
            <a:spLocks noGrp="1"/>
          </p:cNvSpPr>
          <p:nvPr/>
        </p:nvSpPr>
        <p:spPr>
          <a:xfrm>
            <a:off x="6286500" y="3943350"/>
            <a:ext cx="76200" cy="1390650"/>
          </a:xfrm>
          <a:prstGeom prst="rect">
            <a:avLst/>
          </a:prstGeom>
          <a:solidFill>
            <a:srgbClr val="8B2BD5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3BFF4C-07C3-4CC4-BAD1-CE04958BBAED}"/>
              </a:ext>
            </a:extLst>
          </p:cNvPr>
          <p:cNvSpPr>
            <a:spLocks noGrp="1"/>
          </p:cNvSpPr>
          <p:nvPr/>
        </p:nvSpPr>
        <p:spPr>
          <a:xfrm>
            <a:off x="6553200" y="4095750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8B2BD5"/>
                </a:solidFill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8B2BD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File upload protection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C5AAB5-6F29-4FAA-B486-30364BC6BEB8}"/>
              </a:ext>
            </a:extLst>
          </p:cNvPr>
          <p:cNvSpPr>
            <a:spLocks noGrp="1"/>
          </p:cNvSpPr>
          <p:nvPr/>
        </p:nvSpPr>
        <p:spPr>
          <a:xfrm>
            <a:off x="6553200" y="44386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1527"/>
                </a:solidFill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Upload: 60/hour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F76397-73A8-4615-B4D6-FFFC77CDB50D}"/>
              </a:ext>
            </a:extLst>
          </p:cNvPr>
          <p:cNvSpPr>
            <a:spLocks noGrp="1"/>
          </p:cNvSpPr>
          <p:nvPr/>
        </p:nvSpPr>
        <p:spPr>
          <a:xfrm>
            <a:off x="8362950" y="44386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27A"/>
                </a:solidFill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 logged-in user can upload files up to 60 times per hour.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398D32-A40F-405D-9EAB-C021265B063D}"/>
              </a:ext>
            </a:extLst>
          </p:cNvPr>
          <p:cNvSpPr>
            <a:spLocks noGrp="1"/>
          </p:cNvSpPr>
          <p:nvPr/>
        </p:nvSpPr>
        <p:spPr>
          <a:xfrm>
            <a:off x="6553200" y="470535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1">
                <a:solidFill>
                  <a:srgbClr val="071527"/>
                </a:solidFill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071527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6C4877-7F8B-450E-A51F-3E3567360E6F}"/>
              </a:ext>
            </a:extLst>
          </p:cNvPr>
          <p:cNvSpPr>
            <a:spLocks noGrp="1"/>
          </p:cNvSpPr>
          <p:nvPr/>
        </p:nvSpPr>
        <p:spPr>
          <a:xfrm>
            <a:off x="8362950" y="47053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27A"/>
                </a:solidFill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Protects storage and server resources from repeated upload spam.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112C5E7-886C-4439-9D64-48F25D67117A}"/>
              </a:ext>
            </a:extLst>
          </p:cNvPr>
          <p:cNvSpPr>
            <a:spLocks noGrp="1"/>
          </p:cNvSpPr>
          <p:nvPr/>
        </p:nvSpPr>
        <p:spPr>
          <a:xfrm>
            <a:off x="838200" y="5657850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B49"/>
                </a:solidFill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B4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For ALiS, the defaults are balanced: strict on login/reset, generous for normal logged-in usage.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88D21D1-76AA-4A4A-93D5-6507E0EEACC2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BD144D-189E-42EC-AC46-A3D84E5C2CAE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52627A"/>
                </a:solidFill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DBKU Advertisement License Application System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D10C9A5-A956-4A8A-809E-DA5E01BE3A71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52627A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5262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30164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F400EB-2E86-C40A-51B7-81D0226B9215}"/>
              </a:ext>
            </a:extLst>
          </p:cNvPr>
          <p:cNvSpPr txBox="1"/>
          <p:nvPr/>
        </p:nvSpPr>
        <p:spPr>
          <a:xfrm>
            <a:off x="370840" y="281984"/>
            <a:ext cx="11450320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These are backend “traffic rules”. If a user/browser/IP sends too many requests, Django blocks temporarily with `429 Too Many Requests`.</a:t>
            </a:r>
          </a:p>
          <a:p>
            <a:endParaRPr lang="en-US" sz="1300" dirty="0"/>
          </a:p>
          <a:p>
            <a:r>
              <a:rPr lang="en-US" sz="1300" dirty="0">
                <a:highlight>
                  <a:srgbClr val="FFFF00"/>
                </a:highlight>
              </a:rPr>
              <a:t>`Normal anonymous API: 120/min`  </a:t>
            </a:r>
          </a:p>
          <a:p>
            <a:r>
              <a:rPr lang="en-US" sz="1300" dirty="0"/>
              <a:t>For users not logged in. Example: public pages, register, login page API calls. One IP can make up to 120 anonymous requests per minute.</a:t>
            </a:r>
          </a:p>
          <a:p>
            <a:endParaRPr lang="en-US" sz="1300" dirty="0"/>
          </a:p>
          <a:p>
            <a:r>
              <a:rPr lang="en-US" sz="1300" dirty="0">
                <a:highlight>
                  <a:srgbClr val="FFFF00"/>
                </a:highlight>
              </a:rPr>
              <a:t>`Logged-in user API: 1000/min`  </a:t>
            </a:r>
          </a:p>
          <a:p>
            <a:r>
              <a:rPr lang="en-US" sz="1300" dirty="0"/>
              <a:t>For users already logged in. This is high so normal staff/applicant work will not be disturbed, but it still protects the backend from accidental loops or spam clicks.</a:t>
            </a:r>
          </a:p>
          <a:p>
            <a:endParaRPr lang="en-US" sz="1300" dirty="0"/>
          </a:p>
          <a:p>
            <a:r>
              <a:rPr lang="en-US" sz="1300" dirty="0">
                <a:highlight>
                  <a:srgbClr val="FFFF00"/>
                </a:highlight>
              </a:rPr>
              <a:t>`Login per IP: 120/min`  </a:t>
            </a:r>
          </a:p>
          <a:p>
            <a:r>
              <a:rPr lang="en-US" sz="1300" dirty="0"/>
              <a:t>One internet address can only try login 120 times per minute total. This blocks obvious login flooding from one place.</a:t>
            </a:r>
          </a:p>
          <a:p>
            <a:endParaRPr lang="en-US" sz="1300" dirty="0"/>
          </a:p>
          <a:p>
            <a:r>
              <a:rPr lang="en-US" sz="1300" dirty="0">
                <a:highlight>
                  <a:srgbClr val="FFFF00"/>
                </a:highlight>
              </a:rPr>
              <a:t>`Login per </a:t>
            </a:r>
            <a:r>
              <a:rPr lang="en-US" sz="1300" dirty="0" err="1">
                <a:highlight>
                  <a:srgbClr val="FFFF00"/>
                </a:highlight>
              </a:rPr>
              <a:t>username+IP</a:t>
            </a:r>
            <a:r>
              <a:rPr lang="en-US" sz="1300" dirty="0">
                <a:highlight>
                  <a:srgbClr val="FFFF00"/>
                </a:highlight>
              </a:rPr>
              <a:t>: 10/min`  </a:t>
            </a:r>
          </a:p>
          <a:p>
            <a:r>
              <a:rPr lang="en-US" sz="1300" dirty="0"/>
              <a:t>Same username from same IP can only try login 10 times per minute. This is more important for brute-force protection. Example: someone keeps guessing password for `</a:t>
            </a:r>
            <a:r>
              <a:rPr lang="en-US" sz="1300" dirty="0" err="1"/>
              <a:t>ptikl</a:t>
            </a:r>
            <a:r>
              <a:rPr lang="en-US" sz="1300" dirty="0"/>
              <a:t>` from the same computer.</a:t>
            </a:r>
          </a:p>
          <a:p>
            <a:endParaRPr lang="en-US" sz="1300" dirty="0"/>
          </a:p>
          <a:p>
            <a:r>
              <a:rPr lang="en-US" sz="1300" dirty="0">
                <a:highlight>
                  <a:srgbClr val="FFFF00"/>
                </a:highlight>
              </a:rPr>
              <a:t>`Register: 20/hour`  </a:t>
            </a:r>
          </a:p>
          <a:p>
            <a:r>
              <a:rPr lang="en-US" sz="1300" dirty="0"/>
              <a:t>One IP can only create/register 20 accounts per hour. Helps stop fake account spam.</a:t>
            </a:r>
          </a:p>
          <a:p>
            <a:endParaRPr lang="en-US" sz="1300" dirty="0"/>
          </a:p>
          <a:p>
            <a:r>
              <a:rPr lang="en-US" sz="1300" dirty="0">
                <a:highlight>
                  <a:srgbClr val="FFFF00"/>
                </a:highlight>
              </a:rPr>
              <a:t>`Password reset request: 5/hour`  </a:t>
            </a:r>
          </a:p>
          <a:p>
            <a:r>
              <a:rPr lang="en-US" sz="1300" dirty="0"/>
              <a:t>One IP can only request reset OTP 5 times per hour. Helps stop people spamming email/WhatsApp OTP.</a:t>
            </a:r>
          </a:p>
          <a:p>
            <a:endParaRPr lang="en-US" sz="1300" dirty="0"/>
          </a:p>
          <a:p>
            <a:r>
              <a:rPr lang="en-US" sz="1300" dirty="0">
                <a:highlight>
                  <a:srgbClr val="FFFF00"/>
                </a:highlight>
              </a:rPr>
              <a:t>`Password reset verify: 30/hour`  </a:t>
            </a:r>
          </a:p>
          <a:p>
            <a:r>
              <a:rPr lang="en-US" sz="1300" dirty="0"/>
              <a:t>One IP can only try OTP verification 30 times per hour. Helps stop OTP guessing.</a:t>
            </a:r>
          </a:p>
          <a:p>
            <a:endParaRPr lang="en-US" sz="1300" dirty="0"/>
          </a:p>
          <a:p>
            <a:r>
              <a:rPr lang="en-US" sz="1300" dirty="0">
                <a:highlight>
                  <a:srgbClr val="FFFF00"/>
                </a:highlight>
              </a:rPr>
              <a:t>`Password reset confirm: 10/hour`  </a:t>
            </a:r>
          </a:p>
          <a:p>
            <a:r>
              <a:rPr lang="en-US" sz="1300" dirty="0"/>
              <a:t>One IP can only submit new password confirmation 10 times per hour.</a:t>
            </a:r>
          </a:p>
          <a:p>
            <a:endParaRPr lang="en-US" sz="1300" dirty="0"/>
          </a:p>
          <a:p>
            <a:r>
              <a:rPr lang="en-US" sz="1300" dirty="0">
                <a:highlight>
                  <a:srgbClr val="FFFF00"/>
                </a:highlight>
              </a:rPr>
              <a:t>`Upload: 60/hour`  </a:t>
            </a:r>
          </a:p>
          <a:p>
            <a:r>
              <a:rPr lang="en-US" sz="1300" dirty="0"/>
              <a:t>A logged-in user can upload files up to 60 times per hour. This protects storage/server from repeated upload spam.</a:t>
            </a:r>
          </a:p>
          <a:p>
            <a:endParaRPr lang="en-US" sz="1300" dirty="0"/>
          </a:p>
          <a:p>
            <a:r>
              <a:rPr lang="en-US" sz="1300" dirty="0"/>
              <a:t>For </a:t>
            </a:r>
            <a:r>
              <a:rPr lang="en-US" sz="1300" dirty="0" err="1"/>
              <a:t>ALiS</a:t>
            </a:r>
            <a:r>
              <a:rPr lang="en-US" sz="1300" dirty="0"/>
              <a:t>, these are balanced defaults: strict on login/reset, generous for normal logged-in usage.</a:t>
            </a:r>
            <a:endParaRPr lang="en-MY" sz="1300" dirty="0"/>
          </a:p>
        </p:txBody>
      </p:sp>
    </p:spTree>
    <p:extLst>
      <p:ext uri="{BB962C8B-B14F-4D97-AF65-F5344CB8AC3E}">
        <p14:creationId xmlns:p14="http://schemas.microsoft.com/office/powerpoint/2010/main" val="1283854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40C61-7CD2-AC89-FD7E-FEB73F0E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7A9CF2-8EDE-2A09-3202-F32C09EA2B95}"/>
              </a:ext>
            </a:extLst>
          </p:cNvPr>
          <p:cNvSpPr txBox="1"/>
          <p:nvPr/>
        </p:nvSpPr>
        <p:spPr>
          <a:xfrm>
            <a:off x="1837109" y="2767280"/>
            <a:ext cx="888929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8000" dirty="0"/>
              <a:t>Demo Of The System</a:t>
            </a:r>
          </a:p>
        </p:txBody>
      </p:sp>
    </p:spTree>
    <p:extLst>
      <p:ext uri="{BB962C8B-B14F-4D97-AF65-F5344CB8AC3E}">
        <p14:creationId xmlns:p14="http://schemas.microsoft.com/office/powerpoint/2010/main" val="3560100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19F2A-9707-A0B3-5CA3-6C3CE7380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1FCBFB7-EF47-ED3F-5415-7E7DD0CA7E34}"/>
              </a:ext>
            </a:extLst>
          </p:cNvPr>
          <p:cNvSpPr txBox="1"/>
          <p:nvPr/>
        </p:nvSpPr>
        <p:spPr>
          <a:xfrm>
            <a:off x="2955685" y="2644170"/>
            <a:ext cx="62806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9600" dirty="0"/>
              <a:t>LOGIN PAGE</a:t>
            </a:r>
          </a:p>
        </p:txBody>
      </p:sp>
    </p:spTree>
    <p:extLst>
      <p:ext uri="{BB962C8B-B14F-4D97-AF65-F5344CB8AC3E}">
        <p14:creationId xmlns:p14="http://schemas.microsoft.com/office/powerpoint/2010/main" val="678990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99399D-92F8-1070-D7C3-FB4A098FE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02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DFAE2-ECCD-AB5F-5E29-E1FEBB140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A7A10BF-736E-D754-2903-BAA611CF71E3}"/>
              </a:ext>
            </a:extLst>
          </p:cNvPr>
          <p:cNvSpPr txBox="1"/>
          <p:nvPr/>
        </p:nvSpPr>
        <p:spPr>
          <a:xfrm>
            <a:off x="196949" y="2151728"/>
            <a:ext cx="1179810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8000" dirty="0"/>
              <a:t>Frequently Asked Questions</a:t>
            </a:r>
          </a:p>
          <a:p>
            <a:pPr algn="ctr"/>
            <a:r>
              <a:rPr lang="en-MY" sz="8000" dirty="0"/>
              <a:t>(FAQ)</a:t>
            </a:r>
          </a:p>
        </p:txBody>
      </p:sp>
    </p:spTree>
    <p:extLst>
      <p:ext uri="{BB962C8B-B14F-4D97-AF65-F5344CB8AC3E}">
        <p14:creationId xmlns:p14="http://schemas.microsoft.com/office/powerpoint/2010/main" val="1442648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15DCB2-A590-38C6-B160-8B4135DAE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6" y="0"/>
            <a:ext cx="120698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690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BF381-2A55-DF12-61A6-7C9329493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71405F1-7A10-7810-D6B6-E80C0A1C4C5D}"/>
              </a:ext>
            </a:extLst>
          </p:cNvPr>
          <p:cNvSpPr txBox="1"/>
          <p:nvPr/>
        </p:nvSpPr>
        <p:spPr>
          <a:xfrm>
            <a:off x="1695372" y="2151728"/>
            <a:ext cx="880125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8000" dirty="0"/>
              <a:t>Account Registration</a:t>
            </a:r>
          </a:p>
          <a:p>
            <a:pPr algn="ctr"/>
            <a:r>
              <a:rPr lang="en-MY" sz="8000" dirty="0"/>
              <a:t>(Applicant)</a:t>
            </a:r>
          </a:p>
        </p:txBody>
      </p:sp>
    </p:spTree>
    <p:extLst>
      <p:ext uri="{BB962C8B-B14F-4D97-AF65-F5344CB8AC3E}">
        <p14:creationId xmlns:p14="http://schemas.microsoft.com/office/powerpoint/2010/main" val="240237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726AA-F7BE-E315-8BDF-540BFA00C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B01900-D0FA-150C-BDB5-C93759912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6" y="0"/>
            <a:ext cx="120698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47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3C46-6F3B-9EBF-9E66-E9DBC1E7D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0AF864-24AF-9B6B-7CF2-2F21B9D6F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0" y="0"/>
            <a:ext cx="120507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93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65565-2382-886B-86A8-65525CA66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AE806E-798C-689B-DFEE-B380B6121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472" y="1132976"/>
            <a:ext cx="5235445" cy="1983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08CDB2-7DB2-C53C-0743-DE3819D03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547" y="3741066"/>
            <a:ext cx="5565297" cy="30213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Google ditches signature Gmail envelope in revamped logo">
            <a:extLst>
              <a:ext uri="{FF2B5EF4-FFF2-40B4-BE49-F238E27FC236}">
                <a16:creationId xmlns:a16="http://schemas.microsoft.com/office/drawing/2014/main" id="{69924C5C-8704-693A-887C-C7D75D755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84" y="4605899"/>
            <a:ext cx="2297351" cy="129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WhatsApp Logo Vector in Illustrator, SVG, JPG, EPS, PNG - Download |  Template.net">
            <a:extLst>
              <a:ext uri="{FF2B5EF4-FFF2-40B4-BE49-F238E27FC236}">
                <a16:creationId xmlns:a16="http://schemas.microsoft.com/office/drawing/2014/main" id="{AF26D906-11A9-0974-C0A1-E647EEA905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2" t="14654" r="13004" b="13817"/>
          <a:stretch>
            <a:fillRect/>
          </a:stretch>
        </p:blipFill>
        <p:spPr bwMode="auto">
          <a:xfrm>
            <a:off x="789435" y="1338785"/>
            <a:ext cx="1768851" cy="1661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43DD13-E255-95D4-16A0-669F60FF546E}"/>
              </a:ext>
            </a:extLst>
          </p:cNvPr>
          <p:cNvSpPr txBox="1"/>
          <p:nvPr/>
        </p:nvSpPr>
        <p:spPr>
          <a:xfrm>
            <a:off x="3554471" y="-83973"/>
            <a:ext cx="50830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6600" dirty="0"/>
              <a:t>Notification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28611322-ECAE-D9FC-8169-8C68DBB67D75}"/>
              </a:ext>
            </a:extLst>
          </p:cNvPr>
          <p:cNvSpPr/>
          <p:nvPr/>
        </p:nvSpPr>
        <p:spPr>
          <a:xfrm rot="16200000">
            <a:off x="4088155" y="4600241"/>
            <a:ext cx="558799" cy="1302976"/>
          </a:xfrm>
          <a:prstGeom prst="downArrow">
            <a:avLst>
              <a:gd name="adj1" fmla="val 35454"/>
              <a:gd name="adj2" fmla="val 7363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D6889DA0-C386-6111-3D73-98ACA9D169E1}"/>
              </a:ext>
            </a:extLst>
          </p:cNvPr>
          <p:cNvSpPr/>
          <p:nvPr/>
        </p:nvSpPr>
        <p:spPr>
          <a:xfrm rot="16200000">
            <a:off x="4088154" y="1517999"/>
            <a:ext cx="558799" cy="1302976"/>
          </a:xfrm>
          <a:prstGeom prst="downArrow">
            <a:avLst>
              <a:gd name="adj1" fmla="val 35454"/>
              <a:gd name="adj2" fmla="val 7363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82712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D4B82-7825-CC4E-01D8-14089610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EB79726-FDA5-C350-C209-96776418E124}"/>
              </a:ext>
            </a:extLst>
          </p:cNvPr>
          <p:cNvSpPr txBox="1"/>
          <p:nvPr/>
        </p:nvSpPr>
        <p:spPr>
          <a:xfrm>
            <a:off x="2282873" y="2767281"/>
            <a:ext cx="762625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8000" dirty="0"/>
              <a:t>Account Recovery</a:t>
            </a:r>
          </a:p>
        </p:txBody>
      </p:sp>
    </p:spTree>
    <p:extLst>
      <p:ext uri="{BB962C8B-B14F-4D97-AF65-F5344CB8AC3E}">
        <p14:creationId xmlns:p14="http://schemas.microsoft.com/office/powerpoint/2010/main" val="3509056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F227-049B-3B69-D521-B32EDC55A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6B885B-F96C-A2A6-74D4-3B2A842F0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668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4B373-70DA-99EB-9D86-4030D97A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B6E990-1616-DFD5-E13B-6745B9B0B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766" y="3039011"/>
            <a:ext cx="6963747" cy="1409897"/>
          </a:xfrm>
          <a:prstGeom prst="rect">
            <a:avLst/>
          </a:prstGeom>
        </p:spPr>
      </p:pic>
      <p:pic>
        <p:nvPicPr>
          <p:cNvPr id="4" name="Picture 12" descr="WhatsApp Logo Vector in Illustrator, SVG, JPG, EPS, PNG - Download |  Template.net">
            <a:extLst>
              <a:ext uri="{FF2B5EF4-FFF2-40B4-BE49-F238E27FC236}">
                <a16:creationId xmlns:a16="http://schemas.microsoft.com/office/drawing/2014/main" id="{39DA9D6C-F3E0-31AA-3002-C707A6D380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2" t="14654" r="13004" b="13817"/>
          <a:stretch>
            <a:fillRect/>
          </a:stretch>
        </p:blipFill>
        <p:spPr bwMode="auto">
          <a:xfrm>
            <a:off x="789435" y="2913260"/>
            <a:ext cx="1768851" cy="1661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0C0148B3-7ECE-AD19-7A2B-7D8B0BF87865}"/>
              </a:ext>
            </a:extLst>
          </p:cNvPr>
          <p:cNvSpPr/>
          <p:nvPr/>
        </p:nvSpPr>
        <p:spPr>
          <a:xfrm rot="16200000">
            <a:off x="3470127" y="3092471"/>
            <a:ext cx="558799" cy="1302976"/>
          </a:xfrm>
          <a:prstGeom prst="downArrow">
            <a:avLst>
              <a:gd name="adj1" fmla="val 35454"/>
              <a:gd name="adj2" fmla="val 7363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111807-27CC-DB35-D66C-97CA4B0D6C6E}"/>
              </a:ext>
            </a:extLst>
          </p:cNvPr>
          <p:cNvSpPr txBox="1"/>
          <p:nvPr/>
        </p:nvSpPr>
        <p:spPr>
          <a:xfrm>
            <a:off x="975360" y="457200"/>
            <a:ext cx="102412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800" dirty="0"/>
              <a:t>One-Time Password (OTP)</a:t>
            </a:r>
          </a:p>
          <a:p>
            <a:pPr algn="ctr"/>
            <a:r>
              <a:rPr lang="en-MY" sz="4800" dirty="0"/>
              <a:t>via WhatsApp/Email</a:t>
            </a:r>
          </a:p>
        </p:txBody>
      </p:sp>
    </p:spTree>
    <p:extLst>
      <p:ext uri="{BB962C8B-B14F-4D97-AF65-F5344CB8AC3E}">
        <p14:creationId xmlns:p14="http://schemas.microsoft.com/office/powerpoint/2010/main" val="2736040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F4690-3466-52CD-5A33-83AEE7B96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08B652-0A96-A268-6C4E-3B8831ABC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48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1E8AC-A1D3-C398-3A6E-27E534778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A69914-0D83-4A10-A947-DAB1A49A5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30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E2FE0-044B-544D-FA00-0E4860269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6BA9540-1088-6AB3-576B-50773A6CB0F9}"/>
              </a:ext>
            </a:extLst>
          </p:cNvPr>
          <p:cNvSpPr txBox="1"/>
          <p:nvPr/>
        </p:nvSpPr>
        <p:spPr>
          <a:xfrm>
            <a:off x="1533340" y="2151727"/>
            <a:ext cx="912531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Super Admin</a:t>
            </a:r>
          </a:p>
          <a:p>
            <a:pPr algn="ctr"/>
            <a:r>
              <a:rPr lang="en-MY" sz="8000" dirty="0"/>
              <a:t>(Manage All Account)</a:t>
            </a:r>
          </a:p>
        </p:txBody>
      </p:sp>
    </p:spTree>
    <p:extLst>
      <p:ext uri="{BB962C8B-B14F-4D97-AF65-F5344CB8AC3E}">
        <p14:creationId xmlns:p14="http://schemas.microsoft.com/office/powerpoint/2010/main" val="3253566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84C6D-ED22-A711-E77D-B3D4832B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751C08-670E-8421-4841-F79EBC5BD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2" y="0"/>
            <a:ext cx="120571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947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6266-D1BF-C14F-662C-B7F94C005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BE58A0-41B9-F95B-A150-AB1A2521D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833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229C6-659E-61B4-BE58-2AE5BAD0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1BC2A1-4B86-7E96-477C-76C8B85A4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67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24E91-5106-572A-E1A8-6F23CD339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35123AF-1CF0-AF5B-526E-F45305F591AF}"/>
              </a:ext>
            </a:extLst>
          </p:cNvPr>
          <p:cNvSpPr txBox="1"/>
          <p:nvPr/>
        </p:nvSpPr>
        <p:spPr>
          <a:xfrm>
            <a:off x="1017173" y="2151727"/>
            <a:ext cx="1015765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Account Registration</a:t>
            </a:r>
          </a:p>
          <a:p>
            <a:pPr algn="ctr"/>
            <a:r>
              <a:rPr lang="en-MY" sz="8000" dirty="0"/>
              <a:t>(Internal DBKU/MPHLG)</a:t>
            </a:r>
          </a:p>
        </p:txBody>
      </p:sp>
    </p:spTree>
    <p:extLst>
      <p:ext uri="{BB962C8B-B14F-4D97-AF65-F5344CB8AC3E}">
        <p14:creationId xmlns:p14="http://schemas.microsoft.com/office/powerpoint/2010/main" val="2828492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E75D2-6A93-3406-BBC1-04F3B8742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C59FDC-223E-B7FF-20D5-2E0D73B66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7594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61002-ED0E-DE4B-4E19-D997F06C8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B014E-17E6-2E95-1BC2-CF0561D4F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4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39826-0FDA-6AEC-EAAD-5BA63B3C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42BADF-26F1-0291-AA8B-4E651621A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068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9F9F1-C2AB-D3F6-6C46-928935B49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BB0971-F0DA-8FED-266A-93F8C40E3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55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60AAF-883C-300A-DEC6-EF194BEC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B7745F-242F-966D-D732-D6DD7C4A2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634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7B79-2CE8-D03B-D457-228A64E3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8E75BA-EF1A-6E9B-85D4-B707F3023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59"/>
            <a:ext cx="12192000" cy="684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945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FE88F-79CC-E5D5-C6F0-A3FB2EC49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3C0B32-F21C-E5F5-675A-2A970D4CE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" y="0"/>
            <a:ext cx="121778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010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71671-A1C4-C04F-E2BE-4E35D587A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14C041-BB73-9C49-9565-76E8315AD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0422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9F2FE-0B2B-6C90-FCDE-25B6D7D50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356EFB6-EFCF-13AF-C1AD-9E973F011B02}"/>
              </a:ext>
            </a:extLst>
          </p:cNvPr>
          <p:cNvSpPr txBox="1"/>
          <p:nvPr/>
        </p:nvSpPr>
        <p:spPr>
          <a:xfrm>
            <a:off x="2707283" y="2305615"/>
            <a:ext cx="677743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Applicant (user)</a:t>
            </a:r>
          </a:p>
          <a:p>
            <a:pPr algn="ctr"/>
            <a:r>
              <a:rPr lang="en-MY" sz="6000" dirty="0"/>
              <a:t>View</a:t>
            </a:r>
            <a:endParaRPr lang="en-MY" sz="8000" dirty="0"/>
          </a:p>
        </p:txBody>
      </p:sp>
    </p:spTree>
    <p:extLst>
      <p:ext uri="{BB962C8B-B14F-4D97-AF65-F5344CB8AC3E}">
        <p14:creationId xmlns:p14="http://schemas.microsoft.com/office/powerpoint/2010/main" val="13468192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CC68C-BBCA-BB2F-8FC0-B9115993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98CC10-424E-40C2-CD1B-025B66F07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75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7C5F7-F699-9717-43CC-DB77842BF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A312FB-E48F-1944-DA8B-BDBCD2AE8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031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B7BE7-23D9-B1AD-E90B-E6A7B719F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032FB9-3453-8A5D-81E8-381A08445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186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B607F-8906-8D41-CE6F-ADA6BDF8C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D7E873C-4B88-7A8F-73FC-7D5A460E9E2E}"/>
              </a:ext>
            </a:extLst>
          </p:cNvPr>
          <p:cNvSpPr txBox="1"/>
          <p:nvPr/>
        </p:nvSpPr>
        <p:spPr>
          <a:xfrm>
            <a:off x="3574604" y="2151727"/>
            <a:ext cx="504279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Create New</a:t>
            </a:r>
          </a:p>
          <a:p>
            <a:pPr algn="ctr"/>
            <a:r>
              <a:rPr lang="en-MY" sz="8000" dirty="0"/>
              <a:t>Application</a:t>
            </a:r>
          </a:p>
        </p:txBody>
      </p:sp>
    </p:spTree>
    <p:extLst>
      <p:ext uri="{BB962C8B-B14F-4D97-AF65-F5344CB8AC3E}">
        <p14:creationId xmlns:p14="http://schemas.microsoft.com/office/powerpoint/2010/main" val="33067015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B13A7-75FA-B43A-3748-513C93CCF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47F3C6-D8DF-8925-15C0-1A2C3AE7C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2" y="0"/>
            <a:ext cx="120571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233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FCD20-2664-02F2-6F0F-0665F48B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5E42C4-8338-0D24-925F-90BF0322D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5" y="0"/>
            <a:ext cx="120634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2090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B5489-00BB-0F03-1230-D42C30238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FFDB64-A5D6-227F-DCCF-46DFAF3C2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5" y="0"/>
            <a:ext cx="120634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412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6B605-C7F4-5048-EDE3-892CABCC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872F7D-A5CD-F3EC-77CA-AB65087D8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74DBE7-46C0-A5B8-1B8E-033E82E41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552" y="4009885"/>
            <a:ext cx="4755611" cy="16592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9DAB86-B2DD-2031-8BE2-B45149FE31B3}"/>
              </a:ext>
            </a:extLst>
          </p:cNvPr>
          <p:cNvSpPr txBox="1"/>
          <p:nvPr/>
        </p:nvSpPr>
        <p:spPr>
          <a:xfrm>
            <a:off x="2589526" y="4654839"/>
            <a:ext cx="1162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TEMPLATE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30CEAE54-684F-DE1C-D78F-92FCD576FD5C}"/>
              </a:ext>
            </a:extLst>
          </p:cNvPr>
          <p:cNvSpPr/>
          <p:nvPr/>
        </p:nvSpPr>
        <p:spPr>
          <a:xfrm rot="16200000">
            <a:off x="4447052" y="4577786"/>
            <a:ext cx="224484" cy="523438"/>
          </a:xfrm>
          <a:prstGeom prst="downArrow">
            <a:avLst>
              <a:gd name="adj1" fmla="val 35454"/>
              <a:gd name="adj2" fmla="val 7363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047003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2C2A8-BC9D-4086-CD80-77F77376D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0423A6-0863-9ADF-D92A-51F726068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0" y="0"/>
            <a:ext cx="120507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8008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7321E-6796-6AD6-CAB9-F8A2F37D0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EDC068-9FF5-F59B-CCD5-3F7013D74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767" y="3153326"/>
            <a:ext cx="6878010" cy="1181265"/>
          </a:xfrm>
          <a:prstGeom prst="rect">
            <a:avLst/>
          </a:prstGeom>
        </p:spPr>
      </p:pic>
      <p:pic>
        <p:nvPicPr>
          <p:cNvPr id="4" name="Picture 12" descr="WhatsApp Logo Vector in Illustrator, SVG, JPG, EPS, PNG - Download |  Template.net">
            <a:extLst>
              <a:ext uri="{FF2B5EF4-FFF2-40B4-BE49-F238E27FC236}">
                <a16:creationId xmlns:a16="http://schemas.microsoft.com/office/drawing/2014/main" id="{E2834E31-16F7-7FD9-5E91-F4D1F4D729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2" t="14654" r="13004" b="13817"/>
          <a:stretch>
            <a:fillRect/>
          </a:stretch>
        </p:blipFill>
        <p:spPr bwMode="auto">
          <a:xfrm>
            <a:off x="789435" y="2913260"/>
            <a:ext cx="1768851" cy="1661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6EAF302E-1896-A406-C0A7-D2682CCE24FF}"/>
              </a:ext>
            </a:extLst>
          </p:cNvPr>
          <p:cNvSpPr/>
          <p:nvPr/>
        </p:nvSpPr>
        <p:spPr>
          <a:xfrm rot="16200000">
            <a:off x="3470127" y="3092471"/>
            <a:ext cx="558799" cy="1302976"/>
          </a:xfrm>
          <a:prstGeom prst="downArrow">
            <a:avLst>
              <a:gd name="adj1" fmla="val 35454"/>
              <a:gd name="adj2" fmla="val 7363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3F7F8E-537A-6578-BFF1-C1E96A3D4B0E}"/>
              </a:ext>
            </a:extLst>
          </p:cNvPr>
          <p:cNvSpPr txBox="1"/>
          <p:nvPr/>
        </p:nvSpPr>
        <p:spPr>
          <a:xfrm>
            <a:off x="975360" y="457200"/>
            <a:ext cx="102412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800" dirty="0"/>
              <a:t>Notification Success</a:t>
            </a:r>
          </a:p>
        </p:txBody>
      </p:sp>
    </p:spTree>
    <p:extLst>
      <p:ext uri="{BB962C8B-B14F-4D97-AF65-F5344CB8AC3E}">
        <p14:creationId xmlns:p14="http://schemas.microsoft.com/office/powerpoint/2010/main" val="16112206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BBAD0-0D4B-AABA-9496-790B5BBC5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1382FE-C6B5-0450-D230-3FB716BBD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38C45E-BB0E-B1AC-CB04-4B8A84C3CC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16" t="40741" r="1489" b="50000"/>
          <a:stretch>
            <a:fillRect/>
          </a:stretch>
        </p:blipFill>
        <p:spPr>
          <a:xfrm>
            <a:off x="2209800" y="2794000"/>
            <a:ext cx="978916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9276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D406E-6DED-4103-01E7-C4401054C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3732AE2-FDCA-9F41-E0C3-2FF235BF642D}"/>
              </a:ext>
            </a:extLst>
          </p:cNvPr>
          <p:cNvSpPr txBox="1"/>
          <p:nvPr/>
        </p:nvSpPr>
        <p:spPr>
          <a:xfrm>
            <a:off x="2671379" y="2767280"/>
            <a:ext cx="684924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PERSONAL TASK</a:t>
            </a:r>
          </a:p>
        </p:txBody>
      </p:sp>
    </p:spTree>
    <p:extLst>
      <p:ext uri="{BB962C8B-B14F-4D97-AF65-F5344CB8AC3E}">
        <p14:creationId xmlns:p14="http://schemas.microsoft.com/office/powerpoint/2010/main" val="32392921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199DE-EF5B-6713-A388-34674505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AF33CFA-EDCE-DEAC-A9BC-E3577DFFC791}"/>
              </a:ext>
            </a:extLst>
          </p:cNvPr>
          <p:cNvSpPr txBox="1"/>
          <p:nvPr/>
        </p:nvSpPr>
        <p:spPr>
          <a:xfrm>
            <a:off x="2884673" y="2767280"/>
            <a:ext cx="642265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KU(IKL) Review</a:t>
            </a:r>
          </a:p>
        </p:txBody>
      </p:sp>
    </p:spTree>
    <p:extLst>
      <p:ext uri="{BB962C8B-B14F-4D97-AF65-F5344CB8AC3E}">
        <p14:creationId xmlns:p14="http://schemas.microsoft.com/office/powerpoint/2010/main" val="17131904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DA489-FFDA-3CD4-DF48-45115C952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A2712E-89D1-5B3C-53EA-78B7EE73E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225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D381F-22A6-EF90-0E3F-E2C7508DD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4B74E-52D9-5C04-1E57-1DB8A6223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045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F37D0-04B9-D8AA-ED12-D12FA58A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843DC11-A778-7CB9-2752-8C0FEBEE4D9B}"/>
              </a:ext>
            </a:extLst>
          </p:cNvPr>
          <p:cNvSpPr txBox="1"/>
          <p:nvPr/>
        </p:nvSpPr>
        <p:spPr>
          <a:xfrm>
            <a:off x="3589675" y="2767280"/>
            <a:ext cx="501265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BLG Review</a:t>
            </a:r>
          </a:p>
        </p:txBody>
      </p:sp>
    </p:spTree>
    <p:extLst>
      <p:ext uri="{BB962C8B-B14F-4D97-AF65-F5344CB8AC3E}">
        <p14:creationId xmlns:p14="http://schemas.microsoft.com/office/powerpoint/2010/main" val="25989155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350FB-66F7-B45F-C94F-B09AB6B98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73D534-22F7-AAFB-9DA9-4DBD7A0C9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040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8C240-9290-8D62-76F3-B265B0B87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1D7B42-4109-D1FC-004D-0693A777A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040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B0942-B246-90DC-939C-D4411E5B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00CA232-F979-4EB9-AD68-DCAC8D06AA2D}"/>
              </a:ext>
            </a:extLst>
          </p:cNvPr>
          <p:cNvSpPr txBox="1"/>
          <p:nvPr/>
        </p:nvSpPr>
        <p:spPr>
          <a:xfrm>
            <a:off x="1140158" y="2767280"/>
            <a:ext cx="99116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IKL(TECHNICAL) Review</a:t>
            </a:r>
          </a:p>
        </p:txBody>
      </p:sp>
    </p:spTree>
    <p:extLst>
      <p:ext uri="{BB962C8B-B14F-4D97-AF65-F5344CB8AC3E}">
        <p14:creationId xmlns:p14="http://schemas.microsoft.com/office/powerpoint/2010/main" val="42603682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35D6-B121-F6DA-A474-B2B24E535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3287CC-02A7-46DB-9CA2-3E4A850A4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904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FFFC2-5E38-5CE7-244C-C45E24B73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4C1245-1F3F-5FA3-F4EE-C84653909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0" y="0"/>
            <a:ext cx="120682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5700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0D2E7-4292-9FB9-5FAA-69CC8B3BB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BC3156-B00F-92ED-B1A1-EFD54601C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2" y="0"/>
            <a:ext cx="120571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248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C3F01-FD17-D65F-385C-E74F568C9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4193DCF-63CA-E064-2661-25E601C41AD0}"/>
              </a:ext>
            </a:extLst>
          </p:cNvPr>
          <p:cNvSpPr txBox="1"/>
          <p:nvPr/>
        </p:nvSpPr>
        <p:spPr>
          <a:xfrm>
            <a:off x="2025081" y="2767280"/>
            <a:ext cx="81418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KU(IKL) Final Check</a:t>
            </a:r>
          </a:p>
        </p:txBody>
      </p:sp>
    </p:spTree>
    <p:extLst>
      <p:ext uri="{BB962C8B-B14F-4D97-AF65-F5344CB8AC3E}">
        <p14:creationId xmlns:p14="http://schemas.microsoft.com/office/powerpoint/2010/main" val="42462735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C59A8-8C8D-55EA-E2AE-625E1DF9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8D1DC8-9424-382E-8669-9A7EE8E79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6995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F44-44AA-4196-18C1-B65BB1F4D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B00264-D570-6CD6-8F91-453584895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864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79AB5-8FCE-A612-6B1B-0EEE8F43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AEB3CA1-C437-7170-FB1E-9DAA60D4CB8D}"/>
              </a:ext>
            </a:extLst>
          </p:cNvPr>
          <p:cNvSpPr txBox="1"/>
          <p:nvPr/>
        </p:nvSpPr>
        <p:spPr>
          <a:xfrm>
            <a:off x="1958781" y="2767280"/>
            <a:ext cx="82744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KB(LES) Verification</a:t>
            </a:r>
          </a:p>
        </p:txBody>
      </p:sp>
    </p:spTree>
    <p:extLst>
      <p:ext uri="{BB962C8B-B14F-4D97-AF65-F5344CB8AC3E}">
        <p14:creationId xmlns:p14="http://schemas.microsoft.com/office/powerpoint/2010/main" val="24393945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E1E1-5EA3-AE2A-149F-FB7EE75D8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C7592F-AEEB-E9A1-C0FB-D30991C8E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316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E0D32-78FF-DC26-10BD-FD8D8BB3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3028B3-7084-45F9-598C-9DEC74604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6" y="0"/>
            <a:ext cx="120698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9620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9C641-1EEA-82AC-C2D5-4BFA40E84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BDD0232-44BB-A68F-AA98-26D67507EBFF}"/>
              </a:ext>
            </a:extLst>
          </p:cNvPr>
          <p:cNvSpPr txBox="1"/>
          <p:nvPr/>
        </p:nvSpPr>
        <p:spPr>
          <a:xfrm>
            <a:off x="2920680" y="2151727"/>
            <a:ext cx="635064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TP(RES)/PGH</a:t>
            </a:r>
          </a:p>
          <a:p>
            <a:pPr algn="ctr"/>
            <a:r>
              <a:rPr lang="en-MY" sz="8000" dirty="0"/>
              <a:t>Final Approval</a:t>
            </a:r>
          </a:p>
        </p:txBody>
      </p:sp>
    </p:spTree>
    <p:extLst>
      <p:ext uri="{BB962C8B-B14F-4D97-AF65-F5344CB8AC3E}">
        <p14:creationId xmlns:p14="http://schemas.microsoft.com/office/powerpoint/2010/main" val="19519162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DF3C-3D03-FD8F-711A-895223E34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7FEA1D-E8CB-1849-C34E-FB9BDF76D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3383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4000B-9B14-7718-D6D2-7D687CB97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ED5FD1-15A3-A3F9-A2A9-5D1A2B90F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6" y="0"/>
            <a:ext cx="120698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778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F53ED-A873-9C6C-40EE-1E2B7765B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F31D68-5158-BA16-1A64-600E4A4C1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0" y="0"/>
            <a:ext cx="120507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905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ECEE4-FBE6-2021-F33A-D06AF36EF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7B7BC7E-B289-654D-DE6E-6636A7205442}"/>
              </a:ext>
            </a:extLst>
          </p:cNvPr>
          <p:cNvSpPr txBox="1"/>
          <p:nvPr/>
        </p:nvSpPr>
        <p:spPr>
          <a:xfrm>
            <a:off x="4452507" y="2767280"/>
            <a:ext cx="32869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MPHLG</a:t>
            </a:r>
          </a:p>
        </p:txBody>
      </p:sp>
    </p:spTree>
    <p:extLst>
      <p:ext uri="{BB962C8B-B14F-4D97-AF65-F5344CB8AC3E}">
        <p14:creationId xmlns:p14="http://schemas.microsoft.com/office/powerpoint/2010/main" val="18449288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A07A1-6254-2F71-064B-858400CD3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700A63-B628-C2F2-F114-F28BEC838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006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FEF09-3A89-C2F6-088F-A6A150581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F0A829-AF5D-3477-F3E2-4CE07D155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5" y="0"/>
            <a:ext cx="120634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2188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A68B-3C6C-7391-4394-A8D42FE4C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2DB4F1-7F86-D9AB-8981-D2E9D9D47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171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F3C93-6302-0AFC-9C68-13F6F893F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1EC52ED-7C2A-6461-D3C6-44FB5649CDDA}"/>
              </a:ext>
            </a:extLst>
          </p:cNvPr>
          <p:cNvSpPr txBox="1"/>
          <p:nvPr/>
        </p:nvSpPr>
        <p:spPr>
          <a:xfrm>
            <a:off x="1145644" y="2305615"/>
            <a:ext cx="990072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PT(IKL)</a:t>
            </a:r>
          </a:p>
          <a:p>
            <a:pPr algn="ctr"/>
            <a:r>
              <a:rPr lang="en-MY" sz="6000" dirty="0"/>
              <a:t>Generate Approval Letter &amp; Bill</a:t>
            </a:r>
            <a:endParaRPr lang="en-MY" sz="8000" dirty="0"/>
          </a:p>
        </p:txBody>
      </p:sp>
    </p:spTree>
    <p:extLst>
      <p:ext uri="{BB962C8B-B14F-4D97-AF65-F5344CB8AC3E}">
        <p14:creationId xmlns:p14="http://schemas.microsoft.com/office/powerpoint/2010/main" val="4311267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D0CDD-AF9C-C9E9-5F4A-87BE7E7EA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96876E-0135-8C54-47E5-D8D05E90B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0C817-63E5-907E-63CF-FD77CB62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2BCF88-129B-4D1D-CCEB-D6C8E9596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6" y="0"/>
            <a:ext cx="120698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581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CDBF-1B0E-10A0-6ED7-9AA7E7880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F58F529-0A87-280F-9770-4659B2CA2FB2}"/>
              </a:ext>
            </a:extLst>
          </p:cNvPr>
          <p:cNvSpPr txBox="1"/>
          <p:nvPr/>
        </p:nvSpPr>
        <p:spPr>
          <a:xfrm>
            <a:off x="2707283" y="2305615"/>
            <a:ext cx="677743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Applicant (user)</a:t>
            </a:r>
          </a:p>
          <a:p>
            <a:pPr algn="ctr"/>
            <a:r>
              <a:rPr lang="en-MY" sz="6000" dirty="0"/>
              <a:t>Upload Receipt</a:t>
            </a:r>
            <a:endParaRPr lang="en-MY" sz="7200" dirty="0"/>
          </a:p>
        </p:txBody>
      </p:sp>
    </p:spTree>
    <p:extLst>
      <p:ext uri="{BB962C8B-B14F-4D97-AF65-F5344CB8AC3E}">
        <p14:creationId xmlns:p14="http://schemas.microsoft.com/office/powerpoint/2010/main" val="23290519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2AD78-F886-CE4C-0811-059BE0165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8C3F24-ACFB-4C17-ED85-B558E70B0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A1F18D-62CA-C672-6EBE-E177FA9558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0" t="40430" r="1882" b="50000"/>
          <a:stretch>
            <a:fillRect/>
          </a:stretch>
        </p:blipFill>
        <p:spPr>
          <a:xfrm>
            <a:off x="2213609" y="2772696"/>
            <a:ext cx="9753601" cy="65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0039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9A096-9D56-99BD-7C5D-64F7800D8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1A67DA-D357-34B6-E8BA-9C64477BE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9017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70E92-20C0-E72F-DDD9-687457D65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B2F022-4ADC-764B-434B-F641984B9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3389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73A4-DA1D-2BBC-6C59-42FD4A1BF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4F0CFD8-77B6-4553-BC26-419D20764CD6}"/>
              </a:ext>
            </a:extLst>
          </p:cNvPr>
          <p:cNvSpPr txBox="1"/>
          <p:nvPr/>
        </p:nvSpPr>
        <p:spPr>
          <a:xfrm>
            <a:off x="1358299" y="1843950"/>
            <a:ext cx="9475414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PT(IKL)</a:t>
            </a:r>
          </a:p>
          <a:p>
            <a:pPr algn="ctr"/>
            <a:r>
              <a:rPr lang="en-MY" sz="6000" dirty="0"/>
              <a:t>Review Receipt, Generate OR </a:t>
            </a:r>
          </a:p>
          <a:p>
            <a:pPr algn="ctr"/>
            <a:r>
              <a:rPr lang="en-MY" sz="6000" dirty="0"/>
              <a:t>&amp; Advertisement License</a:t>
            </a:r>
            <a:endParaRPr lang="en-MY" sz="7200" dirty="0"/>
          </a:p>
        </p:txBody>
      </p:sp>
    </p:spTree>
    <p:extLst>
      <p:ext uri="{BB962C8B-B14F-4D97-AF65-F5344CB8AC3E}">
        <p14:creationId xmlns:p14="http://schemas.microsoft.com/office/powerpoint/2010/main" val="136369208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AD276-B584-048E-1087-B9364148D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8B3D7A-7E03-C8D9-99D5-B4A4E1D47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4842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BFC5F-5388-68B6-9B6F-689F89DD9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C7BDE-3487-1354-062E-E43929057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5" y="0"/>
            <a:ext cx="120634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623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3CA0-F7C4-36C8-52FF-89A19A79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FF8CFC5-90DC-9FED-0997-0158B23CA68F}"/>
              </a:ext>
            </a:extLst>
          </p:cNvPr>
          <p:cNvSpPr txBox="1"/>
          <p:nvPr/>
        </p:nvSpPr>
        <p:spPr>
          <a:xfrm>
            <a:off x="1385385" y="1843950"/>
            <a:ext cx="9421232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Applicant (user)</a:t>
            </a:r>
          </a:p>
          <a:p>
            <a:pPr algn="ctr"/>
            <a:r>
              <a:rPr lang="en-MY" sz="6000" dirty="0"/>
              <a:t>E-License Ready To Download</a:t>
            </a:r>
          </a:p>
          <a:p>
            <a:pPr algn="ctr"/>
            <a:r>
              <a:rPr lang="en-MY" sz="6000" dirty="0"/>
              <a:t>--end-- </a:t>
            </a:r>
          </a:p>
        </p:txBody>
      </p:sp>
    </p:spTree>
    <p:extLst>
      <p:ext uri="{BB962C8B-B14F-4D97-AF65-F5344CB8AC3E}">
        <p14:creationId xmlns:p14="http://schemas.microsoft.com/office/powerpoint/2010/main" val="139361226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E0846-385C-C3D2-64D3-23911165D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E7191A-9EF6-E387-66EF-AF42C9F3E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2" y="0"/>
            <a:ext cx="120571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002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BC3E6-0307-6F5C-455B-BC30D9BAD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832E22F-DD98-5921-3AA6-05CECC441669}"/>
              </a:ext>
            </a:extLst>
          </p:cNvPr>
          <p:cNvSpPr txBox="1"/>
          <p:nvPr/>
        </p:nvSpPr>
        <p:spPr>
          <a:xfrm>
            <a:off x="3310017" y="2151727"/>
            <a:ext cx="557197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000" dirty="0"/>
              <a:t>TP(RES)/PGH</a:t>
            </a:r>
          </a:p>
          <a:p>
            <a:pPr algn="ctr"/>
            <a:r>
              <a:rPr lang="en-MY" sz="8000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423366106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498B7-DCD4-9D17-582B-B4E6ADF4B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9913A9-EAFB-500D-30EF-EBD4ED732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965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DBC3FF-B773-03E3-DF88-3E2900DBC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0234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B8768-C03C-0233-0BBE-A4C0CB969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962C11-401F-7D26-C52B-0EF37700B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187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A53BB-C4F0-2967-445E-19C4ED137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D9477F-1F82-F022-0496-CEEAC29D1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1192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9F4D0-02C2-48B0-B8BD-CB18957FB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BB02F8-8E0D-8743-E51B-E0A408433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1553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E58D6-5F0C-E745-E8AF-2BAC802F1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906CE1-6716-694F-B8F3-73D028DAF6E7}"/>
              </a:ext>
            </a:extLst>
          </p:cNvPr>
          <p:cNvSpPr txBox="1"/>
          <p:nvPr/>
        </p:nvSpPr>
        <p:spPr>
          <a:xfrm>
            <a:off x="4314903" y="2705725"/>
            <a:ext cx="356219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8800" dirty="0"/>
              <a:t>--End-- </a:t>
            </a:r>
          </a:p>
        </p:txBody>
      </p:sp>
    </p:spTree>
    <p:extLst>
      <p:ext uri="{BB962C8B-B14F-4D97-AF65-F5344CB8AC3E}">
        <p14:creationId xmlns:p14="http://schemas.microsoft.com/office/powerpoint/2010/main" val="1977098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1045</Words>
  <Application>Microsoft Office PowerPoint</Application>
  <PresentationFormat>Widescreen</PresentationFormat>
  <Paragraphs>190</Paragraphs>
  <Slides>88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88</vt:i4>
      </vt:variant>
    </vt:vector>
  </HeadingPairs>
  <TitlesOfParts>
    <vt:vector size="93" baseType="lpstr">
      <vt:lpstr>Arial</vt:lpstr>
      <vt:lpstr>Calibri</vt:lpstr>
      <vt:lpstr>Calibri Light</vt:lpstr>
      <vt:lpstr>Office Theme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57</cp:revision>
  <dcterms:created xsi:type="dcterms:W3CDTF">2026-06-30T00:15:46Z</dcterms:created>
  <dcterms:modified xsi:type="dcterms:W3CDTF">2026-06-30T05:28:24Z</dcterms:modified>
</cp:coreProperties>
</file>