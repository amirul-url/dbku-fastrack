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3002325"/>
            <a:ext cx="3905250" cy="21316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C38592-159A-4B02-A63A-6F23044485D1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 i="0">
                <a:solidFill>
                  <a:srgbClr val="006B49"/>
                </a:solidFill>
              </a:defRPr>
            </a:pPr>
            <a:r>
              <a:rPr sz="3750" b="1" i="0">
                <a:solidFill>
                  <a:srgbClr val="006B49"/>
                </a:solidFill>
              </a:rPr>
              <a:t>Laporan Sistem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7598-9E2D-4E7C-AF82-4A2E7EACF105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85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 i="0">
                <a:solidFill>
                  <a:srgbClr val="071527"/>
                </a:solidFill>
              </a:defRPr>
            </a:pPr>
            <a:r>
              <a:rPr sz="3150" b="1" i="0">
                <a:solidFill>
                  <a:srgbClr val="071527"/>
                </a:solidFill>
              </a:rPr>
              <a:t>Pendigitalan Permohonan Lesen Iklan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58862-10D1-4446-BDE3-0554D9A77C84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 i="0">
                <a:solidFill>
                  <a:srgbClr val="4F627A"/>
                </a:solidFill>
              </a:defRPr>
            </a:pPr>
            <a:r>
              <a:rPr sz="1725" b="0" i="0">
                <a:solidFill>
                  <a:srgbClr val="4F627A"/>
                </a:solidFill>
              </a:rPr>
              <a:t>Sistem ALiS untuk permohonan, semakan teknikal, kelulusan digital, bayaran dan pengeluaran lesen iklan secara dalam talian.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021D3A-194A-48E6-8D9B-64972DAA1253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3333750" cy="457200"/>
          </a:xfrm>
          <a:prstGeom prst="roundRect">
            <a:avLst>
              <a:gd name="adj" fmla="val 16667"/>
            </a:avLst>
          </a:prstGeom>
          <a:solidFill>
            <a:srgbClr val="E9F8F1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1671C-7B2B-4A3F-9554-D1CE0AA87E28}"/>
              </a:ext>
            </a:extLst>
          </p:cNvPr>
          <p:cNvSpPr>
            <a:spLocks noGrp="1"/>
          </p:cNvSpPr>
          <p:nvPr/>
        </p:nvSpPr>
        <p:spPr>
          <a:xfrm>
            <a:off x="933450" y="50387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06B49"/>
                </a:solidFill>
              </a:defRPr>
            </a:pPr>
            <a:r>
              <a:rPr sz="1275" b="1" i="0">
                <a:solidFill>
                  <a:srgbClr val="006B49"/>
                </a:solidFill>
              </a:rPr>
              <a:t>Projek RKB | Bahagian Pelesenan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5458C-5CD4-463C-8367-5CEC8B872EDB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C36BE-1C1A-4A85-9458-39D7F2D9C57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 dirty="0" err="1">
                <a:solidFill>
                  <a:srgbClr val="4F627A"/>
                </a:solidFill>
              </a:rPr>
              <a:t>Pendigitalan</a:t>
            </a:r>
            <a:r>
              <a:rPr sz="975" b="0" i="0" dirty="0">
                <a:solidFill>
                  <a:srgbClr val="4F627A"/>
                </a:solidFill>
              </a:rPr>
              <a:t> </a:t>
            </a:r>
            <a:r>
              <a:rPr sz="975" b="0" i="0" dirty="0" err="1">
                <a:solidFill>
                  <a:srgbClr val="4F627A"/>
                </a:solidFill>
              </a:rPr>
              <a:t>Permohonan</a:t>
            </a:r>
            <a:r>
              <a:rPr sz="975" b="0" i="0" dirty="0">
                <a:solidFill>
                  <a:srgbClr val="4F627A"/>
                </a:solidFill>
              </a:rPr>
              <a:t> </a:t>
            </a:r>
            <a:r>
              <a:rPr sz="975" b="0" i="0" dirty="0" err="1">
                <a:solidFill>
                  <a:srgbClr val="4F627A"/>
                </a:solidFill>
              </a:rPr>
              <a:t>Lesen</a:t>
            </a:r>
            <a:r>
              <a:rPr sz="975" b="0" i="0" dirty="0">
                <a:solidFill>
                  <a:srgbClr val="4F627A"/>
                </a:solidFill>
              </a:rPr>
              <a:t> </a:t>
            </a:r>
            <a:r>
              <a:rPr sz="975" b="0" i="0" dirty="0" err="1">
                <a:solidFill>
                  <a:srgbClr val="4F627A"/>
                </a:solidFill>
              </a:rPr>
              <a:t>Iklan</a:t>
            </a:r>
            <a:r>
              <a:rPr sz="975" b="0" i="0" dirty="0">
                <a:solidFill>
                  <a:srgbClr val="4F627A"/>
                </a:solidFill>
              </a:rPr>
              <a:t> | </a:t>
            </a:r>
            <a:r>
              <a:rPr sz="975" b="0" i="0" dirty="0" err="1">
                <a:solidFill>
                  <a:srgbClr val="4F627A"/>
                </a:solidFill>
              </a:rPr>
              <a:t>ALiS</a:t>
            </a:r>
            <a:endParaRPr sz="975" b="0" i="0" dirty="0">
              <a:solidFill>
                <a:srgbClr val="4F627A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4DA6CA-671C-4A0C-81E9-F80FB6A9EC0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2418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1252F-35D9-4D43-A61D-2659F201A66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Project Brief / Ringkasan Projek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CACA7-94D8-4CE1-AF28-F1D47D11B4B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614661-958C-464F-A405-721AD99CE5B1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0E4D17-3768-44BF-8FE0-17D05916E632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66675" cy="135255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0C487-720D-497C-829F-3C7427AC796E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Latar belakang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C8473-211A-40BC-AFC6-4C9699A287F9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Proses permohonan Lesen Iklan yang melibatkan MPHLG sebelum ini banyak bergantung kepada dokumen fizikal, semakan manual dan pergerakan fail antara pihak.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722263-A8CD-4659-A128-9F355A19A9CB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8E61B-45ED-4787-8A0C-D766358A766D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66675" cy="13525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5DF47B-DC19-49E2-BAD3-3AEB1C57853B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Isu utama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490FC6-3C34-4FBC-A67C-27CABB42F27D}"/>
              </a:ext>
            </a:extLst>
          </p:cNvPr>
          <p:cNvSpPr>
            <a:spLocks noGrp="1"/>
          </p:cNvSpPr>
          <p:nvPr/>
        </p:nvSpPr>
        <p:spPr>
          <a:xfrm>
            <a:off x="6496050" y="23431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Tempoh pemprosesan panjang, sukar menjejak status secara masa nyata, pertindihan semakan dan kekurangan platform berpusat untuk perkongsian maklumat.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62F540-F520-401A-92AD-1DA096D517F8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C68ABE-8B24-4CC3-BD22-41716E7BB513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66675" cy="135255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FE162E-8375-4E39-A083-B898A4D5BEEA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Cadangan penyelesaian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EA5CBD-213C-43BC-A20A-65DBD7749D42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Membangunkan sistem ALiS sebagai platform bersepadu untuk permohonan, dokumen sokongan, saringan, semakan teknikal, kelulusan dan lesen digital.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0608D3-C92F-40B7-A991-C79B4ED74CC8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186E8-A2E2-4ECC-A79E-EC1E5194A416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66675" cy="135255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ACED8-BBC8-4F41-A273-72B73849EAA7}"/>
              </a:ext>
            </a:extLst>
          </p:cNvPr>
          <p:cNvSpPr>
            <a:spLocks noGrp="1"/>
          </p:cNvSpPr>
          <p:nvPr/>
        </p:nvSpPr>
        <p:spPr>
          <a:xfrm>
            <a:off x="6496050" y="38100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7C3AED"/>
                </a:solidFill>
              </a:defRPr>
            </a:pPr>
            <a:r>
              <a:rPr sz="1500" b="1" i="0">
                <a:solidFill>
                  <a:srgbClr val="7C3AED"/>
                </a:solidFill>
              </a:rPr>
              <a:t>Hasil yang disasar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44F796-EE18-4623-91B4-679DD575C6D7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Mengurangkan tempoh pemprosesan dan kos operasi serta meningkatkan kecekapan, ketelusan dan akauntabiliti perkhidmatan.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651E65-1609-44B7-9CB2-D705FFCB229F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90F66A-F2CB-4F73-92EC-6B29F39972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4BEA25-A2F7-4EB4-9A6F-F0551E41088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8811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563FC-FAD0-44BB-B649-8CE012979F0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Objective System / Objektif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9D61E0-B30E-4BFC-BA7F-BA5996116263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54422-DA15-4AAE-B9E5-FA876D681804}"/>
              </a:ext>
            </a:extLst>
          </p:cNvPr>
          <p:cNvSpPr>
            <a:spLocks noGrp="1"/>
          </p:cNvSpPr>
          <p:nvPr/>
        </p:nvSpPr>
        <p:spPr>
          <a:xfrm>
            <a:off x="876300" y="18954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97375-C005-4E6F-96AF-2219FA5DE989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Permohonan Lesen Iklan dalam talian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5F74BE-710F-4013-8144-B1939A920D58}"/>
              </a:ext>
            </a:extLst>
          </p:cNvPr>
          <p:cNvSpPr>
            <a:spLocks noGrp="1"/>
          </p:cNvSpPr>
          <p:nvPr/>
        </p:nvSpPr>
        <p:spPr>
          <a:xfrm>
            <a:off x="1104900" y="20859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Pemohon boleh mengisi borang, menghantar maklumat dan memuat naik dokumen sokongan tanpa hadir secara fizikal.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792C4-8380-43E6-8539-ABCCAAD7AE9F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F7B32-F349-4CC4-97A7-9177AC912A7E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Akses selamat mengikut peranan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46C56B-B2BA-4703-B49C-F8311219CE59}"/>
              </a:ext>
            </a:extLst>
          </p:cNvPr>
          <p:cNvSpPr>
            <a:spLocks noGrp="1"/>
          </p:cNvSpPr>
          <p:nvPr/>
        </p:nvSpPr>
        <p:spPr>
          <a:xfrm>
            <a:off x="1104900" y="28670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rgbClr val="4F627A"/>
                </a:solidFill>
              </a:rPr>
              <a:t>Pemohon</a:t>
            </a:r>
            <a:r>
              <a:rPr sz="1275" b="0" i="0" dirty="0">
                <a:solidFill>
                  <a:srgbClr val="4F627A"/>
                </a:solidFill>
              </a:rPr>
              <a:t>, </a:t>
            </a:r>
            <a:r>
              <a:rPr sz="1275" b="0" i="0" dirty="0" err="1">
                <a:solidFill>
                  <a:srgbClr val="4F627A"/>
                </a:solidFill>
              </a:rPr>
              <a:t>pegawai</a:t>
            </a:r>
            <a:r>
              <a:rPr sz="1275" b="0" i="0" dirty="0">
                <a:solidFill>
                  <a:srgbClr val="4F627A"/>
                </a:solidFill>
              </a:rPr>
              <a:t> DBKU dan </a:t>
            </a:r>
            <a:r>
              <a:rPr sz="1275" b="0" i="0" dirty="0" err="1">
                <a:solidFill>
                  <a:srgbClr val="4F627A"/>
                </a:solidFill>
              </a:rPr>
              <a:t>agensi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teknikal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mempunyai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paparan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serta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tindakan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berdasarkan</a:t>
            </a:r>
            <a:r>
              <a:rPr sz="1275" b="0" i="0" dirty="0">
                <a:solidFill>
                  <a:srgbClr val="4F627A"/>
                </a:solidFill>
              </a:rPr>
              <a:t> role masing-masing.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83CB00-00DD-4898-A2FA-2EE3F7753BF3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A5A96A-C648-4652-840B-0C3EDD14E049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Semakan dan ulasan teknikal digital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0693C8-175B-4953-9C7A-452B191ED2DC}"/>
              </a:ext>
            </a:extLst>
          </p:cNvPr>
          <p:cNvSpPr>
            <a:spLocks noGrp="1"/>
          </p:cNvSpPr>
          <p:nvPr/>
        </p:nvSpPr>
        <p:spPr>
          <a:xfrm>
            <a:off x="1104900" y="36480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>
                <a:solidFill>
                  <a:srgbClr val="4F627A"/>
                </a:solidFill>
              </a:rPr>
              <a:t>Unit dan </a:t>
            </a:r>
            <a:r>
              <a:rPr sz="1275" b="0" i="0" dirty="0" err="1">
                <a:solidFill>
                  <a:srgbClr val="4F627A"/>
                </a:solidFill>
              </a:rPr>
              <a:t>bahagian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berkaitan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boleh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memberi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sokongan</a:t>
            </a:r>
            <a:r>
              <a:rPr sz="1275" b="0" i="0" dirty="0">
                <a:solidFill>
                  <a:srgbClr val="4F627A"/>
                </a:solidFill>
              </a:rPr>
              <a:t>, </a:t>
            </a:r>
            <a:r>
              <a:rPr sz="1275" b="0" i="0" dirty="0" err="1">
                <a:solidFill>
                  <a:srgbClr val="4F627A"/>
                </a:solidFill>
              </a:rPr>
              <a:t>syarat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atau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penolakan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terus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dalam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sistem</a:t>
            </a:r>
            <a:r>
              <a:rPr sz="1275" b="0" i="0" dirty="0">
                <a:solidFill>
                  <a:srgbClr val="4F627A"/>
                </a:solidFill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1F3168-EE2F-4AD4-AEBB-CA4FB4CEE9DD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6E5152-5F3A-43B0-852F-341BBDEBA3A2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Penjejakan status masa nyata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E7370-2C5C-4B0A-B483-BD2A4BCCE892}"/>
              </a:ext>
            </a:extLst>
          </p:cNvPr>
          <p:cNvSpPr>
            <a:spLocks noGrp="1"/>
          </p:cNvSpPr>
          <p:nvPr/>
        </p:nvSpPr>
        <p:spPr>
          <a:xfrm>
            <a:off x="1104900" y="44291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Pemohon dan pegawai boleh melihat status, tindakan semasa, notifikasi dan rekod keputusan.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C4D28B-0ECE-440A-882E-69D4020379B5}"/>
              </a:ext>
            </a:extLst>
          </p:cNvPr>
          <p:cNvSpPr>
            <a:spLocks noGrp="1"/>
          </p:cNvSpPr>
          <p:nvPr/>
        </p:nvSpPr>
        <p:spPr>
          <a:xfrm>
            <a:off x="876300" y="50196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7A6E16-8384-4C2F-87F8-50AC8049FED1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Pangkalan data dan pelaporan berpusat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B6F650-A690-4323-8353-2FF8CA1FDBC8}"/>
              </a:ext>
            </a:extLst>
          </p:cNvPr>
          <p:cNvSpPr>
            <a:spLocks noGrp="1"/>
          </p:cNvSpPr>
          <p:nvPr/>
        </p:nvSpPr>
        <p:spPr>
          <a:xfrm>
            <a:off x="1104900" y="52101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Rekod permohonan, dokumen, keputusan dan prestasi pemprosesan disimpan untuk rujukan serta audit.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2BFD43-4464-4608-861F-2780C58C124A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6BF028-A32B-4C7D-8D69-B6204A35D62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19EE55-0ED5-45CE-A42A-6CD94600C71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986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9DCD41-6163-4C72-8640-D61DA82D80F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Skop Pengguna dan Peranan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675AD-7995-4FB5-BE9A-CA7C90BE6B9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15BDCA-EF5D-4951-A238-4E0B385EBA60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B40201-4B38-49D2-AE34-A43E73FA2A36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66675" cy="8382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D3EE52-604A-4379-980E-EA3B61B213BE}"/>
              </a:ext>
            </a:extLst>
          </p:cNvPr>
          <p:cNvSpPr>
            <a:spLocks noGrp="1"/>
          </p:cNvSpPr>
          <p:nvPr/>
        </p:nvSpPr>
        <p:spPr>
          <a:xfrm>
            <a:off x="933450" y="19812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Pemohon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9F64A-E897-4B9D-8458-3A0975386ED8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Daftar, log masuk, isi borang, muat naik dokumen, semak status, bayar dan muat turun lesen.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10CEE0-1EC0-4345-B135-706EA1BFF1CE}"/>
              </a:ext>
            </a:extLst>
          </p:cNvPr>
          <p:cNvSpPr>
            <a:spLocks noGrp="1"/>
          </p:cNvSpPr>
          <p:nvPr/>
        </p:nvSpPr>
        <p:spPr>
          <a:xfrm>
            <a:off x="6343650" y="18288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E543D8-5F4E-4462-BFF4-70D19E7CE01C}"/>
              </a:ext>
            </a:extLst>
          </p:cNvPr>
          <p:cNvSpPr>
            <a:spLocks noGrp="1"/>
          </p:cNvSpPr>
          <p:nvPr/>
        </p:nvSpPr>
        <p:spPr>
          <a:xfrm>
            <a:off x="6343650" y="1828800"/>
            <a:ext cx="66675" cy="8382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F33094-43D3-4E3D-8925-0BABCC79FE2B}"/>
              </a:ext>
            </a:extLst>
          </p:cNvPr>
          <p:cNvSpPr>
            <a:spLocks noGrp="1"/>
          </p:cNvSpPr>
          <p:nvPr/>
        </p:nvSpPr>
        <p:spPr>
          <a:xfrm>
            <a:off x="6553200" y="19812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PT(IKL)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D31334-F1D1-4187-BB50-24C286DCF632}"/>
              </a:ext>
            </a:extLst>
          </p:cNvPr>
          <p:cNvSpPr>
            <a:spLocks noGrp="1"/>
          </p:cNvSpPr>
          <p:nvPr/>
        </p:nvSpPr>
        <p:spPr>
          <a:xfrm>
            <a:off x="6553200" y="22860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Urus semakan, surat kelulusan, bil, resit bayaran dan pengeluaran e-lesen.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E1ECDC-DBC0-44DB-B498-C34C86094F86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EC033-CA8C-43D2-92E6-930ED125812C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66675" cy="8382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8F8DC6-E38E-4B18-AAF2-5059251A83B6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KU(IKL)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6563BA-3C54-4507-8BD2-63E6283C5D1C}"/>
              </a:ext>
            </a:extLst>
          </p:cNvPr>
          <p:cNvSpPr>
            <a:spLocks noGrp="1"/>
          </p:cNvSpPr>
          <p:nvPr/>
        </p:nvSpPr>
        <p:spPr>
          <a:xfrm>
            <a:off x="933450" y="34861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Saringan awal, semakan teknikal akhir dan penyelarasan keputusan.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42BC79-6981-4F5E-A868-AAF479198374}"/>
              </a:ext>
            </a:extLst>
          </p:cNvPr>
          <p:cNvSpPr>
            <a:spLocks noGrp="1"/>
          </p:cNvSpPr>
          <p:nvPr/>
        </p:nvSpPr>
        <p:spPr>
          <a:xfrm>
            <a:off x="6343650" y="302895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4A910-9EB5-4D87-8BCC-8870C712B092}"/>
              </a:ext>
            </a:extLst>
          </p:cNvPr>
          <p:cNvSpPr>
            <a:spLocks noGrp="1"/>
          </p:cNvSpPr>
          <p:nvPr/>
        </p:nvSpPr>
        <p:spPr>
          <a:xfrm>
            <a:off x="6343650" y="3028950"/>
            <a:ext cx="66675" cy="8382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6C67C-6352-4DCB-928F-DF3C1146CA02}"/>
              </a:ext>
            </a:extLst>
          </p:cNvPr>
          <p:cNvSpPr>
            <a:spLocks noGrp="1"/>
          </p:cNvSpPr>
          <p:nvPr/>
        </p:nvSpPr>
        <p:spPr>
          <a:xfrm>
            <a:off x="6553200" y="3181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Unit Teknikal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A30D6C-5805-46D0-9251-A815089299BA}"/>
              </a:ext>
            </a:extLst>
          </p:cNvPr>
          <p:cNvSpPr>
            <a:spLocks noGrp="1"/>
          </p:cNvSpPr>
          <p:nvPr/>
        </p:nvSpPr>
        <p:spPr>
          <a:xfrm>
            <a:off x="6553200" y="34861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Lawatan tapak, gambar lokasi, kiraan caj/deposit dan cadangan teknikal.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CBA4B1-653E-418A-946B-8DF9FAF5C976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5B49C6-797E-4E33-AFB0-0138A2EC5149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66675" cy="8382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123050-ADF5-4C86-9E0D-68AFF89E5FBB}"/>
              </a:ext>
            </a:extLst>
          </p:cNvPr>
          <p:cNvSpPr>
            <a:spLocks noGrp="1"/>
          </p:cNvSpPr>
          <p:nvPr/>
        </p:nvSpPr>
        <p:spPr>
          <a:xfrm>
            <a:off x="933450" y="43815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BLG / IMT / MNE / ENG / GPM / LNP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A7795A-7614-4BE9-81B8-FAC96EA62E17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Semakan teknikal selari oleh bahagian berkaitan.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A167091-FC55-4925-8A00-71C25637C3D5}"/>
              </a:ext>
            </a:extLst>
          </p:cNvPr>
          <p:cNvSpPr>
            <a:spLocks noGrp="1"/>
          </p:cNvSpPr>
          <p:nvPr/>
        </p:nvSpPr>
        <p:spPr>
          <a:xfrm>
            <a:off x="6343650" y="42291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39C7E-B0F0-47C7-8F4E-C4EEDDE4AB1E}"/>
              </a:ext>
            </a:extLst>
          </p:cNvPr>
          <p:cNvSpPr>
            <a:spLocks noGrp="1"/>
          </p:cNvSpPr>
          <p:nvPr/>
        </p:nvSpPr>
        <p:spPr>
          <a:xfrm>
            <a:off x="6343650" y="4229100"/>
            <a:ext cx="66675" cy="8382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C08D5F-0618-47A1-830E-6EBFEB5A453E}"/>
              </a:ext>
            </a:extLst>
          </p:cNvPr>
          <p:cNvSpPr>
            <a:spLocks noGrp="1"/>
          </p:cNvSpPr>
          <p:nvPr/>
        </p:nvSpPr>
        <p:spPr>
          <a:xfrm>
            <a:off x="6553200" y="43815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KB(LES), TP(RES), PGH, MPHLG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62B821-4312-48A3-882B-2EFE1878EAF8}"/>
              </a:ext>
            </a:extLst>
          </p:cNvPr>
          <p:cNvSpPr>
            <a:spLocks noGrp="1"/>
          </p:cNvSpPr>
          <p:nvPr/>
        </p:nvSpPr>
        <p:spPr>
          <a:xfrm>
            <a:off x="6553200" y="46863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Sokongan, verifikasi dan kelulusan mengikut aliran kuasa.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E338DB-0DCA-4C0B-A65C-B308F23B513B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9A0512-A94F-484E-987D-04EBB1EE5E9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FE6FD3-CC55-4099-B0B9-00A9986B045C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2832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7E9422F-F480-4462-814D-B18B6B2CD9B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ALIRAN PROSES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38E70E-4039-42A2-8859-45390F77A44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Flow System / Aliran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A75FEF-7E01-49AA-9622-0DA6738D785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501D94-0DA5-4F60-9EEB-E1824BF75F7D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200025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4EADC2-E078-44D0-A7E5-ED5287BFB279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0F7F9-12C6-47A8-8BA0-F54E04B7C082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641B4-A592-40F5-8591-B2C7E0E295BA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Daftar &amp; log masuk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4FCC0-BFE8-49DB-989D-542BA33BB659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Pemohon masuk ke portal ALiS.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D0E08-80E2-427A-B9C6-6F7D26A72A59}"/>
              </a:ext>
            </a:extLst>
          </p:cNvPr>
          <p:cNvSpPr>
            <a:spLocks noGrp="1"/>
          </p:cNvSpPr>
          <p:nvPr/>
        </p:nvSpPr>
        <p:spPr>
          <a:xfrm>
            <a:off x="3733800" y="2247900"/>
            <a:ext cx="200025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BA94FA-05E9-4D41-B166-6B2D73ED201C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F45DC2-D1AF-45D8-B75C-295F369342D4}"/>
              </a:ext>
            </a:extLst>
          </p:cNvPr>
          <p:cNvSpPr>
            <a:spLocks noGrp="1"/>
          </p:cNvSpPr>
          <p:nvPr/>
        </p:nvSpPr>
        <p:spPr>
          <a:xfrm>
            <a:off x="35433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2E60FD-AB67-4A8F-8AD4-6AEDF1218A94}"/>
              </a:ext>
            </a:extLst>
          </p:cNvPr>
          <p:cNvSpPr>
            <a:spLocks noGrp="1"/>
          </p:cNvSpPr>
          <p:nvPr/>
        </p:nvSpPr>
        <p:spPr>
          <a:xfrm>
            <a:off x="35433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Permohonan digital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7B83D9-D634-4A99-910B-FCC45A9FC626}"/>
              </a:ext>
            </a:extLst>
          </p:cNvPr>
          <p:cNvSpPr>
            <a:spLocks noGrp="1"/>
          </p:cNvSpPr>
          <p:nvPr/>
        </p:nvSpPr>
        <p:spPr>
          <a:xfrm>
            <a:off x="35433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Borang, lokasi, iklan dan dokumen sokongan dihantar.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90D08-166A-4391-B492-C10998F15D63}"/>
              </a:ext>
            </a:extLst>
          </p:cNvPr>
          <p:cNvSpPr>
            <a:spLocks noGrp="1"/>
          </p:cNvSpPr>
          <p:nvPr/>
        </p:nvSpPr>
        <p:spPr>
          <a:xfrm>
            <a:off x="6515100" y="2247900"/>
            <a:ext cx="200025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437A89-D3F5-404F-BA73-5BFC02D2267B}"/>
              </a:ext>
            </a:extLst>
          </p:cNvPr>
          <p:cNvSpPr>
            <a:spLocks noGrp="1"/>
          </p:cNvSpPr>
          <p:nvPr/>
        </p:nvSpPr>
        <p:spPr>
          <a:xfrm>
            <a:off x="63246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8FE2AF-4414-436D-ADF5-352995D7BD18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EE678F-6ED9-459B-8662-38602CD96AD3}"/>
              </a:ext>
            </a:extLst>
          </p:cNvPr>
          <p:cNvSpPr>
            <a:spLocks noGrp="1"/>
          </p:cNvSpPr>
          <p:nvPr/>
        </p:nvSpPr>
        <p:spPr>
          <a:xfrm>
            <a:off x="63246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Saringan automatik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177A23-17E8-437C-91CD-ADDB013A4C3B}"/>
              </a:ext>
            </a:extLst>
          </p:cNvPr>
          <p:cNvSpPr>
            <a:spLocks noGrp="1"/>
          </p:cNvSpPr>
          <p:nvPr/>
        </p:nvSpPr>
        <p:spPr>
          <a:xfrm>
            <a:off x="63246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Semakan kelengkapan dan syarat awal.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755716-55B4-40E5-85FF-DD58D6D449BB}"/>
              </a:ext>
            </a:extLst>
          </p:cNvPr>
          <p:cNvSpPr>
            <a:spLocks noGrp="1"/>
          </p:cNvSpPr>
          <p:nvPr/>
        </p:nvSpPr>
        <p:spPr>
          <a:xfrm>
            <a:off x="9296400" y="2247900"/>
            <a:ext cx="200025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1DA3E5-3EF9-410C-B718-C7E524DDBB8C}"/>
              </a:ext>
            </a:extLst>
          </p:cNvPr>
          <p:cNvSpPr>
            <a:spLocks noGrp="1"/>
          </p:cNvSpPr>
          <p:nvPr/>
        </p:nvSpPr>
        <p:spPr>
          <a:xfrm>
            <a:off x="91059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CBE710-1325-4BCB-9916-EDBB9AC7AFB8}"/>
              </a:ext>
            </a:extLst>
          </p:cNvPr>
          <p:cNvSpPr>
            <a:spLocks noGrp="1"/>
          </p:cNvSpPr>
          <p:nvPr/>
        </p:nvSpPr>
        <p:spPr>
          <a:xfrm>
            <a:off x="91059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BF215E-1F69-46C0-9DF8-009AF82F8EC1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Agihan jabatan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1D2E07-9E70-4549-AE16-10F9A7FF8C38}"/>
              </a:ext>
            </a:extLst>
          </p:cNvPr>
          <p:cNvSpPr>
            <a:spLocks noGrp="1"/>
          </p:cNvSpPr>
          <p:nvPr/>
        </p:nvSpPr>
        <p:spPr>
          <a:xfrm>
            <a:off x="91059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Permohonan diagih kepada unit teknikal berkaitan.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DB875D-B1F3-4B9D-8FBD-396B17A0CB3C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2000250" cy="28575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182DFE-E579-49C9-9F9D-59EF5A5855EF}"/>
              </a:ext>
            </a:extLst>
          </p:cNvPr>
          <p:cNvSpPr>
            <a:spLocks noGrp="1"/>
          </p:cNvSpPr>
          <p:nvPr/>
        </p:nvSpPr>
        <p:spPr>
          <a:xfrm>
            <a:off x="7620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5B64AA-D956-4752-A1F2-4DEBC2D193A5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3CB66F-6ADB-4AA8-B02E-8F75B6111C5B}"/>
              </a:ext>
            </a:extLst>
          </p:cNvPr>
          <p:cNvSpPr>
            <a:spLocks noGrp="1"/>
          </p:cNvSpPr>
          <p:nvPr/>
        </p:nvSpPr>
        <p:spPr>
          <a:xfrm>
            <a:off x="7620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Parallel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D27983-9E46-4448-AF1E-6BAF857A60C1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Semakan teknikal dibuat secara selari.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5B409D-3788-412D-B547-333E73E381DB}"/>
              </a:ext>
            </a:extLst>
          </p:cNvPr>
          <p:cNvSpPr>
            <a:spLocks noGrp="1"/>
          </p:cNvSpPr>
          <p:nvPr/>
        </p:nvSpPr>
        <p:spPr>
          <a:xfrm>
            <a:off x="3733800" y="4248150"/>
            <a:ext cx="2000250" cy="28575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D86DD1C-E402-4366-B78C-FCBCDF10695A}"/>
              </a:ext>
            </a:extLst>
          </p:cNvPr>
          <p:cNvSpPr>
            <a:spLocks noGrp="1"/>
          </p:cNvSpPr>
          <p:nvPr/>
        </p:nvSpPr>
        <p:spPr>
          <a:xfrm>
            <a:off x="35433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80A8E1-E799-4C63-B5AD-FFE9E6824134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C0E419-E552-4709-9E45-50D894CBABE3}"/>
              </a:ext>
            </a:extLst>
          </p:cNvPr>
          <p:cNvSpPr>
            <a:spLocks noGrp="1"/>
          </p:cNvSpPr>
          <p:nvPr/>
        </p:nvSpPr>
        <p:spPr>
          <a:xfrm>
            <a:off x="35433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Penyelarasan keputusan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8D26D0-4216-4D6E-B7A9-F7801D502B08}"/>
              </a:ext>
            </a:extLst>
          </p:cNvPr>
          <p:cNvSpPr>
            <a:spLocks noGrp="1"/>
          </p:cNvSpPr>
          <p:nvPr/>
        </p:nvSpPr>
        <p:spPr>
          <a:xfrm>
            <a:off x="35433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Sokongan, syarat atau penolakan disatukan.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53ED27-0059-47C5-8238-1B20ED795189}"/>
              </a:ext>
            </a:extLst>
          </p:cNvPr>
          <p:cNvSpPr>
            <a:spLocks noGrp="1"/>
          </p:cNvSpPr>
          <p:nvPr/>
        </p:nvSpPr>
        <p:spPr>
          <a:xfrm>
            <a:off x="6515100" y="4248150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910C60C-9FB1-4AAC-8769-D4D550D51D86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87607B-33C6-44DE-BA02-09EDF92507F1}"/>
              </a:ext>
            </a:extLst>
          </p:cNvPr>
          <p:cNvSpPr>
            <a:spLocks noGrp="1"/>
          </p:cNvSpPr>
          <p:nvPr/>
        </p:nvSpPr>
        <p:spPr>
          <a:xfrm>
            <a:off x="63246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180E1E-99A6-4E02-9C59-7A94A6B4E35D}"/>
              </a:ext>
            </a:extLst>
          </p:cNvPr>
          <p:cNvSpPr>
            <a:spLocks noGrp="1"/>
          </p:cNvSpPr>
          <p:nvPr/>
        </p:nvSpPr>
        <p:spPr>
          <a:xfrm>
            <a:off x="63246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Kelulusan digital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0F5070-9FD2-42A0-A40C-DA4FF45C8C7F}"/>
              </a:ext>
            </a:extLst>
          </p:cNvPr>
          <p:cNvSpPr>
            <a:spLocks noGrp="1"/>
          </p:cNvSpPr>
          <p:nvPr/>
        </p:nvSpPr>
        <p:spPr>
          <a:xfrm>
            <a:off x="63246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Verifikasi KB(LES), TP(RES)/PGH dan MPHLG jika perlu.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B8DD88-26DC-4CFF-9496-005B4426C0B4}"/>
              </a:ext>
            </a:extLst>
          </p:cNvPr>
          <p:cNvSpPr>
            <a:spLocks noGrp="1"/>
          </p:cNvSpPr>
          <p:nvPr/>
        </p:nvSpPr>
        <p:spPr>
          <a:xfrm>
            <a:off x="9296400" y="4248150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DC85EFE-27E7-48CE-AD8F-673E5608C719}"/>
              </a:ext>
            </a:extLst>
          </p:cNvPr>
          <p:cNvSpPr>
            <a:spLocks noGrp="1"/>
          </p:cNvSpPr>
          <p:nvPr/>
        </p:nvSpPr>
        <p:spPr>
          <a:xfrm>
            <a:off x="91059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33A3A2-B718-4EB8-AB9C-A7E3E1E43AA2}"/>
              </a:ext>
            </a:extLst>
          </p:cNvPr>
          <p:cNvSpPr>
            <a:spLocks noGrp="1"/>
          </p:cNvSpPr>
          <p:nvPr/>
        </p:nvSpPr>
        <p:spPr>
          <a:xfrm>
            <a:off x="91059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DD0F20-A3D2-4E9D-9F70-33FF7D18DD95}"/>
              </a:ext>
            </a:extLst>
          </p:cNvPr>
          <p:cNvSpPr>
            <a:spLocks noGrp="1"/>
          </p:cNvSpPr>
          <p:nvPr/>
        </p:nvSpPr>
        <p:spPr>
          <a:xfrm>
            <a:off x="91059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Bayaran &amp; e-lesen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DD8EC0-0363-4EBA-B34E-00FA7E445AA2}"/>
              </a:ext>
            </a:extLst>
          </p:cNvPr>
          <p:cNvSpPr>
            <a:spLocks noGrp="1"/>
          </p:cNvSpPr>
          <p:nvPr/>
        </p:nvSpPr>
        <p:spPr>
          <a:xfrm>
            <a:off x="91059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lang="en-MY" sz="1050" b="0" i="0" dirty="0">
                <a:solidFill>
                  <a:srgbClr val="4F627A"/>
                </a:solidFill>
              </a:rPr>
              <a:t>Surat </a:t>
            </a:r>
            <a:r>
              <a:rPr lang="en-MY" sz="1050" b="0" i="0" dirty="0" err="1">
                <a:solidFill>
                  <a:srgbClr val="4F627A"/>
                </a:solidFill>
              </a:rPr>
              <a:t>Kelulusan</a:t>
            </a:r>
            <a:r>
              <a:rPr lang="en-MY" sz="1050" b="0" i="0" dirty="0">
                <a:solidFill>
                  <a:srgbClr val="4F627A"/>
                </a:solidFill>
              </a:rPr>
              <a:t>, </a:t>
            </a:r>
            <a:r>
              <a:rPr sz="1050" b="0" i="0" dirty="0">
                <a:solidFill>
                  <a:srgbClr val="4F627A"/>
                </a:solidFill>
              </a:rPr>
              <a:t>Bil, </a:t>
            </a:r>
            <a:r>
              <a:rPr sz="1050" b="0" i="0" dirty="0" err="1">
                <a:solidFill>
                  <a:srgbClr val="4F627A"/>
                </a:solidFill>
              </a:rPr>
              <a:t>resit</a:t>
            </a:r>
            <a:r>
              <a:rPr sz="1050" b="0" i="0" dirty="0">
                <a:solidFill>
                  <a:srgbClr val="4F627A"/>
                </a:solidFill>
              </a:rPr>
              <a:t>, QR Code dan </a:t>
            </a:r>
            <a:r>
              <a:rPr sz="1050" b="0" i="0" dirty="0" err="1">
                <a:solidFill>
                  <a:srgbClr val="4F627A"/>
                </a:solidFill>
              </a:rPr>
              <a:t>lesen</a:t>
            </a:r>
            <a:r>
              <a:rPr sz="1050" b="0" i="0" dirty="0">
                <a:solidFill>
                  <a:srgbClr val="4F627A"/>
                </a:solidFill>
              </a:rPr>
              <a:t> digital </a:t>
            </a:r>
            <a:r>
              <a:rPr sz="1050" b="0" i="0" dirty="0" err="1">
                <a:solidFill>
                  <a:srgbClr val="4F627A"/>
                </a:solidFill>
              </a:rPr>
              <a:t>dikeluarkan</a:t>
            </a:r>
            <a:r>
              <a:rPr sz="1050" b="0" i="0" dirty="0">
                <a:solidFill>
                  <a:srgbClr val="4F627A"/>
                </a:solidFill>
              </a:rPr>
              <a:t>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79AE91-F409-4B1C-9D92-A67B317CD3B8}"/>
              </a:ext>
            </a:extLst>
          </p:cNvPr>
          <p:cNvSpPr>
            <a:spLocks noGrp="1"/>
          </p:cNvSpPr>
          <p:nvPr/>
        </p:nvSpPr>
        <p:spPr>
          <a:xfrm>
            <a:off x="1047750" y="5581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>
                <a:solidFill>
                  <a:srgbClr val="006B49"/>
                </a:solidFill>
              </a:rPr>
              <a:t>Setiap status dihubungkan dengan log keputusan, pemilik tugas, notifikasi dan rekod audit.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5875C2-AED1-43B3-85FF-88CCBBFEB08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560F0C-2737-4F9D-B2AD-124E552BA54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3C84A0-937A-4C3C-8717-CA9CCAA4E6F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8964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A0B1192-6673-4947-951B-03B9A193446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TEKNOLOGI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D0B51-E887-4ED4-B0D4-B89B85DE17A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Seni Bina Sistem dan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7EDFF8-0EC0-4DF3-B62E-AAD5DF35BCDA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B9071B-03EB-4A41-921E-304C8B279508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220BBD-2FF1-4748-A27F-DFFCDA846C43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66675" cy="219075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CE690-84FD-4919-B8D2-E6E3BE169A66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Frontend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5E526E-543F-4899-8003-08A21650BD75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React 19 + Vite 8, React Router, Tailwind, CKEditor, QRCode, jsPDF/html2canvas dan Mapbox/MapLibre untuk pengalaman web interaktif.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424040-AF8D-49E8-B5F1-069F0B57C2F8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C749E-FD86-4746-81C0-2E8A57E27A79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66675" cy="219075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E2917-1D31-4C28-9925-11916520BE1F}"/>
              </a:ext>
            </a:extLst>
          </p:cNvPr>
          <p:cNvSpPr>
            <a:spLocks noGrp="1"/>
          </p:cNvSpPr>
          <p:nvPr/>
        </p:nvSpPr>
        <p:spPr>
          <a:xfrm>
            <a:off x="46672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FBE176-18DA-4FE2-9697-8F1E5187F1D2}"/>
              </a:ext>
            </a:extLst>
          </p:cNvPr>
          <p:cNvSpPr>
            <a:spLocks noGrp="1"/>
          </p:cNvSpPr>
          <p:nvPr/>
        </p:nvSpPr>
        <p:spPr>
          <a:xfrm>
            <a:off x="46672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Django 5.2 + Django REST Framework 3.17 menyediakan REST API bagi akaun, permohonan, dokumen dan notifikasi.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591C9D-0551-4AAD-9EDE-EF6CE4F925AC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0420D-DE37-4347-A793-6E0244343B74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66675" cy="21907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7F20C-245E-4455-9EDF-7AC7E2D65EFF}"/>
              </a:ext>
            </a:extLst>
          </p:cNvPr>
          <p:cNvSpPr>
            <a:spLocks noGrp="1"/>
          </p:cNvSpPr>
          <p:nvPr/>
        </p:nvSpPr>
        <p:spPr>
          <a:xfrm>
            <a:off x="84010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Keselamatan &amp; runtime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6B5F20-DA9D-45CE-89D5-2205719E8868}"/>
              </a:ext>
            </a:extLst>
          </p:cNvPr>
          <p:cNvSpPr>
            <a:spLocks noGrp="1"/>
          </p:cNvSpPr>
          <p:nvPr/>
        </p:nvSpPr>
        <p:spPr>
          <a:xfrm>
            <a:off x="84010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SimpleJWT, CORS terkawal, rate limiting, BCrypt hashing, Gunicorn, WhiteNoise dan sokongan PostgreSQL melalui psycopg2.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411CE-C891-4697-987A-279E8D19E8A6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071527"/>
                </a:solidFill>
              </a:defRPr>
            </a:pPr>
            <a:r>
              <a:rPr sz="1800" b="1" i="0">
                <a:solidFill>
                  <a:srgbClr val="071527"/>
                </a:solidFill>
              </a:rPr>
              <a:t>Corak seni bina: React client -&gt; authenticated REST API -&gt; Django domain modules -&gt; database, media storage dan notification services.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BC76E-32A4-42AD-8CE9-EEE5C911D479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48ABC9-E33E-452B-B151-F30D3C857F1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A1BDAB-BD12-46E4-A273-8A590E78CE86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0393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E0D6A6C-9E87-4BE9-82A2-5F0895F95A2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47205-949A-47FA-A02E-F67B9745AD5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Struktur Pangkalan Data (Database Structure)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170EFC-8D65-42AA-A0E3-20229D687F9B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C5E41-B469-453E-8A1A-A39175F3F53A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0572750" cy="647700"/>
          </a:xfrm>
          <a:prstGeom prst="rect">
            <a:avLst/>
          </a:prstGeom>
          <a:solidFill>
            <a:srgbClr val="006B49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A9516F-3520-42CF-8A27-E3FE91EB2C30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Jadual /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4A50E-CAA3-404D-9772-08E68F1554C4}"/>
              </a:ext>
            </a:extLst>
          </p:cNvPr>
          <p:cNvSpPr>
            <a:spLocks noGrp="1"/>
          </p:cNvSpPr>
          <p:nvPr/>
        </p:nvSpPr>
        <p:spPr>
          <a:xfrm>
            <a:off x="2914650" y="18288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23FBA0-CC8B-4047-AF4F-ACD4652FA828}"/>
              </a:ext>
            </a:extLst>
          </p:cNvPr>
          <p:cNvSpPr>
            <a:spLocks noGrp="1"/>
          </p:cNvSpPr>
          <p:nvPr/>
        </p:nvSpPr>
        <p:spPr>
          <a:xfrm>
            <a:off x="3048000" y="19431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Tujuan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D3499A-2E25-4079-AEF1-1B32C4FDE02B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CF1C0-E9A0-422E-A5EC-706A2511379B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Maklumat utama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559E05-0321-4907-B33A-17013C3530AB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C78BE-FEC6-4E4F-8AE0-CABC85728549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User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458305-7E99-4FED-B6BA-FE1FDE2A7CB8}"/>
              </a:ext>
            </a:extLst>
          </p:cNvPr>
          <p:cNvSpPr>
            <a:spLocks noGrp="1"/>
          </p:cNvSpPr>
          <p:nvPr/>
        </p:nvSpPr>
        <p:spPr>
          <a:xfrm>
            <a:off x="2914650" y="24765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CEFEE0-F9C1-4693-AB65-3CC3677209FE}"/>
              </a:ext>
            </a:extLst>
          </p:cNvPr>
          <p:cNvSpPr>
            <a:spLocks noGrp="1"/>
          </p:cNvSpPr>
          <p:nvPr/>
        </p:nvSpPr>
        <p:spPr>
          <a:xfrm>
            <a:off x="3048000" y="25908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Rekod pemohon dan pegawai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CA986-067E-4F61-A30C-63125796D733}"/>
              </a:ext>
            </a:extLst>
          </p:cNvPr>
          <p:cNvSpPr>
            <a:spLocks noGrp="1"/>
          </p:cNvSpPr>
          <p:nvPr/>
        </p:nvSpPr>
        <p:spPr>
          <a:xfrm>
            <a:off x="6153150" y="24765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A74070-B95B-4A2A-8974-666A68B1DDF4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role, department, MyKad, telefon, alamat, profil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C493D-DC2C-49AA-B4E6-335F7DB3D5ED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10572750" cy="647700"/>
          </a:xfrm>
          <a:prstGeom prst="rect">
            <a:avLst/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51381-3CB0-4ED7-BC64-04457BB8C6E9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4D13A5-1989-476D-AA8D-00D3C712A26D}"/>
              </a:ext>
            </a:extLst>
          </p:cNvPr>
          <p:cNvSpPr>
            <a:spLocks noGrp="1"/>
          </p:cNvSpPr>
          <p:nvPr/>
        </p:nvSpPr>
        <p:spPr>
          <a:xfrm>
            <a:off x="2914650" y="31242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BD3038-D67D-4939-BE86-8CFD88DC7AAE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Permohonan lesen iklan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CF450E-F1C1-4216-B487-EDFDA4677736}"/>
              </a:ext>
            </a:extLst>
          </p:cNvPr>
          <p:cNvSpPr>
            <a:spLocks noGrp="1"/>
          </p:cNvSpPr>
          <p:nvPr/>
        </p:nvSpPr>
        <p:spPr>
          <a:xfrm>
            <a:off x="6153150" y="31242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5AFDD-E393-47AA-BA82-E36CCDCA60B3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reference_no, applicant, status, form_data, lokasi, tarikh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4FC8D1-7420-46C7-99E9-CF73B52C16CF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035129-B0E8-424B-8DB7-A49153055C21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SupportingDocument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96028B-58FD-41FE-9E35-FAB70F630D34}"/>
              </a:ext>
            </a:extLst>
          </p:cNvPr>
          <p:cNvSpPr>
            <a:spLocks noGrp="1"/>
          </p:cNvSpPr>
          <p:nvPr/>
        </p:nvSpPr>
        <p:spPr>
          <a:xfrm>
            <a:off x="2914650" y="37719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71B7A2-DF2A-4E96-981D-AC9465F8CDF3}"/>
              </a:ext>
            </a:extLst>
          </p:cNvPr>
          <p:cNvSpPr>
            <a:spLocks noGrp="1"/>
          </p:cNvSpPr>
          <p:nvPr/>
        </p:nvSpPr>
        <p:spPr>
          <a:xfrm>
            <a:off x="3048000" y="38862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Dokumen sokongan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386E9C-9D2F-4BF8-BC46-DD018B415255}"/>
              </a:ext>
            </a:extLst>
          </p:cNvPr>
          <p:cNvSpPr>
            <a:spLocks noGrp="1"/>
          </p:cNvSpPr>
          <p:nvPr/>
        </p:nvSpPr>
        <p:spPr>
          <a:xfrm>
            <a:off x="6153150" y="37719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7238A2-31F2-4E62-AC76-B0A8214CCCFC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application, title, file, uploaded_at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3B4663-B962-4690-9085-7462346180F2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10572750" cy="647700"/>
          </a:xfrm>
          <a:prstGeom prst="rect">
            <a:avLst/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AD9CB0-DA37-4402-AAD4-72725EC6F91C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LoginSession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C5BA3D-0BE5-49D2-87A7-61A2F9D2D3F6}"/>
              </a:ext>
            </a:extLst>
          </p:cNvPr>
          <p:cNvSpPr>
            <a:spLocks noGrp="1"/>
          </p:cNvSpPr>
          <p:nvPr/>
        </p:nvSpPr>
        <p:spPr>
          <a:xfrm>
            <a:off x="2914650" y="44196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C6ABAD-52E8-4CEE-B2BA-5EEC83EA316C}"/>
              </a:ext>
            </a:extLst>
          </p:cNvPr>
          <p:cNvSpPr>
            <a:spLocks noGrp="1"/>
          </p:cNvSpPr>
          <p:nvPr/>
        </p:nvSpPr>
        <p:spPr>
          <a:xfrm>
            <a:off x="3048000" y="45339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Audit sesi pengguna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5CBC8C-7CEE-4BBC-A0BC-38451F390E04}"/>
              </a:ext>
            </a:extLst>
          </p:cNvPr>
          <p:cNvSpPr>
            <a:spLocks noGrp="1"/>
          </p:cNvSpPr>
          <p:nvPr/>
        </p:nvSpPr>
        <p:spPr>
          <a:xfrm>
            <a:off x="6153150" y="44196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C3DB8-511F-43CA-B0CA-E61915FC3F7F}"/>
              </a:ext>
            </a:extLst>
          </p:cNvPr>
          <p:cNvSpPr>
            <a:spLocks noGrp="1"/>
          </p:cNvSpPr>
          <p:nvPr/>
        </p:nvSpPr>
        <p:spPr>
          <a:xfrm>
            <a:off x="6286500" y="45339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user, login_at, logout_at, duration_seconds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C0A64F-000B-40D2-84EA-72195BAF9E5C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D0ADBC-31A4-4C90-BC4F-38DF8C2949DB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NotificationDelivery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B6E09D-A6D4-47F5-9C32-5B2FBE6A8935}"/>
              </a:ext>
            </a:extLst>
          </p:cNvPr>
          <p:cNvSpPr>
            <a:spLocks noGrp="1"/>
          </p:cNvSpPr>
          <p:nvPr/>
        </p:nvSpPr>
        <p:spPr>
          <a:xfrm>
            <a:off x="2914650" y="50673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F12C57-E1D9-41AE-9641-0320E2F0F56E}"/>
              </a:ext>
            </a:extLst>
          </p:cNvPr>
          <p:cNvSpPr>
            <a:spLocks noGrp="1"/>
          </p:cNvSpPr>
          <p:nvPr/>
        </p:nvSpPr>
        <p:spPr>
          <a:xfrm>
            <a:off x="3048000" y="51816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Rekod notifikasi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A811C1-6A5E-4621-B025-8B9B51B064D4}"/>
              </a:ext>
            </a:extLst>
          </p:cNvPr>
          <p:cNvSpPr>
            <a:spLocks noGrp="1"/>
          </p:cNvSpPr>
          <p:nvPr/>
        </p:nvSpPr>
        <p:spPr>
          <a:xfrm>
            <a:off x="6153150" y="50673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AF2EC-44C8-4258-89D4-97AA68316B04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application, user, channel, recipient, status, metadata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6A4DA2-54B9-4920-BE43-3C017D84D2D3}"/>
              </a:ext>
            </a:extLst>
          </p:cNvPr>
          <p:cNvSpPr>
            <a:spLocks noGrp="1"/>
          </p:cNvSpPr>
          <p:nvPr/>
        </p:nvSpPr>
        <p:spPr>
          <a:xfrm>
            <a:off x="952500" y="57340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006B49"/>
                </a:solidFill>
              </a:defRPr>
            </a:pPr>
            <a:r>
              <a:rPr sz="1500" b="1" i="0">
                <a:solidFill>
                  <a:srgbClr val="006B49"/>
                </a:solidFill>
              </a:rPr>
              <a:t>Reka bentuk ini menyokong rujukan audit, status workflow, dokumen digital, rekod bayaran dan notifikasi sistem.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EBE1DE-1595-4132-A7A5-B66D72EE9A4E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899109-3D1D-4DC6-9BC6-BB9DCA81D9D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91BDAF-5F69-4F59-A505-0D0FAEF565D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221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C0A95A-5737-4C99-9764-90DB9148626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6D42FE-EADA-4FE4-B586-E9EDA83CE5B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Deliverable Assignment Report: a. Dokumentasi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A82AB0-28F2-45F3-A996-B02CF81884E9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2999A-1986-42F4-B82C-9C3E44EE78C8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15701-6A7A-4862-AE55-5A41E20335DB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Reka bentuk sistem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950A4-29B2-4462-A1C5-488FB7D03FAD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Dokumentasi menerangkan tujuan sistem, peranan pengguna, proses utama dan logik operasi ALiS.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9ACD2-7AA4-474B-B615-478CF4022624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C75654-70AE-47CB-A179-E49CAE56F024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Aliran proses Lesen Iklan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41A18-1081-4FCB-8A5D-7CD62BA96F0E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Menerangkan proses daripada pendaftaran, permohonan, saringan, semakan, kelulusan, bayaran hingga pengeluaran lesen.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FB5F99-D250-4520-848A-31E33098A286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650829-0D64-4018-9498-93B9FD261EE3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Seni bina sistem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7B7FB-14C3-4179-9890-5DF889037F92}"/>
              </a:ext>
            </a:extLst>
          </p:cNvPr>
          <p:cNvSpPr>
            <a:spLocks noGrp="1"/>
          </p:cNvSpPr>
          <p:nvPr/>
        </p:nvSpPr>
        <p:spPr>
          <a:xfrm>
            <a:off x="1143000" y="3895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Menjelaskan hubungan frontend, backend API, pangkalan data, media/dokumen dan perkhidmatan notifikasi.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90DD29-A36D-4973-B7EE-FB0E5EBCF6C9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3EA9A9-A098-4FF6-A4F0-D7EA0DD6C980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Penerangan modul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91FF7-9D5F-4965-930A-D31DEB28CC2D}"/>
              </a:ext>
            </a:extLst>
          </p:cNvPr>
          <p:cNvSpPr>
            <a:spLocks noGrp="1"/>
          </p:cNvSpPr>
          <p:nvPr/>
        </p:nvSpPr>
        <p:spPr>
          <a:xfrm>
            <a:off x="1143000" y="4772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Setiap modul diterangkan dari aspek fungsi, input, output, pihak bertanggungjawab dan hasil yang dijana.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F3E87-E777-4B73-9480-7A8F0C491200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C77228-CB4F-4C97-A121-CDCD36048F3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20A8CC-7B62-450A-B59E-0A3701A92ED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407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26E9FAC-A256-4F08-8B26-C69CC0A4D7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10668-F1D6-46F2-A0C1-C57BC23E47E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Deliverable Assignment Report: c. Modul Berfungsi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7462A-A447-40F5-B40E-7C699A434BF7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27FBC1-06D2-4D0A-9A6D-C59B841965F9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236B7-8AF0-4EA4-85EB-EE2528ED8D40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1F8969-7429-4D0E-AA3B-3F6F13B06F8A}"/>
              </a:ext>
            </a:extLst>
          </p:cNvPr>
          <p:cNvSpPr>
            <a:spLocks noGrp="1"/>
          </p:cNvSpPr>
          <p:nvPr/>
        </p:nvSpPr>
        <p:spPr>
          <a:xfrm>
            <a:off x="1352550" y="19431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Pendaftaran dan log masuk pemohon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AB0DB7-A32C-4C9A-8BB0-2024B3FE599F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9CA53E-3A2F-42BF-A347-8EE56DE62EA8}"/>
              </a:ext>
            </a:extLst>
          </p:cNvPr>
          <p:cNvSpPr>
            <a:spLocks noGrp="1"/>
          </p:cNvSpPr>
          <p:nvPr/>
        </p:nvSpPr>
        <p:spPr>
          <a:xfrm>
            <a:off x="4572000" y="1981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6BEC0D-70E4-46CD-8614-0CC60EE79E10}"/>
              </a:ext>
            </a:extLst>
          </p:cNvPr>
          <p:cNvSpPr>
            <a:spLocks noGrp="1"/>
          </p:cNvSpPr>
          <p:nvPr/>
        </p:nvSpPr>
        <p:spPr>
          <a:xfrm>
            <a:off x="5029200" y="19431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Permohonan Lesen Iklan dalam talian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F8222F-D81A-4DFA-89E9-242585A78AA0}"/>
              </a:ext>
            </a:extLst>
          </p:cNvPr>
          <p:cNvSpPr>
            <a:spLocks noGrp="1"/>
          </p:cNvSpPr>
          <p:nvPr/>
        </p:nvSpPr>
        <p:spPr>
          <a:xfrm>
            <a:off x="8077200" y="18097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B47C25-04E0-42F2-98AB-BA1000CAA85B}"/>
              </a:ext>
            </a:extLst>
          </p:cNvPr>
          <p:cNvSpPr>
            <a:spLocks noGrp="1"/>
          </p:cNvSpPr>
          <p:nvPr/>
        </p:nvSpPr>
        <p:spPr>
          <a:xfrm>
            <a:off x="8248650" y="1981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59F9BA-5F48-41BB-AC19-D2137384C9C7}"/>
              </a:ext>
            </a:extLst>
          </p:cNvPr>
          <p:cNvSpPr>
            <a:spLocks noGrp="1"/>
          </p:cNvSpPr>
          <p:nvPr/>
        </p:nvSpPr>
        <p:spPr>
          <a:xfrm>
            <a:off x="8705850" y="19431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Muat naik dan pengurusan dokumen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3E8018-72BD-4C02-A1DE-5EA485962368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295B28-B36E-486F-92FA-422861D3F712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7F35A2-4C0D-43A6-A835-48721DD56EC9}"/>
              </a:ext>
            </a:extLst>
          </p:cNvPr>
          <p:cNvSpPr>
            <a:spLocks noGrp="1"/>
          </p:cNvSpPr>
          <p:nvPr/>
        </p:nvSpPr>
        <p:spPr>
          <a:xfrm>
            <a:off x="1352550" y="28003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Saringan automatik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629C75-0B9C-46BD-A0A0-94EFD5D8861B}"/>
              </a:ext>
            </a:extLst>
          </p:cNvPr>
          <p:cNvSpPr>
            <a:spLocks noGrp="1"/>
          </p:cNvSpPr>
          <p:nvPr/>
        </p:nvSpPr>
        <p:spPr>
          <a:xfrm>
            <a:off x="4400550" y="26670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E2EAFA-060E-426C-BAE0-DDEA73AD6134}"/>
              </a:ext>
            </a:extLst>
          </p:cNvPr>
          <p:cNvSpPr>
            <a:spLocks noGrp="1"/>
          </p:cNvSpPr>
          <p:nvPr/>
        </p:nvSpPr>
        <p:spPr>
          <a:xfrm>
            <a:off x="4572000" y="2838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512B69-CE44-4450-8F8E-62DF2040BFE7}"/>
              </a:ext>
            </a:extLst>
          </p:cNvPr>
          <p:cNvSpPr>
            <a:spLocks noGrp="1"/>
          </p:cNvSpPr>
          <p:nvPr/>
        </p:nvSpPr>
        <p:spPr>
          <a:xfrm>
            <a:off x="5029200" y="28003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Agihan kepada jabatan berkaitan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4559D54-0EF3-4715-A401-0192E545AC07}"/>
              </a:ext>
            </a:extLst>
          </p:cNvPr>
          <p:cNvSpPr>
            <a:spLocks noGrp="1"/>
          </p:cNvSpPr>
          <p:nvPr/>
        </p:nvSpPr>
        <p:spPr>
          <a:xfrm>
            <a:off x="8077200" y="26670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23BF57-630F-4E4D-9D51-EDBF066E1036}"/>
              </a:ext>
            </a:extLst>
          </p:cNvPr>
          <p:cNvSpPr>
            <a:spLocks noGrp="1"/>
          </p:cNvSpPr>
          <p:nvPr/>
        </p:nvSpPr>
        <p:spPr>
          <a:xfrm>
            <a:off x="8248650" y="2838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114A9D-6E68-474A-BC6D-C01D018067AE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Semakan teknikal secara selari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5CB799-017E-45A0-8DBB-E6A08EDDEFCA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0F1072-47DD-4C68-93DC-5F60C68721B3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8090A-A0AF-4A90-AECD-7D61F49562FC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Penyelarasan dan sokongan keputusan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9162AA7-319B-443C-A8D9-96AA1BA854DB}"/>
              </a:ext>
            </a:extLst>
          </p:cNvPr>
          <p:cNvSpPr>
            <a:spLocks noGrp="1"/>
          </p:cNvSpPr>
          <p:nvPr/>
        </p:nvSpPr>
        <p:spPr>
          <a:xfrm>
            <a:off x="4400550" y="35242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DBB5B4-5A93-4DA7-8E04-8F16053264D1}"/>
              </a:ext>
            </a:extLst>
          </p:cNvPr>
          <p:cNvSpPr>
            <a:spLocks noGrp="1"/>
          </p:cNvSpPr>
          <p:nvPr/>
        </p:nvSpPr>
        <p:spPr>
          <a:xfrm>
            <a:off x="4572000" y="3695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38DB9B-EAE6-41A9-B409-FED309503881}"/>
              </a:ext>
            </a:extLst>
          </p:cNvPr>
          <p:cNvSpPr>
            <a:spLocks noGrp="1"/>
          </p:cNvSpPr>
          <p:nvPr/>
        </p:nvSpPr>
        <p:spPr>
          <a:xfrm>
            <a:off x="5029200" y="36576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Kelulusan digital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62B1A52-FEEE-4E10-9980-42A96F91F98E}"/>
              </a:ext>
            </a:extLst>
          </p:cNvPr>
          <p:cNvSpPr>
            <a:spLocks noGrp="1"/>
          </p:cNvSpPr>
          <p:nvPr/>
        </p:nvSpPr>
        <p:spPr>
          <a:xfrm>
            <a:off x="8077200" y="35242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29CBB7-D8CC-4988-889A-A958899C4653}"/>
              </a:ext>
            </a:extLst>
          </p:cNvPr>
          <p:cNvSpPr>
            <a:spLocks noGrp="1"/>
          </p:cNvSpPr>
          <p:nvPr/>
        </p:nvSpPr>
        <p:spPr>
          <a:xfrm>
            <a:off x="8248650" y="3695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75FB63-CF63-4793-9FE6-694350C7AB07}"/>
              </a:ext>
            </a:extLst>
          </p:cNvPr>
          <p:cNvSpPr>
            <a:spLocks noGrp="1"/>
          </p:cNvSpPr>
          <p:nvPr/>
        </p:nvSpPr>
        <p:spPr>
          <a:xfrm>
            <a:off x="8705850" y="365760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Bayaran dalam talian dan lesen digital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F90B010-127B-4ABD-B41D-F38130640136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E12655-08F7-45BD-86EF-2925C375D4F8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9526FC-AFBA-41CB-A691-F7B780FD632D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Pengesahan lesen menggunakan QR Code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0762920-8E56-4FBB-9AD6-9DF27F8DBBB6}"/>
              </a:ext>
            </a:extLst>
          </p:cNvPr>
          <p:cNvSpPr>
            <a:spLocks noGrp="1"/>
          </p:cNvSpPr>
          <p:nvPr/>
        </p:nvSpPr>
        <p:spPr>
          <a:xfrm>
            <a:off x="4400550" y="43815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DF9237-7860-4EB3-AE01-C57F54D73D64}"/>
              </a:ext>
            </a:extLst>
          </p:cNvPr>
          <p:cNvSpPr>
            <a:spLocks noGrp="1"/>
          </p:cNvSpPr>
          <p:nvPr/>
        </p:nvSpPr>
        <p:spPr>
          <a:xfrm>
            <a:off x="4572000" y="4552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11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FFF843-5EA7-40A2-9E51-371D5330425D}"/>
              </a:ext>
            </a:extLst>
          </p:cNvPr>
          <p:cNvSpPr>
            <a:spLocks noGrp="1"/>
          </p:cNvSpPr>
          <p:nvPr/>
        </p:nvSpPr>
        <p:spPr>
          <a:xfrm>
            <a:off x="5029200" y="45148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Pemantauan dan penguatkuasaan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9B40FD3-03EA-4636-A8AD-0BCAC3E80061}"/>
              </a:ext>
            </a:extLst>
          </p:cNvPr>
          <p:cNvSpPr>
            <a:spLocks noGrp="1"/>
          </p:cNvSpPr>
          <p:nvPr/>
        </p:nvSpPr>
        <p:spPr>
          <a:xfrm>
            <a:off x="8077200" y="43815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B94BC2-766C-4855-A0AD-BF828444863F}"/>
              </a:ext>
            </a:extLst>
          </p:cNvPr>
          <p:cNvSpPr>
            <a:spLocks noGrp="1"/>
          </p:cNvSpPr>
          <p:nvPr/>
        </p:nvSpPr>
        <p:spPr>
          <a:xfrm>
            <a:off x="8248650" y="4552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12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76EBBE-624B-420C-B595-A912209FEFBC}"/>
              </a:ext>
            </a:extLst>
          </p:cNvPr>
          <p:cNvSpPr>
            <a:spLocks noGrp="1"/>
          </p:cNvSpPr>
          <p:nvPr/>
        </p:nvSpPr>
        <p:spPr>
          <a:xfrm>
            <a:off x="8705850" y="4514850"/>
            <a:ext cx="2362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71527"/>
                </a:solidFill>
              </a:defRPr>
            </a:pPr>
            <a:r>
              <a:rPr sz="1200" b="1" i="0">
                <a:solidFill>
                  <a:srgbClr val="071527"/>
                </a:solidFill>
              </a:rPr>
              <a:t>Dashboard dan pelaporan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2A4665-A4DC-459C-A256-79F693340E20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17B3C1-E1B2-4683-9CCA-20AF1234580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B074D0-514D-4158-B100-DF60C5C0B58B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3286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EE6061-045C-4CAD-A52F-DCBB90074D4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01-04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5A12EC-7AD6-4114-A067-8F0E8D9CBFC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Modul Pemohon, Permohonan dan Dokumen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14C66-C48A-4FED-BEE5-C36A5E879BCA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205531"/>
            <a:ext cx="4953000" cy="22945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88B4A6-6AD4-4657-9E30-6E6ED6ACE667}"/>
              </a:ext>
            </a:extLst>
          </p:cNvPr>
          <p:cNvSpPr>
            <a:spLocks noGrp="1"/>
          </p:cNvSpPr>
          <p:nvPr/>
        </p:nvSpPr>
        <p:spPr>
          <a:xfrm>
            <a:off x="781050" y="20859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D8CF6-5366-43CB-9F7D-EFDAB40CC746}"/>
              </a:ext>
            </a:extLst>
          </p:cNvPr>
          <p:cNvSpPr>
            <a:spLocks noGrp="1"/>
          </p:cNvSpPr>
          <p:nvPr/>
        </p:nvSpPr>
        <p:spPr>
          <a:xfrm>
            <a:off x="1009650" y="2000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Pendaftaran dan log masuk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DB70B-03FB-40B5-8E6C-877F64A24BA7}"/>
              </a:ext>
            </a:extLst>
          </p:cNvPr>
          <p:cNvSpPr>
            <a:spLocks noGrp="1"/>
          </p:cNvSpPr>
          <p:nvPr/>
        </p:nvSpPr>
        <p:spPr>
          <a:xfrm>
            <a:off x="1009650" y="22764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Akaun pemohon, pengesahan identiti asas dan akses role-based.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ACCC4-7264-4397-97D7-EBF658F0225D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6288EA-896B-4B49-9A51-92B1CDAC68C1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Borang permohonan digital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315F-67B6-4D13-BA87-B16C049C722A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Maklumat pemohon, maklumat iklan, lokasi, tempoh lesen dan butiran projek dihantar dalam sistem.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3A2DA6-DDC5-4BE2-9DFF-656205FE1B7B}"/>
              </a:ext>
            </a:extLst>
          </p:cNvPr>
          <p:cNvSpPr>
            <a:spLocks noGrp="1"/>
          </p:cNvSpPr>
          <p:nvPr/>
        </p:nvSpPr>
        <p:spPr>
          <a:xfrm>
            <a:off x="781050" y="3571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9FC2E-5AC6-45F7-8165-C96A3BA367F4}"/>
              </a:ext>
            </a:extLst>
          </p:cNvPr>
          <p:cNvSpPr>
            <a:spLocks noGrp="1"/>
          </p:cNvSpPr>
          <p:nvPr/>
        </p:nvSpPr>
        <p:spPr>
          <a:xfrm>
            <a:off x="1009650" y="3486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Pengurusan dokumen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FC67C-F0A3-4861-B804-B28E4D5FFDC9}"/>
              </a:ext>
            </a:extLst>
          </p:cNvPr>
          <p:cNvSpPr>
            <a:spLocks noGrp="1"/>
          </p:cNvSpPr>
          <p:nvPr/>
        </p:nvSpPr>
        <p:spPr>
          <a:xfrm>
            <a:off x="1009650" y="37623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 sokongan dimuat naik dan dikaitkan dengan Application ID.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35C497-A11B-4E0A-89BD-A87E4D5AEF15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E36F4-4E7A-4935-843D-C98562DE2874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Auto-screening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011F1-1FF3-42AC-8A37-C6B375CCDEEB}"/>
              </a:ext>
            </a:extLst>
          </p:cNvPr>
          <p:cNvSpPr>
            <a:spLocks noGrp="1"/>
          </p:cNvSpPr>
          <p:nvPr/>
        </p:nvSpPr>
        <p:spPr>
          <a:xfrm>
            <a:off x="1009650" y="45053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Sistem menolak penghantaran yang tidak lengkap dan membantu saringan awal.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32609-7277-47E7-A90A-ACA87B82DC15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F6DCBD-FBC6-46E1-B9C3-253D0830C09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7F73CD-E12A-4E9B-8801-15F762E95241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650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066887-07FF-4D04-B588-EDF9A56B1CB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05-08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B75F7F-82DF-430C-B698-E107040A46A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Modul Agihan, Semakan Selari dan Kelulusan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43689-8CC5-4CB5-A659-F984F3BA3B2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6450" y="2159142"/>
            <a:ext cx="5334000" cy="25016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6B2F0D-1255-4FC8-A050-B862FB471AAD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F7114E-2D3A-436F-A179-1092D413F376}"/>
              </a:ext>
            </a:extLst>
          </p:cNvPr>
          <p:cNvSpPr>
            <a:spLocks noGrp="1"/>
          </p:cNvSpPr>
          <p:nvPr/>
        </p:nvSpPr>
        <p:spPr>
          <a:xfrm>
            <a:off x="1009650" y="19812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Agihan jabatan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508BB-61CE-45C9-8440-30870D43EB1A}"/>
              </a:ext>
            </a:extLst>
          </p:cNvPr>
          <p:cNvSpPr>
            <a:spLocks noGrp="1"/>
          </p:cNvSpPr>
          <p:nvPr/>
        </p:nvSpPr>
        <p:spPr>
          <a:xfrm>
            <a:off x="1009650" y="22574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Permohonan diagihkan kepada unit dan bahagian teknikal yang berkaitan.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96826-D544-4E2E-8D5E-81D57742E8DF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2492D3-7A76-494A-BC3C-5A7D6DE7E976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Parallel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2C55B7-100F-4D48-963E-707D873B23B4}"/>
              </a:ext>
            </a:extLst>
          </p:cNvPr>
          <p:cNvSpPr>
            <a:spLocks noGrp="1"/>
          </p:cNvSpPr>
          <p:nvPr/>
        </p:nvSpPr>
        <p:spPr>
          <a:xfrm>
            <a:off x="1009650" y="300037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BLG, IMT, MNE, ENG, GPM dan LNP boleh membuat semakan secara serentak.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C529DD-BAF7-4224-8117-15A3E81C198B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22001F-0834-44E5-B8B1-7FD646DD5233}"/>
              </a:ext>
            </a:extLst>
          </p:cNvPr>
          <p:cNvSpPr>
            <a:spLocks noGrp="1"/>
          </p:cNvSpPr>
          <p:nvPr/>
        </p:nvSpPr>
        <p:spPr>
          <a:xfrm>
            <a:off x="1009650" y="34671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Penyelarasan keputusan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3416B7-15F7-4C81-902C-F91B46C66606}"/>
              </a:ext>
            </a:extLst>
          </p:cNvPr>
          <p:cNvSpPr>
            <a:spLocks noGrp="1"/>
          </p:cNvSpPr>
          <p:nvPr/>
        </p:nvSpPr>
        <p:spPr>
          <a:xfrm>
            <a:off x="1009650" y="37433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Semua sokongan, syarat dan penolakan dikumpulkan sebagai ringkasan tindakan.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DD2BD1-178D-420A-A679-2F6C0DF2786A}"/>
              </a:ext>
            </a:extLst>
          </p:cNvPr>
          <p:cNvSpPr>
            <a:spLocks noGrp="1"/>
          </p:cNvSpPr>
          <p:nvPr/>
        </p:nvSpPr>
        <p:spPr>
          <a:xfrm>
            <a:off x="781050" y="42957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03B6C-4253-4160-B3F7-CFAE6595E18C}"/>
              </a:ext>
            </a:extLst>
          </p:cNvPr>
          <p:cNvSpPr>
            <a:spLocks noGrp="1"/>
          </p:cNvSpPr>
          <p:nvPr/>
        </p:nvSpPr>
        <p:spPr>
          <a:xfrm>
            <a:off x="1009650" y="42100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E-approval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B7626A-1A15-4B68-9D58-479E5C123933}"/>
              </a:ext>
            </a:extLst>
          </p:cNvPr>
          <p:cNvSpPr>
            <a:spLocks noGrp="1"/>
          </p:cNvSpPr>
          <p:nvPr/>
        </p:nvSpPr>
        <p:spPr>
          <a:xfrm>
            <a:off x="1009650" y="448627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Keputusan akhir direkodkan bersama cadangan, ulasan, tarikh dan tandatangan digital.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31CC31-8318-4420-B640-584A181985A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7B8245-A6EB-45E7-BEB8-963E911F4AF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EB6AC-95D6-4CCB-A109-B19243818362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575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E5AF250-E269-4921-9BD5-54C87A576D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09-12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FD1C3B-2C53-4344-94AC-776A6C2061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Modul Bayaran, QR, Pemantauan dan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EF9FBE-4B95-4E70-B1F1-59528BBDCD56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F520BB-40C4-435C-A5B0-4F2DCF548D3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1FBA8-8D97-4686-B7BB-EBC400B6A2A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66675" cy="11049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481BB-8E21-405B-845B-706ACDDDA358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Bayaran dan lesen digital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3316A-B9EA-4C16-9483-73C54D9AC245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 err="1">
                <a:solidFill>
                  <a:srgbClr val="4F627A"/>
                </a:solidFill>
              </a:rPr>
              <a:t>Sistem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menjana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bil</a:t>
            </a:r>
            <a:r>
              <a:rPr sz="1200" b="0" i="0" dirty="0">
                <a:solidFill>
                  <a:srgbClr val="4F627A"/>
                </a:solidFill>
              </a:rPr>
              <a:t>, </a:t>
            </a:r>
            <a:r>
              <a:rPr sz="1200" b="0" i="0" dirty="0" err="1">
                <a:solidFill>
                  <a:srgbClr val="4F627A"/>
                </a:solidFill>
              </a:rPr>
              <a:t>pemohon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memuat</a:t>
            </a:r>
            <a:r>
              <a:rPr sz="1200" b="0" i="0" dirty="0">
                <a:solidFill>
                  <a:srgbClr val="4F627A"/>
                </a:solidFill>
              </a:rPr>
              <a:t> naik </a:t>
            </a:r>
            <a:r>
              <a:rPr sz="1200" b="0" i="0" dirty="0" err="1">
                <a:solidFill>
                  <a:srgbClr val="4F627A"/>
                </a:solidFill>
              </a:rPr>
              <a:t>resit</a:t>
            </a:r>
            <a:r>
              <a:rPr sz="1200" b="0" i="0" dirty="0">
                <a:solidFill>
                  <a:srgbClr val="4F627A"/>
                </a:solidFill>
              </a:rPr>
              <a:t> dan PT(IKL) </a:t>
            </a:r>
            <a:r>
              <a:rPr sz="1200" b="0" i="0" dirty="0" err="1">
                <a:solidFill>
                  <a:srgbClr val="4F627A"/>
                </a:solidFill>
              </a:rPr>
              <a:t>mengesahkan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bayaran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sebelum</a:t>
            </a:r>
            <a:r>
              <a:rPr sz="1200" b="0" i="0" dirty="0">
                <a:solidFill>
                  <a:srgbClr val="4F627A"/>
                </a:solidFill>
              </a:rPr>
              <a:t> e-</a:t>
            </a:r>
            <a:r>
              <a:rPr sz="1200" b="0" i="0" dirty="0" err="1">
                <a:solidFill>
                  <a:srgbClr val="4F627A"/>
                </a:solidFill>
              </a:rPr>
              <a:t>lesen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dikeluarkan</a:t>
            </a:r>
            <a:r>
              <a:rPr sz="1200" b="0" i="0" dirty="0">
                <a:solidFill>
                  <a:srgbClr val="4F627A"/>
                </a:solidFill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3DCFF4-156A-485B-BD1D-FDDCCCFCFB52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7F10F1-F05C-49C3-A70F-B52A7F89A643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66675" cy="11049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8746B-5E09-421F-92D3-C1AD72100692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QR Code lesen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2D462C-0689-4643-A2D3-45C4B90B3993}"/>
              </a:ext>
            </a:extLst>
          </p:cNvPr>
          <p:cNvSpPr>
            <a:spLocks noGrp="1"/>
          </p:cNvSpPr>
          <p:nvPr/>
        </p:nvSpPr>
        <p:spPr>
          <a:xfrm>
            <a:off x="933450" y="37719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Lesen digital boleh disemak melalui QR Code untuk mengesahkan status sah, tamat tempoh atau tidak berdaftar.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0B3579-665F-4096-B41D-ECDC57255476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62B029-D13E-4F71-A2C4-FEEA4F665386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66675" cy="11049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33C4D5-45A3-43C0-9907-8FD218080F83}"/>
              </a:ext>
            </a:extLst>
          </p:cNvPr>
          <p:cNvSpPr>
            <a:spLocks noGrp="1"/>
          </p:cNvSpPr>
          <p:nvPr/>
        </p:nvSpPr>
        <p:spPr>
          <a:xfrm>
            <a:off x="6496050" y="20955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Pemantauan dan penguatkuasaan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8CD668-AB47-4CDE-B27A-A1EB4B7DC84C}"/>
              </a:ext>
            </a:extLst>
          </p:cNvPr>
          <p:cNvSpPr>
            <a:spLocks noGrp="1"/>
          </p:cNvSpPr>
          <p:nvPr/>
        </p:nvSpPr>
        <p:spPr>
          <a:xfrm>
            <a:off x="6496050" y="2400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Pegawai boleh menyemak rekod lesen, status bayaran, tempoh sah dan keperluan tindakan susulan.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583D2A-0515-4B12-8F27-96D7996CBD6C}"/>
              </a:ext>
            </a:extLst>
          </p:cNvPr>
          <p:cNvSpPr>
            <a:spLocks noGrp="1"/>
          </p:cNvSpPr>
          <p:nvPr/>
        </p:nvSpPr>
        <p:spPr>
          <a:xfrm>
            <a:off x="6286500" y="33147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19DA05-4FAE-46CD-8EE9-3B72E3F168DA}"/>
              </a:ext>
            </a:extLst>
          </p:cNvPr>
          <p:cNvSpPr>
            <a:spLocks noGrp="1"/>
          </p:cNvSpPr>
          <p:nvPr/>
        </p:nvSpPr>
        <p:spPr>
          <a:xfrm>
            <a:off x="6286500" y="3314700"/>
            <a:ext cx="66675" cy="11049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12AC-CC0C-48CD-8309-FA9690E67312}"/>
              </a:ext>
            </a:extLst>
          </p:cNvPr>
          <p:cNvSpPr>
            <a:spLocks noGrp="1"/>
          </p:cNvSpPr>
          <p:nvPr/>
        </p:nvSpPr>
        <p:spPr>
          <a:xfrm>
            <a:off x="6496050" y="34671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7C3AED"/>
                </a:solidFill>
              </a:defRPr>
            </a:pPr>
            <a:r>
              <a:rPr sz="1500" b="1" i="0">
                <a:solidFill>
                  <a:srgbClr val="7C3AED"/>
                </a:solidFill>
              </a:rPr>
              <a:t>Dashboard dan pelaporan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55189B-18D7-4B45-ABE4-E9EFAE43A46F}"/>
              </a:ext>
            </a:extLst>
          </p:cNvPr>
          <p:cNvSpPr>
            <a:spLocks noGrp="1"/>
          </p:cNvSpPr>
          <p:nvPr/>
        </p:nvSpPr>
        <p:spPr>
          <a:xfrm>
            <a:off x="6496050" y="37719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Paparan jumlah permohonan, kadar kelulusan, purata tempoh proses, bottleneck jabatan dan pematuhan SLA.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C7A88A-262C-49A2-8807-C4CE712E6319}"/>
              </a:ext>
            </a:extLst>
          </p:cNvPr>
          <p:cNvSpPr>
            <a:spLocks noGrp="1"/>
          </p:cNvSpPr>
          <p:nvPr/>
        </p:nvSpPr>
        <p:spPr>
          <a:xfrm>
            <a:off x="1200150" y="51816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>
                <a:solidFill>
                  <a:srgbClr val="006B49"/>
                </a:solidFill>
              </a:rPr>
              <a:t>Modul akhir memastikan perjalanan pemohon ditutup dengan lesen digital yang boleh disahkan dan dipantau.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857D7-1BDF-418A-B6BD-340A92468DB9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5F04E4-BB6B-449D-90D2-0D31A262FAF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A4A5CD-5BF5-4604-AD4F-96CA3D38D5A2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83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A81A71A-500D-4FBE-A108-4E2D0AB02F2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D30484-191E-45AA-AC0E-BA064E47755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Deliverable Assignment Report: d. Laporan Akhir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B7EB24-5F26-49BF-8144-444924A0512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92D7B2-AB39-44A8-A16F-49959B3563B3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1CCA63-0639-4137-864C-1EE8D9821E11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Latar belakang dan penyataan masalah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B4D0A5-571A-478E-B8F6-436381CF3C5D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Menghuraikan keadaan proses manual, cabaran masa pemprosesan, kos operasi dan isu ketelusan status.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B99B9-11C0-4648-BCCD-3C154B2E9F5D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30403C-B570-42BD-BCFE-07BB16F0668B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Objektif dan kaedah pelaksanaan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BE089-3D1A-4FA0-A134-8C3952F5BD70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Menjelaskan pendekatan pembangunan sistem, reka bentuk workflow, modul, teknologi dan pengujian fungsi.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FF6DDB-EF13-4822-9985-E67989D3D881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875604-0009-42FA-8B42-609514BA5CF3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Hasil projek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758771-D4FE-4C1E-88B6-0436DB30BB4E}"/>
              </a:ext>
            </a:extLst>
          </p:cNvPr>
          <p:cNvSpPr>
            <a:spLocks noGrp="1"/>
          </p:cNvSpPr>
          <p:nvPr/>
        </p:nvSpPr>
        <p:spPr>
          <a:xfrm>
            <a:off x="1143000" y="3895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Merekodkan modul yang berjaya dibangunkan, paparan utama, aliran kelulusan dan output seperti bil, resit dan e-lesen.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B3251-6CA5-4397-9E34-14CBE74A102C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2BE830-6CD3-43D9-9461-CD9DAA045DDE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Impak projek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A04F1A-C6BA-4B24-A762-A89B79B852CD}"/>
              </a:ext>
            </a:extLst>
          </p:cNvPr>
          <p:cNvSpPr>
            <a:spLocks noGrp="1"/>
          </p:cNvSpPr>
          <p:nvPr/>
        </p:nvSpPr>
        <p:spPr>
          <a:xfrm>
            <a:off x="1143000" y="4772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Menganalisis potensi pengurangan tempoh pemprosesan, pengurangan dokumen fizikal dan penjimatan kos operasi.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F209C2-D7D7-48D6-8C13-5764FC0C3A1D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7BAFF9-1555-445E-800F-5B7439E2546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F72417-1817-4628-A899-E56E8AA0D00D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0224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5231DA-DCDA-4BA0-A0C6-99EC587866E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BAD07E-F5D7-4ED5-9A12-69D22F9474D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Deliverable Assignment Report: e. Pembentangan dan Demonstrasi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84799-3E9C-44FC-9452-D810BB11C260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2135392"/>
            <a:ext cx="4762500" cy="22633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5CBC1F-8D1E-4C71-B40F-166F7923726A}"/>
              </a:ext>
            </a:extLst>
          </p:cNvPr>
          <p:cNvSpPr>
            <a:spLocks noGrp="1"/>
          </p:cNvSpPr>
          <p:nvPr/>
        </p:nvSpPr>
        <p:spPr>
          <a:xfrm>
            <a:off x="781050" y="2028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0A2D5-5D06-40EE-BB88-7BB305863A70}"/>
              </a:ext>
            </a:extLst>
          </p:cNvPr>
          <p:cNvSpPr>
            <a:spLocks noGrp="1"/>
          </p:cNvSpPr>
          <p:nvPr/>
        </p:nvSpPr>
        <p:spPr>
          <a:xfrm>
            <a:off x="1009650" y="1943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Sesi pembentangan projek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762CB2-2327-4399-8F6F-AF7C239E9559}"/>
              </a:ext>
            </a:extLst>
          </p:cNvPr>
          <p:cNvSpPr>
            <a:spLocks noGrp="1"/>
          </p:cNvSpPr>
          <p:nvPr/>
        </p:nvSpPr>
        <p:spPr>
          <a:xfrm>
            <a:off x="1009650" y="22193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Menerangkan masalah, penyelesaian, reka bentuk sistem, modul yang dibangunkan dan impak operasi.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682470-47FC-4E2A-9FF6-D17871196D5A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A124C3-90FD-471A-BA9D-C5159DE7EB0B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Demo aliran penuh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535E1B-64DA-48A0-96AB-70EABE696279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Simulasi daripada daftar/log masuk, permohonan, saringan, semakan teknikal, kelulusan, bayaran hingga e-lesen.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AB847-FBDC-463C-9BBE-BC6741DF0FEB}"/>
              </a:ext>
            </a:extLst>
          </p:cNvPr>
          <p:cNvSpPr>
            <a:spLocks noGrp="1"/>
          </p:cNvSpPr>
          <p:nvPr/>
        </p:nvSpPr>
        <p:spPr>
          <a:xfrm>
            <a:off x="781050" y="36290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33FEF7-EA37-4A91-8C0A-79A9B9D93EE4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Demo peranan pengguna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A1EAB-0E59-4757-AC02-7AE4F90CD931}"/>
              </a:ext>
            </a:extLst>
          </p:cNvPr>
          <p:cNvSpPr>
            <a:spLocks noGrp="1"/>
          </p:cNvSpPr>
          <p:nvPr/>
        </p:nvSpPr>
        <p:spPr>
          <a:xfrm>
            <a:off x="1009650" y="38195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Paparan pemohon, unit teknikal, KB(LES), TP(RES)/PGH, MPHLG dan PT(IKL).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0FB9B-4A31-4429-A293-8EF64D83FCBB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27F334-B6BC-4F4D-92CE-8B2729957380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Bukti fungsi sistem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E4887C-4F24-4EA2-8F9B-949368E5F26E}"/>
              </a:ext>
            </a:extLst>
          </p:cNvPr>
          <p:cNvSpPr>
            <a:spLocks noGrp="1"/>
          </p:cNvSpPr>
          <p:nvPr/>
        </p:nvSpPr>
        <p:spPr>
          <a:xfrm>
            <a:off x="1009650" y="46196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Menunjukkan status, log keputusan, dokumen, notifikasi, dashboard dan QR e-lesen.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AF3AB1-7B60-4816-863C-D7474B8C45BF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F07A3A-284A-4FFB-819A-36CF8FC7DB8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CA88E-369B-487B-A366-DEC27F5C944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5784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8572A9-2426-41F5-BCDF-9040BCCDF1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PAPARAN SISTEM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F27B87-7A26-487A-8786-FA79F9F8A91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Contoh Visual Sistem ALiS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E2A0F-CF36-4E86-BCE4-79A9634A5F66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15287"/>
            <a:ext cx="5095875" cy="23607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00800" y="2100682"/>
            <a:ext cx="5095875" cy="23899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18628A-A022-40FE-86DB-3D9C9EF12459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1009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>
                <a:solidFill>
                  <a:srgbClr val="006B49"/>
                </a:solidFill>
              </a:rPr>
              <a:t>Contoh paparan menunjukkan senarai permohonan, status, task queue, log keputusan dan tindakan approval yang digunakan oleh pegawai.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DCC74-B1F6-4D5A-92B8-7486526E9FA9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6C75B3-F15B-4D67-BCE5-9C6A43C9424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E63D9-3104-4E3C-9EF9-DAEC5BCFE40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49380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4F9EF5-AA7B-4D0F-9504-2C329F59EF1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KESIMPULAN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A535D7-0A9D-4468-9E6D-A5916259393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Impak Projek dan Penutup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8F24DE-8860-466A-A389-DF1D0D611BBB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1950229"/>
            <a:ext cx="3429000" cy="1871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30FF05-3C25-42DE-942A-BDF1285B16CF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0D0A5-765F-49A1-80AB-66AD7EB2BA17}"/>
              </a:ext>
            </a:extLst>
          </p:cNvPr>
          <p:cNvSpPr>
            <a:spLocks noGrp="1"/>
          </p:cNvSpPr>
          <p:nvPr/>
        </p:nvSpPr>
        <p:spPr>
          <a:xfrm>
            <a:off x="1104900" y="19431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Mengurangkan proses manual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E3431-7473-4EF0-A03C-671C2F4B8CBC}"/>
              </a:ext>
            </a:extLst>
          </p:cNvPr>
          <p:cNvSpPr>
            <a:spLocks noGrp="1"/>
          </p:cNvSpPr>
          <p:nvPr/>
        </p:nvSpPr>
        <p:spPr>
          <a:xfrm>
            <a:off x="1104900" y="22193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 fizikal dan pergerakan fail dikurangkan melalui borang, dokumen dan keputusan digital.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978FC5-A728-4B4A-A55D-ED19D9A6E9FA}"/>
              </a:ext>
            </a:extLst>
          </p:cNvPr>
          <p:cNvSpPr>
            <a:spLocks noGrp="1"/>
          </p:cNvSpPr>
          <p:nvPr/>
        </p:nvSpPr>
        <p:spPr>
          <a:xfrm>
            <a:off x="876300" y="2809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9FB7B3-D687-4D79-8C4F-196B3FC747CD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Mempercepatkan semakan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B85A10-8141-492C-9DAB-BC21D84B9C73}"/>
              </a:ext>
            </a:extLst>
          </p:cNvPr>
          <p:cNvSpPr>
            <a:spLocks noGrp="1"/>
          </p:cNvSpPr>
          <p:nvPr/>
        </p:nvSpPr>
        <p:spPr>
          <a:xfrm>
            <a:off x="1104900" y="300037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Semakan teknikal secara selari mengurangkan masa menunggu antara jabatan.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BB429F-C700-486A-9D95-51EC265C37BD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435D6C-01AE-4825-AD69-6777ED21653C}"/>
              </a:ext>
            </a:extLst>
          </p:cNvPr>
          <p:cNvSpPr>
            <a:spLocks noGrp="1"/>
          </p:cNvSpPr>
          <p:nvPr/>
        </p:nvSpPr>
        <p:spPr>
          <a:xfrm>
            <a:off x="1104900" y="35052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Meningkatkan ketelusan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D136F-E669-4EFE-AEE5-8C20874FC0AF}"/>
              </a:ext>
            </a:extLst>
          </p:cNvPr>
          <p:cNvSpPr>
            <a:spLocks noGrp="1"/>
          </p:cNvSpPr>
          <p:nvPr/>
        </p:nvSpPr>
        <p:spPr>
          <a:xfrm>
            <a:off x="1104900" y="37814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Status, log tindakan, notifikasi dan keputusan boleh dijejak oleh pihak berkaitan.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0D6776-B4DC-4DF8-9CF1-966C3BD08A6B}"/>
              </a:ext>
            </a:extLst>
          </p:cNvPr>
          <p:cNvSpPr>
            <a:spLocks noGrp="1"/>
          </p:cNvSpPr>
          <p:nvPr/>
        </p:nvSpPr>
        <p:spPr>
          <a:xfrm>
            <a:off x="876300" y="43719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608D27-F90C-4086-9BEA-257AFF845AB3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Menyokong penguatkuasaan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6AEE0-9BE7-40A8-A24C-E91866111C30}"/>
              </a:ext>
            </a:extLst>
          </p:cNvPr>
          <p:cNvSpPr>
            <a:spLocks noGrp="1"/>
          </p:cNvSpPr>
          <p:nvPr/>
        </p:nvSpPr>
        <p:spPr>
          <a:xfrm>
            <a:off x="1104900" y="456247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Lesen digital dan QR Code memudahkan semakan status lesen di lapangan.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8E258E-4388-4E0E-B0AB-1533AE83069C}"/>
              </a:ext>
            </a:extLst>
          </p:cNvPr>
          <p:cNvSpPr>
            <a:spLocks noGrp="1"/>
          </p:cNvSpPr>
          <p:nvPr/>
        </p:nvSpPr>
        <p:spPr>
          <a:xfrm>
            <a:off x="6781800" y="43434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071527"/>
                </a:solidFill>
              </a:defRPr>
            </a:pPr>
            <a:r>
              <a:rPr sz="1875" b="1" i="0">
                <a:solidFill>
                  <a:srgbClr val="071527"/>
                </a:solidFill>
              </a:rPr>
              <a:t>ALiS menyediakan asas sistem bersepadu untuk mempercepatkan perkhidmatan Lesen Iklan serta meningkatkan akauntabiliti operasi DBKU.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8361CA-737D-45BE-ADAC-B7DA351CCAA2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E77634-B15F-4CF1-B58D-D22082DB98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E7BE94-40C0-4D5A-99C4-7F35D540740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487218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1483</Words>
  <Application>Microsoft Office PowerPoint</Application>
  <DocSecurity>0</DocSecurity>
  <PresentationFormat>Widescreen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7</cp:revision>
  <dcterms:created xsi:type="dcterms:W3CDTF">2026-06-30T06:06:22Z</dcterms:created>
  <dcterms:modified xsi:type="dcterms:W3CDTF">2026-06-30T06:40:41Z</dcterms:modified>
</cp:coreProperties>
</file>