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FD100A-A2AB-9E88-D306-45D98B759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753350" y="1069725"/>
            <a:ext cx="3905250" cy="2131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4CFC8AE-2A21-46BC-D16A-DACB3A95EB08}"/>
              </a:ext>
            </a:extLst>
          </p:cNvPr>
          <p:cNvSpPr>
            <a:spLocks noGrp="1"/>
          </p:cNvSpPr>
          <p:nvPr/>
        </p:nvSpPr>
        <p:spPr>
          <a:xfrm>
            <a:off x="704850" y="175260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 i="0">
                <a:solidFill>
                  <a:srgbClr val="006B49"/>
                </a:solidFill>
              </a:defRPr>
            </a:pPr>
            <a:r>
              <a:rPr sz="3750" b="1" i="0">
                <a:solidFill>
                  <a:srgbClr val="006B49"/>
                </a:solidFill>
              </a:rPr>
              <a:t>Laporan Sistem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6FD9B5-31B2-CECB-C719-F3B6591AE4AC}"/>
              </a:ext>
            </a:extLst>
          </p:cNvPr>
          <p:cNvSpPr>
            <a:spLocks noGrp="1"/>
          </p:cNvSpPr>
          <p:nvPr/>
        </p:nvSpPr>
        <p:spPr>
          <a:xfrm>
            <a:off x="704850" y="2400300"/>
            <a:ext cx="68580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 i="0">
                <a:solidFill>
                  <a:srgbClr val="071527"/>
                </a:solidFill>
              </a:defRPr>
            </a:pPr>
            <a:r>
              <a:rPr sz="3150" b="1" i="0">
                <a:solidFill>
                  <a:srgbClr val="071527"/>
                </a:solidFill>
              </a:rPr>
              <a:t>Pendigitalan Permohonan Lesen Iklan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4D3C51-C2D6-E592-5900-E87DC6078C01}"/>
              </a:ext>
            </a:extLst>
          </p:cNvPr>
          <p:cNvSpPr>
            <a:spLocks noGrp="1"/>
          </p:cNvSpPr>
          <p:nvPr/>
        </p:nvSpPr>
        <p:spPr>
          <a:xfrm>
            <a:off x="742950" y="3562350"/>
            <a:ext cx="619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0" i="0">
                <a:solidFill>
                  <a:srgbClr val="4F627A"/>
                </a:solidFill>
              </a:defRPr>
            </a:pPr>
            <a:r>
              <a:rPr sz="1725" b="0" i="0">
                <a:solidFill>
                  <a:srgbClr val="4F627A"/>
                </a:solidFill>
              </a:rPr>
              <a:t>Sistem ALiS untuk permohonan, semakan teknikal, kelulusan digital, bayaran dan pengeluaran lesen iklan secara dalam talian.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7AE7F0-CC85-597D-3DD9-B51B3A81D8CB}"/>
              </a:ext>
            </a:extLst>
          </p:cNvPr>
          <p:cNvSpPr>
            <a:spLocks noGrp="1"/>
          </p:cNvSpPr>
          <p:nvPr/>
        </p:nvSpPr>
        <p:spPr>
          <a:xfrm>
            <a:off x="742950" y="4905375"/>
            <a:ext cx="3333750" cy="457200"/>
          </a:xfrm>
          <a:prstGeom prst="roundRect">
            <a:avLst>
              <a:gd name="adj" fmla="val 16667"/>
            </a:avLst>
          </a:prstGeom>
          <a:solidFill>
            <a:srgbClr val="E9F8F1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1416B0-97EF-8854-BB6A-D022AF7C3E9A}"/>
              </a:ext>
            </a:extLst>
          </p:cNvPr>
          <p:cNvSpPr>
            <a:spLocks noGrp="1"/>
          </p:cNvSpPr>
          <p:nvPr/>
        </p:nvSpPr>
        <p:spPr>
          <a:xfrm>
            <a:off x="933450" y="503872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 i="0">
                <a:solidFill>
                  <a:srgbClr val="006B49"/>
                </a:solidFill>
              </a:defRPr>
            </a:pPr>
            <a:r>
              <a:rPr sz="1275" b="1" i="0">
                <a:solidFill>
                  <a:srgbClr val="006B49"/>
                </a:solidFill>
              </a:rPr>
              <a:t>Projek RKB | Bahagian Pelesenan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A0CD9C-8E70-276C-AAB8-494F24140AC5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1B0B5A-CEA1-EFAE-E354-069AAE67C3F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 dirty="0" err="1">
                <a:solidFill>
                  <a:srgbClr val="4F627A"/>
                </a:solidFill>
              </a:rPr>
              <a:t>Pendigitalan</a:t>
            </a:r>
            <a:r>
              <a:rPr sz="975" b="0" i="0" dirty="0">
                <a:solidFill>
                  <a:srgbClr val="4F627A"/>
                </a:solidFill>
              </a:rPr>
              <a:t> </a:t>
            </a:r>
            <a:r>
              <a:rPr sz="975" b="0" i="0" dirty="0" err="1">
                <a:solidFill>
                  <a:srgbClr val="4F627A"/>
                </a:solidFill>
              </a:rPr>
              <a:t>Permohonan</a:t>
            </a:r>
            <a:r>
              <a:rPr sz="975" b="0" i="0" dirty="0">
                <a:solidFill>
                  <a:srgbClr val="4F627A"/>
                </a:solidFill>
              </a:rPr>
              <a:t> </a:t>
            </a:r>
            <a:r>
              <a:rPr sz="975" b="0" i="0" dirty="0" err="1">
                <a:solidFill>
                  <a:srgbClr val="4F627A"/>
                </a:solidFill>
              </a:rPr>
              <a:t>Lesen</a:t>
            </a:r>
            <a:r>
              <a:rPr sz="975" b="0" i="0" dirty="0">
                <a:solidFill>
                  <a:srgbClr val="4F627A"/>
                </a:solidFill>
              </a:rPr>
              <a:t> </a:t>
            </a:r>
            <a:r>
              <a:rPr sz="975" b="0" i="0" dirty="0" err="1">
                <a:solidFill>
                  <a:srgbClr val="4F627A"/>
                </a:solidFill>
              </a:rPr>
              <a:t>Iklan</a:t>
            </a:r>
            <a:r>
              <a:rPr sz="975" b="0" i="0" dirty="0">
                <a:solidFill>
                  <a:srgbClr val="4F627A"/>
                </a:solidFill>
              </a:rPr>
              <a:t> | </a:t>
            </a:r>
            <a:r>
              <a:rPr sz="975" b="0" i="0" dirty="0" err="1">
                <a:solidFill>
                  <a:srgbClr val="4F627A"/>
                </a:solidFill>
              </a:rPr>
              <a:t>ALiS</a:t>
            </a:r>
            <a:endParaRPr sz="975" b="0" i="0" dirty="0">
              <a:solidFill>
                <a:srgbClr val="4F627A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AA7824-B059-4465-A764-CCA4ABABCF68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01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CB4A747-EEAD-24DA-3713-48A66B60D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655" y="3595832"/>
            <a:ext cx="4446639" cy="250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4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55345B9-1572-41BE-8BAF-5C307C8DD62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PROJECT BRIEF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8F2E19-A6A4-49A8-83B1-2460B3C41A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Project Brief / Ringkasan Projek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0A44E0-0495-47A1-9CA2-6ABD0B83E4E2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640901-0981-4B49-91FF-EABB394AB1E4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9FE3DE-D519-47CE-B9BD-F3BBE484746F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66675" cy="135255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8EC0E6-0658-4CAD-8D91-AA73236E2AE5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Latar belakang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6C90C6-EA54-4F77-979A-E59AD143BAB4}"/>
              </a:ext>
            </a:extLst>
          </p:cNvPr>
          <p:cNvSpPr>
            <a:spLocks noGrp="1"/>
          </p:cNvSpPr>
          <p:nvPr/>
        </p:nvSpPr>
        <p:spPr>
          <a:xfrm>
            <a:off x="933450" y="234315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 dirty="0">
                <a:solidFill>
                  <a:srgbClr val="4F627A"/>
                </a:solidFill>
              </a:rPr>
              <a:t>Proses </a:t>
            </a:r>
            <a:r>
              <a:rPr sz="1200" b="0" i="0" dirty="0" err="1">
                <a:solidFill>
                  <a:srgbClr val="4F627A"/>
                </a:solidFill>
              </a:rPr>
              <a:t>permohonan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Lesen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Iklan</a:t>
            </a:r>
            <a:r>
              <a:rPr sz="1200" b="0" i="0" dirty="0">
                <a:solidFill>
                  <a:srgbClr val="4F627A"/>
                </a:solidFill>
              </a:rPr>
              <a:t> yang </a:t>
            </a:r>
            <a:r>
              <a:rPr sz="1200" b="0" i="0" dirty="0" err="1">
                <a:solidFill>
                  <a:srgbClr val="4F627A"/>
                </a:solidFill>
              </a:rPr>
              <a:t>melibatkan</a:t>
            </a:r>
            <a:r>
              <a:rPr sz="1200" b="0" i="0" dirty="0">
                <a:solidFill>
                  <a:srgbClr val="4F627A"/>
                </a:solidFill>
              </a:rPr>
              <a:t> MPHLG </a:t>
            </a:r>
            <a:r>
              <a:rPr sz="1200" b="0" i="0" dirty="0" err="1">
                <a:solidFill>
                  <a:srgbClr val="4F627A"/>
                </a:solidFill>
              </a:rPr>
              <a:t>sebelum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ini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banyak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bergantung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kepada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dokumen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fizikal</a:t>
            </a:r>
            <a:r>
              <a:rPr sz="1200" b="0" i="0" dirty="0">
                <a:solidFill>
                  <a:srgbClr val="4F627A"/>
                </a:solidFill>
              </a:rPr>
              <a:t>, </a:t>
            </a:r>
            <a:r>
              <a:rPr sz="1200" b="0" i="0" dirty="0" err="1">
                <a:solidFill>
                  <a:srgbClr val="4F627A"/>
                </a:solidFill>
              </a:rPr>
              <a:t>semakan</a:t>
            </a:r>
            <a:r>
              <a:rPr sz="1200" b="0" i="0" dirty="0">
                <a:solidFill>
                  <a:srgbClr val="4F627A"/>
                </a:solidFill>
              </a:rPr>
              <a:t> manual dan </a:t>
            </a:r>
            <a:r>
              <a:rPr sz="1200" b="0" i="0" dirty="0" err="1">
                <a:solidFill>
                  <a:srgbClr val="4F627A"/>
                </a:solidFill>
              </a:rPr>
              <a:t>pergerakan</a:t>
            </a:r>
            <a:r>
              <a:rPr sz="1200" b="0" i="0" dirty="0">
                <a:solidFill>
                  <a:srgbClr val="4F627A"/>
                </a:solidFill>
              </a:rPr>
              <a:t> fail </a:t>
            </a:r>
            <a:r>
              <a:rPr sz="1200" b="0" i="0" dirty="0" err="1">
                <a:solidFill>
                  <a:srgbClr val="4F627A"/>
                </a:solidFill>
              </a:rPr>
              <a:t>antara</a:t>
            </a:r>
            <a:r>
              <a:rPr sz="1200" b="0" i="0" dirty="0">
                <a:solidFill>
                  <a:srgbClr val="4F627A"/>
                </a:solidFill>
              </a:rPr>
              <a:t> </a:t>
            </a:r>
            <a:r>
              <a:rPr sz="1200" b="0" i="0" dirty="0" err="1">
                <a:solidFill>
                  <a:srgbClr val="4F627A"/>
                </a:solidFill>
              </a:rPr>
              <a:t>pihak</a:t>
            </a:r>
            <a:r>
              <a:rPr sz="1200" b="0" i="0" dirty="0">
                <a:solidFill>
                  <a:srgbClr val="4F627A"/>
                </a:solidFill>
              </a:rPr>
              <a:t>.</a:t>
            </a:r>
            <a:r>
              <a:rPr lang="en-MY" sz="1200" b="0" i="0" dirty="0">
                <a:solidFill>
                  <a:srgbClr val="4F627A"/>
                </a:solidFill>
              </a:rPr>
              <a:t> </a:t>
            </a:r>
            <a:r>
              <a:rPr lang="en-MY" sz="1200" dirty="0" err="1"/>
              <a:t>Pemohon</a:t>
            </a:r>
            <a:r>
              <a:rPr lang="en-MY" sz="1200" dirty="0"/>
              <a:t> juga </a:t>
            </a:r>
            <a:r>
              <a:rPr lang="en-MY" sz="1200" dirty="0" err="1"/>
              <a:t>berdepan</a:t>
            </a:r>
            <a:r>
              <a:rPr lang="en-MY" sz="1200" dirty="0"/>
              <a:t> </a:t>
            </a:r>
            <a:r>
              <a:rPr lang="en-MY" sz="1200" dirty="0" err="1"/>
              <a:t>kesukaran</a:t>
            </a:r>
            <a:r>
              <a:rPr lang="en-MY" sz="1200" dirty="0"/>
              <a:t> </a:t>
            </a:r>
            <a:r>
              <a:rPr lang="en-MY" sz="1200" dirty="0" err="1"/>
              <a:t>untuk</a:t>
            </a:r>
            <a:r>
              <a:rPr lang="en-MY" sz="1200" dirty="0"/>
              <a:t> </a:t>
            </a:r>
            <a:r>
              <a:rPr lang="en-MY" sz="1200" dirty="0" err="1"/>
              <a:t>menjejak</a:t>
            </a:r>
            <a:r>
              <a:rPr lang="en-MY" sz="1200" dirty="0"/>
              <a:t> status </a:t>
            </a:r>
            <a:r>
              <a:rPr lang="en-MY" sz="1200" dirty="0" err="1"/>
              <a:t>permohonan</a:t>
            </a:r>
            <a:r>
              <a:rPr lang="en-MY" sz="1200" dirty="0"/>
              <a:t> </a:t>
            </a:r>
            <a:r>
              <a:rPr lang="en-MY" sz="1200" dirty="0" err="1"/>
              <a:t>secara</a:t>
            </a:r>
            <a:r>
              <a:rPr lang="en-MY" sz="1200" dirty="0"/>
              <a:t> masa </a:t>
            </a:r>
            <a:r>
              <a:rPr lang="en-MY" sz="1200" dirty="0" err="1"/>
              <a:t>nyata</a:t>
            </a:r>
            <a:r>
              <a:rPr lang="en-MY" sz="1200" dirty="0"/>
              <a:t>.</a:t>
            </a:r>
            <a:endParaRPr sz="1200" b="0" i="0" dirty="0">
              <a:solidFill>
                <a:srgbClr val="4F627A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B8B5BC-12D4-4D23-BEFC-CE0C395B524B}"/>
              </a:ext>
            </a:extLst>
          </p:cNvPr>
          <p:cNvSpPr>
            <a:spLocks noGrp="1"/>
          </p:cNvSpPr>
          <p:nvPr/>
        </p:nvSpPr>
        <p:spPr>
          <a:xfrm>
            <a:off x="6286500" y="188595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CC2807-F79A-4D62-AF4E-8DEBB237096F}"/>
              </a:ext>
            </a:extLst>
          </p:cNvPr>
          <p:cNvSpPr>
            <a:spLocks noGrp="1"/>
          </p:cNvSpPr>
          <p:nvPr/>
        </p:nvSpPr>
        <p:spPr>
          <a:xfrm>
            <a:off x="6286500" y="1885950"/>
            <a:ext cx="66675" cy="13525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6D4ED8-8BD8-455E-8114-07044DBDFED2}"/>
              </a:ext>
            </a:extLst>
          </p:cNvPr>
          <p:cNvSpPr>
            <a:spLocks noGrp="1"/>
          </p:cNvSpPr>
          <p:nvPr/>
        </p:nvSpPr>
        <p:spPr>
          <a:xfrm>
            <a:off x="6496050" y="203835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D97706"/>
                </a:solidFill>
              </a:defRPr>
            </a:pPr>
            <a:r>
              <a:rPr sz="1500" b="1" i="0">
                <a:solidFill>
                  <a:srgbClr val="D97706"/>
                </a:solidFill>
              </a:rPr>
              <a:t>Isu utama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A37538-FBCA-4CE6-B171-8F3C9DDEF261}"/>
              </a:ext>
            </a:extLst>
          </p:cNvPr>
          <p:cNvSpPr>
            <a:spLocks noGrp="1"/>
          </p:cNvSpPr>
          <p:nvPr/>
        </p:nvSpPr>
        <p:spPr>
          <a:xfrm>
            <a:off x="6496050" y="234315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Tempoh pemprosesan panjang, sukar menjejak status secara masa nyata, pertindihan semakan dan kekurangan platform berpusat untuk perkongsian maklumat.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A1ED69-0244-4D24-B49B-013485C54655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600FA8-61ED-46CE-A990-F48724F2A279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66675" cy="135255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B4BE79-FBB6-4CA1-88ED-498A16830188}"/>
              </a:ext>
            </a:extLst>
          </p:cNvPr>
          <p:cNvSpPr>
            <a:spLocks noGrp="1"/>
          </p:cNvSpPr>
          <p:nvPr/>
        </p:nvSpPr>
        <p:spPr>
          <a:xfrm>
            <a:off x="933450" y="38100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Cadangan penyelesaian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8DC77C-8902-4EC8-B550-5A6D3792FBB4}"/>
              </a:ext>
            </a:extLst>
          </p:cNvPr>
          <p:cNvSpPr>
            <a:spLocks noGrp="1"/>
          </p:cNvSpPr>
          <p:nvPr/>
        </p:nvSpPr>
        <p:spPr>
          <a:xfrm>
            <a:off x="933450" y="411480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Membangunkan sistem ALiS sebagai platform bersepadu untuk permohonan, dokumen sokongan, saringan, semakan teknikal, kelulusan dan lesen digital.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61F4CF-1C01-4784-B331-A78F8BDE7C5C}"/>
              </a:ext>
            </a:extLst>
          </p:cNvPr>
          <p:cNvSpPr>
            <a:spLocks noGrp="1"/>
          </p:cNvSpPr>
          <p:nvPr/>
        </p:nvSpPr>
        <p:spPr>
          <a:xfrm>
            <a:off x="6286500" y="3657600"/>
            <a:ext cx="495300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9B785B-5AA1-43FA-B17B-6729C9C159A3}"/>
              </a:ext>
            </a:extLst>
          </p:cNvPr>
          <p:cNvSpPr>
            <a:spLocks noGrp="1"/>
          </p:cNvSpPr>
          <p:nvPr/>
        </p:nvSpPr>
        <p:spPr>
          <a:xfrm>
            <a:off x="6286500" y="3657600"/>
            <a:ext cx="66675" cy="135255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237024-A3F4-4DDD-8A3F-26ADD9552118}"/>
              </a:ext>
            </a:extLst>
          </p:cNvPr>
          <p:cNvSpPr>
            <a:spLocks noGrp="1"/>
          </p:cNvSpPr>
          <p:nvPr/>
        </p:nvSpPr>
        <p:spPr>
          <a:xfrm>
            <a:off x="6496050" y="38100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7C3AED"/>
                </a:solidFill>
              </a:defRPr>
            </a:pPr>
            <a:r>
              <a:rPr sz="1500" b="1" i="0">
                <a:solidFill>
                  <a:srgbClr val="7C3AED"/>
                </a:solidFill>
              </a:rPr>
              <a:t>Hasil yang disasar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53D4E9-69D4-4324-BDED-8ACD80AFCBA5}"/>
              </a:ext>
            </a:extLst>
          </p:cNvPr>
          <p:cNvSpPr>
            <a:spLocks noGrp="1"/>
          </p:cNvSpPr>
          <p:nvPr/>
        </p:nvSpPr>
        <p:spPr>
          <a:xfrm>
            <a:off x="6496050" y="4114800"/>
            <a:ext cx="45339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Mengurangkan tempoh pemprosesan dan kos operasi serta meningkatkan kecekapan, ketelusan dan akauntabiliti perkhidmatan.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56965D-5B44-422D-AAC0-A52C1EFFBA18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40BBDC-87C4-45EC-812F-3A31126543C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23FEC0-4C3D-4DBA-8C30-F402326789F7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5961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F74CC85-DDB3-456E-A824-3F9579A118E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OBJEKTIF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E0D03E-64EF-4E57-BA3B-CAD7717B4F1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Objective System / Objektif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3E168A-AA84-4AAA-83E1-FF28640FC6FC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742886-CE56-4F31-9B84-098EA8A5E39D}"/>
              </a:ext>
            </a:extLst>
          </p:cNvPr>
          <p:cNvSpPr>
            <a:spLocks noGrp="1"/>
          </p:cNvSpPr>
          <p:nvPr/>
        </p:nvSpPr>
        <p:spPr>
          <a:xfrm>
            <a:off x="876300" y="18954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858BB-9281-4603-9240-5C18E94E3DE3}"/>
              </a:ext>
            </a:extLst>
          </p:cNvPr>
          <p:cNvSpPr>
            <a:spLocks noGrp="1"/>
          </p:cNvSpPr>
          <p:nvPr/>
        </p:nvSpPr>
        <p:spPr>
          <a:xfrm>
            <a:off x="1104900" y="18097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Permohonan Lesen Iklan dalam talian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45EA95-60E0-4605-9B42-EBA0BA3E8C1E}"/>
              </a:ext>
            </a:extLst>
          </p:cNvPr>
          <p:cNvSpPr>
            <a:spLocks noGrp="1"/>
          </p:cNvSpPr>
          <p:nvPr/>
        </p:nvSpPr>
        <p:spPr>
          <a:xfrm>
            <a:off x="1104900" y="20859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Pemohon boleh mengisi borang, menghantar maklumat dan memuat naik dokumen sokongan tanpa hadir secara fizikal.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00D439-3C7A-481C-9B6D-A7C0BDA7978B}"/>
              </a:ext>
            </a:extLst>
          </p:cNvPr>
          <p:cNvSpPr>
            <a:spLocks noGrp="1"/>
          </p:cNvSpPr>
          <p:nvPr/>
        </p:nvSpPr>
        <p:spPr>
          <a:xfrm>
            <a:off x="876300" y="26765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B17288-FBA0-4BB8-999C-8BC53C2DE687}"/>
              </a:ext>
            </a:extLst>
          </p:cNvPr>
          <p:cNvSpPr>
            <a:spLocks noGrp="1"/>
          </p:cNvSpPr>
          <p:nvPr/>
        </p:nvSpPr>
        <p:spPr>
          <a:xfrm>
            <a:off x="1104900" y="25908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Akses selamat mengikut peranan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76C15-3CD6-4961-BA57-77AF5FBD01FC}"/>
              </a:ext>
            </a:extLst>
          </p:cNvPr>
          <p:cNvSpPr>
            <a:spLocks noGrp="1"/>
          </p:cNvSpPr>
          <p:nvPr/>
        </p:nvSpPr>
        <p:spPr>
          <a:xfrm>
            <a:off x="1104900" y="28670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Pemohon, pegawai DBKU dan agensi teknikal mempunyai paparan serta tindakan berdasarkan role masing-masing.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C82A51-4823-4827-AE4F-4A84B613025B}"/>
              </a:ext>
            </a:extLst>
          </p:cNvPr>
          <p:cNvSpPr>
            <a:spLocks noGrp="1"/>
          </p:cNvSpPr>
          <p:nvPr/>
        </p:nvSpPr>
        <p:spPr>
          <a:xfrm>
            <a:off x="876300" y="34575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F09B16-510C-4D24-85C5-15CD5C5C5A25}"/>
              </a:ext>
            </a:extLst>
          </p:cNvPr>
          <p:cNvSpPr>
            <a:spLocks noGrp="1"/>
          </p:cNvSpPr>
          <p:nvPr/>
        </p:nvSpPr>
        <p:spPr>
          <a:xfrm>
            <a:off x="1104900" y="33718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Semakan dan ulasan teknikal digital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603AE-6746-4FFF-9314-B4173F0B0CAA}"/>
              </a:ext>
            </a:extLst>
          </p:cNvPr>
          <p:cNvSpPr>
            <a:spLocks noGrp="1"/>
          </p:cNvSpPr>
          <p:nvPr/>
        </p:nvSpPr>
        <p:spPr>
          <a:xfrm>
            <a:off x="1104900" y="36480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Unit dan bahagian berkaitan boleh memberi sokongan, syarat atau penolakan terus dalam sistem.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7B2D14-960B-4FFD-B254-4E6F88B05358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EEB93E-6BA2-4E89-A38F-1BF70CF9E212}"/>
              </a:ext>
            </a:extLst>
          </p:cNvPr>
          <p:cNvSpPr>
            <a:spLocks noGrp="1"/>
          </p:cNvSpPr>
          <p:nvPr/>
        </p:nvSpPr>
        <p:spPr>
          <a:xfrm>
            <a:off x="1104900" y="41529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Penjejakan status masa nyata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684123-490E-465A-8659-6EFE79D598A7}"/>
              </a:ext>
            </a:extLst>
          </p:cNvPr>
          <p:cNvSpPr>
            <a:spLocks noGrp="1"/>
          </p:cNvSpPr>
          <p:nvPr/>
        </p:nvSpPr>
        <p:spPr>
          <a:xfrm>
            <a:off x="1104900" y="442912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Pemohon dan pegawai boleh melihat status, tindakan semasa, notifikasi dan rekod keputusan.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CE4A4B-90D7-4189-907A-7AB271B2E9E9}"/>
              </a:ext>
            </a:extLst>
          </p:cNvPr>
          <p:cNvSpPr>
            <a:spLocks noGrp="1"/>
          </p:cNvSpPr>
          <p:nvPr/>
        </p:nvSpPr>
        <p:spPr>
          <a:xfrm>
            <a:off x="876300" y="50196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D8C851-58D8-4068-A1BE-A8FA71429381}"/>
              </a:ext>
            </a:extLst>
          </p:cNvPr>
          <p:cNvSpPr>
            <a:spLocks noGrp="1"/>
          </p:cNvSpPr>
          <p:nvPr/>
        </p:nvSpPr>
        <p:spPr>
          <a:xfrm>
            <a:off x="1104900" y="493395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Pangkalan data dan pelaporan berpusat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567E98E-EC77-43BC-AA98-09607B0BF8C0}"/>
              </a:ext>
            </a:extLst>
          </p:cNvPr>
          <p:cNvSpPr>
            <a:spLocks noGrp="1"/>
          </p:cNvSpPr>
          <p:nvPr/>
        </p:nvSpPr>
        <p:spPr>
          <a:xfrm>
            <a:off x="1104900" y="5210175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Rekod permohonan, dokumen, keputusan dan prestasi pemprosesan disimpan untuk rujukan serta audit.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3F668-130B-4548-82A7-790FEA64C08C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D0E713-95EE-4443-829C-CA632C9F287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744F6-3394-4730-A91D-F13CE4649F38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0257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42DA2FF-C616-49E5-8938-7758B425599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DOKUMENTASI SISTEM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4DC270-4AED-4E90-994F-35CB5F8781A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Huraian Dokumentasi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FC61C-C76D-4F92-A9B7-FFCBC82871B4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406E3-F3BC-408B-828F-F3E6DDF7E294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043A7-C21C-4294-9978-883620EC7C53}"/>
              </a:ext>
            </a:extLst>
          </p:cNvPr>
          <p:cNvSpPr>
            <a:spLocks noGrp="1"/>
          </p:cNvSpPr>
          <p:nvPr/>
        </p:nvSpPr>
        <p:spPr>
          <a:xfrm>
            <a:off x="1143000" y="18669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Reka bentuk sistem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13BEE6-48BC-430A-8597-98E4151F8B61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Dokumentasi sistem menerangkan tujuan ALiS, peranan pengguna, proses utama dan logik operasi yang menyokong permohonan Lesen Iklan.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936015-9C22-460E-B6FE-A24708212A8E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B72D8-DAA5-431F-ACAD-FE3BF9DE47F0}"/>
              </a:ext>
            </a:extLst>
          </p:cNvPr>
          <p:cNvSpPr>
            <a:spLocks noGrp="1"/>
          </p:cNvSpPr>
          <p:nvPr/>
        </p:nvSpPr>
        <p:spPr>
          <a:xfrm>
            <a:off x="1143000" y="2743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Aliran proses Lesen Iklan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2D4D9C-D1EE-4CEE-9FD7-ACC1051F7ADE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Aliran kerja dihuraikan daripada pendaftaran, permohonan, saringan, semakan teknikal, kelulusan, bayaran hingga pengeluaran lesen digital.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C5FC6A-C723-4CAA-823E-CAC63F9CF59C}"/>
              </a:ext>
            </a:extLst>
          </p:cNvPr>
          <p:cNvSpPr>
            <a:spLocks noGrp="1"/>
          </p:cNvSpPr>
          <p:nvPr/>
        </p:nvSpPr>
        <p:spPr>
          <a:xfrm>
            <a:off x="914400" y="37052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F276D0-73E6-4ADF-B61C-84987F9FA04A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Seni bina sistem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293167-E8A4-4776-A529-49A6A96EF53E}"/>
              </a:ext>
            </a:extLst>
          </p:cNvPr>
          <p:cNvSpPr>
            <a:spLocks noGrp="1"/>
          </p:cNvSpPr>
          <p:nvPr/>
        </p:nvSpPr>
        <p:spPr>
          <a:xfrm>
            <a:off x="1143000" y="38957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Dokumentasi turut menjelaskan hubungan antara frontend, backend API, pangkalan data, media/dokumen dan perkhidmatan notifikasi.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6DF779-F481-447B-AB80-93717246AD53}"/>
              </a:ext>
            </a:extLst>
          </p:cNvPr>
          <p:cNvSpPr>
            <a:spLocks noGrp="1"/>
          </p:cNvSpPr>
          <p:nvPr/>
        </p:nvSpPr>
        <p:spPr>
          <a:xfrm>
            <a:off x="914400" y="45815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F97536-E026-49BF-9803-546A6BEAE9E2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Penerangan modul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AAAA5-B78E-4886-8F49-7317A750CC3E}"/>
              </a:ext>
            </a:extLst>
          </p:cNvPr>
          <p:cNvSpPr>
            <a:spLocks noGrp="1"/>
          </p:cNvSpPr>
          <p:nvPr/>
        </p:nvSpPr>
        <p:spPr>
          <a:xfrm>
            <a:off x="1143000" y="47720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Setiap modul dihuraikan dari aspek fungsi, input, output, pihak bertanggungjawab dan rekod yang dijana oleh sistem.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0BD1C1-7798-4CBA-9B71-83AC69F90BF5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AFA7AF-33F9-4ECA-BA9A-44BE4F82809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A2C44D-CDEE-4465-8EF3-FD838D5E1415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3132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73086B5-3A0D-46F4-9F48-83C3E4152B4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SKOP SISTEM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3AF44B-B4A7-44A6-8F94-404F03C8D83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Skop Pengguna dan Peranan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4CA70D-BA83-4780-980B-1BE35E776113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59A6BB-F086-4146-BAE6-36E8FC6A2AC6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842CC4-5047-4465-AAC3-6B26EF1BC09C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66675" cy="83820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F2137-5455-4BCA-BB44-7E5636D4C6D5}"/>
              </a:ext>
            </a:extLst>
          </p:cNvPr>
          <p:cNvSpPr>
            <a:spLocks noGrp="1"/>
          </p:cNvSpPr>
          <p:nvPr/>
        </p:nvSpPr>
        <p:spPr>
          <a:xfrm>
            <a:off x="933450" y="19812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Pemohon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83F3C6-D0C7-45A3-AFF5-B2EB8B0814BD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Daftar, log masuk, isi borang, muat naik dokumen, semak status, bayar dan muat turun lesen.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922BF5-9040-4415-8190-B86FD7208568}"/>
              </a:ext>
            </a:extLst>
          </p:cNvPr>
          <p:cNvSpPr>
            <a:spLocks noGrp="1"/>
          </p:cNvSpPr>
          <p:nvPr/>
        </p:nvSpPr>
        <p:spPr>
          <a:xfrm>
            <a:off x="6343650" y="182880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2C0CAF-A055-4EDE-AFA6-09D85AAF283B}"/>
              </a:ext>
            </a:extLst>
          </p:cNvPr>
          <p:cNvSpPr>
            <a:spLocks noGrp="1"/>
          </p:cNvSpPr>
          <p:nvPr/>
        </p:nvSpPr>
        <p:spPr>
          <a:xfrm>
            <a:off x="6343650" y="1828800"/>
            <a:ext cx="66675" cy="83820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51691D-C811-434F-8382-6722EF35238F}"/>
              </a:ext>
            </a:extLst>
          </p:cNvPr>
          <p:cNvSpPr>
            <a:spLocks noGrp="1"/>
          </p:cNvSpPr>
          <p:nvPr/>
        </p:nvSpPr>
        <p:spPr>
          <a:xfrm>
            <a:off x="6553200" y="19812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PT(IKL)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CF687-85A0-46F8-880F-ADE85E553C22}"/>
              </a:ext>
            </a:extLst>
          </p:cNvPr>
          <p:cNvSpPr>
            <a:spLocks noGrp="1"/>
          </p:cNvSpPr>
          <p:nvPr/>
        </p:nvSpPr>
        <p:spPr>
          <a:xfrm>
            <a:off x="6553200" y="22860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Urus semakan, surat kelulusan, bil, resit bayaran dan pengeluaran e-lesen.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CA48A22-B5BD-4013-B5DF-CF2D871082C7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CD4A37-C01D-42F0-B43E-734F42133CC6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66675" cy="83820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0F3EBB-9031-46BE-9C6E-BDC408BE46C0}"/>
              </a:ext>
            </a:extLst>
          </p:cNvPr>
          <p:cNvSpPr>
            <a:spLocks noGrp="1"/>
          </p:cNvSpPr>
          <p:nvPr/>
        </p:nvSpPr>
        <p:spPr>
          <a:xfrm>
            <a:off x="933450" y="318135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KU(IKL)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CD8656-0024-4D4C-8F48-D8D320BE0A93}"/>
              </a:ext>
            </a:extLst>
          </p:cNvPr>
          <p:cNvSpPr>
            <a:spLocks noGrp="1"/>
          </p:cNvSpPr>
          <p:nvPr/>
        </p:nvSpPr>
        <p:spPr>
          <a:xfrm>
            <a:off x="933450" y="34861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Saringan awal, semakan teknikal akhir dan penyelarasan keputusan.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F0F9622-729D-4867-87EA-60847611022D}"/>
              </a:ext>
            </a:extLst>
          </p:cNvPr>
          <p:cNvSpPr>
            <a:spLocks noGrp="1"/>
          </p:cNvSpPr>
          <p:nvPr/>
        </p:nvSpPr>
        <p:spPr>
          <a:xfrm>
            <a:off x="6343650" y="302895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9A704F-61D9-456C-B27B-976A467E56E9}"/>
              </a:ext>
            </a:extLst>
          </p:cNvPr>
          <p:cNvSpPr>
            <a:spLocks noGrp="1"/>
          </p:cNvSpPr>
          <p:nvPr/>
        </p:nvSpPr>
        <p:spPr>
          <a:xfrm>
            <a:off x="6343650" y="3028950"/>
            <a:ext cx="66675" cy="83820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31CECC-E9BD-4214-87B0-C6551414BA7C}"/>
              </a:ext>
            </a:extLst>
          </p:cNvPr>
          <p:cNvSpPr>
            <a:spLocks noGrp="1"/>
          </p:cNvSpPr>
          <p:nvPr/>
        </p:nvSpPr>
        <p:spPr>
          <a:xfrm>
            <a:off x="6553200" y="318135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Unit Teknikal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50232A-9080-4B15-AAC8-DBC80BAE68D1}"/>
              </a:ext>
            </a:extLst>
          </p:cNvPr>
          <p:cNvSpPr>
            <a:spLocks noGrp="1"/>
          </p:cNvSpPr>
          <p:nvPr/>
        </p:nvSpPr>
        <p:spPr>
          <a:xfrm>
            <a:off x="6553200" y="34861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Lawatan tapak, gambar lokasi, kiraan caj/deposit dan cadangan teknikal.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20B5A4-6280-4E11-BDCC-747529C3FCBF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839B29-BCC1-470C-A813-4C407DD93B12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66675" cy="83820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40729E-72F0-47BE-AD18-7318F70A0CC5}"/>
              </a:ext>
            </a:extLst>
          </p:cNvPr>
          <p:cNvSpPr>
            <a:spLocks noGrp="1"/>
          </p:cNvSpPr>
          <p:nvPr/>
        </p:nvSpPr>
        <p:spPr>
          <a:xfrm>
            <a:off x="933450" y="43815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BLG / IMT / MNE / ENG / GPM / LNP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045BC2-A6E2-409C-9EE7-CEB4E1EFAFA3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Semakan teknikal selari oleh bahagian berkaitan.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3076FFE-00AD-4E20-B097-FB2C983224B0}"/>
              </a:ext>
            </a:extLst>
          </p:cNvPr>
          <p:cNvSpPr>
            <a:spLocks noGrp="1"/>
          </p:cNvSpPr>
          <p:nvPr/>
        </p:nvSpPr>
        <p:spPr>
          <a:xfrm>
            <a:off x="6343650" y="4229100"/>
            <a:ext cx="4953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652553-07C4-4CA2-A703-2EB10B2EF934}"/>
              </a:ext>
            </a:extLst>
          </p:cNvPr>
          <p:cNvSpPr>
            <a:spLocks noGrp="1"/>
          </p:cNvSpPr>
          <p:nvPr/>
        </p:nvSpPr>
        <p:spPr>
          <a:xfrm>
            <a:off x="6343650" y="4229100"/>
            <a:ext cx="66675" cy="83820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EB7733-2B15-49EF-AC4E-A150CB7C18B0}"/>
              </a:ext>
            </a:extLst>
          </p:cNvPr>
          <p:cNvSpPr>
            <a:spLocks noGrp="1"/>
          </p:cNvSpPr>
          <p:nvPr/>
        </p:nvSpPr>
        <p:spPr>
          <a:xfrm>
            <a:off x="6553200" y="4381500"/>
            <a:ext cx="4533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KB(LES), TP(RES), PGH, MPHLG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7B55AB-2F0C-44E4-B156-9345805B324A}"/>
              </a:ext>
            </a:extLst>
          </p:cNvPr>
          <p:cNvSpPr>
            <a:spLocks noGrp="1"/>
          </p:cNvSpPr>
          <p:nvPr/>
        </p:nvSpPr>
        <p:spPr>
          <a:xfrm>
            <a:off x="6553200" y="46863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Sokongan, verifikasi dan kelulusan mengikut aliran kuasa.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75646E-2D70-4EC4-8AB9-783C90AF7E2A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9F990F-B085-4985-A519-9DD1737B0E8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B2B540-CF05-4371-A5DB-7F8A9E16D902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858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03BD2DAD-327C-4025-A4B9-FC6D5C3FA72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ALIRAN PROSES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C16EE2-BEFD-4AB3-857C-2445A7D0301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Flow System / Aliran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47D82-47B5-4992-9044-94F7C7D0E042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B144A-74A4-45BD-8B5B-B7CE8434178A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2000250" cy="2857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BCAEC3-58A1-482E-9987-AA7856D129B4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865D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E7881-88F6-4C1B-A97F-761F67F112E1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B94F56-2D99-4920-93E8-4CA899985B47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Daftar &amp; log masuk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BB7371-7E79-4773-84FE-49BB3F6AAE76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Pemohon masuk ke portal ALiS.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1FE383-CB2A-4B7B-A39C-9928E5923136}"/>
              </a:ext>
            </a:extLst>
          </p:cNvPr>
          <p:cNvSpPr>
            <a:spLocks noGrp="1"/>
          </p:cNvSpPr>
          <p:nvPr/>
        </p:nvSpPr>
        <p:spPr>
          <a:xfrm>
            <a:off x="3733800" y="2247900"/>
            <a:ext cx="2000250" cy="2857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BEABFC-B75D-4372-9022-C90A86706E48}"/>
              </a:ext>
            </a:extLst>
          </p:cNvPr>
          <p:cNvSpPr>
            <a:spLocks noGrp="1"/>
          </p:cNvSpPr>
          <p:nvPr/>
        </p:nvSpPr>
        <p:spPr>
          <a:xfrm>
            <a:off x="3543300" y="2057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0865D"/>
          </a:solidFill>
          <a:ln w="9525">
            <a:solidFill>
              <a:srgbClr val="00865D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3C76D0-9A83-4FEC-ADE6-6BB6E14EFA25}"/>
              </a:ext>
            </a:extLst>
          </p:cNvPr>
          <p:cNvSpPr>
            <a:spLocks noGrp="1"/>
          </p:cNvSpPr>
          <p:nvPr/>
        </p:nvSpPr>
        <p:spPr>
          <a:xfrm>
            <a:off x="3543300" y="21431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33A04C-36AD-4188-ABE0-75F838B315F6}"/>
              </a:ext>
            </a:extLst>
          </p:cNvPr>
          <p:cNvSpPr>
            <a:spLocks noGrp="1"/>
          </p:cNvSpPr>
          <p:nvPr/>
        </p:nvSpPr>
        <p:spPr>
          <a:xfrm>
            <a:off x="3543300" y="26098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Permohonan digital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4C18A0-3FF7-4049-93CA-06E95072287B}"/>
              </a:ext>
            </a:extLst>
          </p:cNvPr>
          <p:cNvSpPr>
            <a:spLocks noGrp="1"/>
          </p:cNvSpPr>
          <p:nvPr/>
        </p:nvSpPr>
        <p:spPr>
          <a:xfrm>
            <a:off x="3543300" y="29146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Borang, lokasi, iklan dan dokumen sokongan dihantar.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F8B200-6DD1-4D68-BE07-7956C302A65D}"/>
              </a:ext>
            </a:extLst>
          </p:cNvPr>
          <p:cNvSpPr>
            <a:spLocks noGrp="1"/>
          </p:cNvSpPr>
          <p:nvPr/>
        </p:nvSpPr>
        <p:spPr>
          <a:xfrm>
            <a:off x="6515100" y="2247900"/>
            <a:ext cx="2000250" cy="28575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B33261-806A-43EB-B9F1-9B8F40A1CB71}"/>
              </a:ext>
            </a:extLst>
          </p:cNvPr>
          <p:cNvSpPr>
            <a:spLocks noGrp="1"/>
          </p:cNvSpPr>
          <p:nvPr/>
        </p:nvSpPr>
        <p:spPr>
          <a:xfrm>
            <a:off x="6324600" y="2057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F5FBF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892B27-A02F-4E6D-9F60-21CE98F3D8E1}"/>
              </a:ext>
            </a:extLst>
          </p:cNvPr>
          <p:cNvSpPr>
            <a:spLocks noGrp="1"/>
          </p:cNvSpPr>
          <p:nvPr/>
        </p:nvSpPr>
        <p:spPr>
          <a:xfrm>
            <a:off x="6324600" y="21431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997345-E243-4E81-8E5A-385EB44EB6EC}"/>
              </a:ext>
            </a:extLst>
          </p:cNvPr>
          <p:cNvSpPr>
            <a:spLocks noGrp="1"/>
          </p:cNvSpPr>
          <p:nvPr/>
        </p:nvSpPr>
        <p:spPr>
          <a:xfrm>
            <a:off x="6324600" y="26098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Saringan automatik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E571E-17CA-4392-86EC-973A61B23F4C}"/>
              </a:ext>
            </a:extLst>
          </p:cNvPr>
          <p:cNvSpPr>
            <a:spLocks noGrp="1"/>
          </p:cNvSpPr>
          <p:nvPr/>
        </p:nvSpPr>
        <p:spPr>
          <a:xfrm>
            <a:off x="6324600" y="29146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Semakan kelengkapan dan syarat awal.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9069C9-16F2-497C-8AFA-07A6FE2C54CC}"/>
              </a:ext>
            </a:extLst>
          </p:cNvPr>
          <p:cNvSpPr>
            <a:spLocks noGrp="1"/>
          </p:cNvSpPr>
          <p:nvPr/>
        </p:nvSpPr>
        <p:spPr>
          <a:xfrm>
            <a:off x="9296400" y="2247900"/>
            <a:ext cx="2000250" cy="28575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BEB407-7324-4F09-A299-ECEDDD58F5D0}"/>
              </a:ext>
            </a:extLst>
          </p:cNvPr>
          <p:cNvSpPr>
            <a:spLocks noGrp="1"/>
          </p:cNvSpPr>
          <p:nvPr/>
        </p:nvSpPr>
        <p:spPr>
          <a:xfrm>
            <a:off x="9105900" y="2057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F5FBF"/>
          </a:solidFill>
          <a:ln w="9525">
            <a:solidFill>
              <a:srgbClr val="1F5FB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A8CC60-2A6D-4B3B-ACC1-990CD7DA51FA}"/>
              </a:ext>
            </a:extLst>
          </p:cNvPr>
          <p:cNvSpPr>
            <a:spLocks noGrp="1"/>
          </p:cNvSpPr>
          <p:nvPr/>
        </p:nvSpPr>
        <p:spPr>
          <a:xfrm>
            <a:off x="9105900" y="21431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B6F77D-0315-4F31-9813-F73D7A2CB75E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Agihan jabatan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94045A-D251-4E60-9AD4-8B2ED0F7851D}"/>
              </a:ext>
            </a:extLst>
          </p:cNvPr>
          <p:cNvSpPr>
            <a:spLocks noGrp="1"/>
          </p:cNvSpPr>
          <p:nvPr/>
        </p:nvSpPr>
        <p:spPr>
          <a:xfrm>
            <a:off x="9105900" y="29146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Permohonan diagih kepada unit teknikal berkaitan.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DEFBA1-C842-4F2D-9DA3-E87861E1EB5D}"/>
              </a:ext>
            </a:extLst>
          </p:cNvPr>
          <p:cNvSpPr>
            <a:spLocks noGrp="1"/>
          </p:cNvSpPr>
          <p:nvPr/>
        </p:nvSpPr>
        <p:spPr>
          <a:xfrm>
            <a:off x="952500" y="4248150"/>
            <a:ext cx="2000250" cy="28575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253F620-4A0F-465E-8651-AF10CEA86501}"/>
              </a:ext>
            </a:extLst>
          </p:cNvPr>
          <p:cNvSpPr>
            <a:spLocks noGrp="1"/>
          </p:cNvSpPr>
          <p:nvPr/>
        </p:nvSpPr>
        <p:spPr>
          <a:xfrm>
            <a:off x="762000" y="4057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AAA3EB-1D77-4113-994F-C587B0A5B595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78263A-E5AF-45C4-9D1F-3C63C153F402}"/>
              </a:ext>
            </a:extLst>
          </p:cNvPr>
          <p:cNvSpPr>
            <a:spLocks noGrp="1"/>
          </p:cNvSpPr>
          <p:nvPr/>
        </p:nvSpPr>
        <p:spPr>
          <a:xfrm>
            <a:off x="762000" y="4610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Parallel review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740A7C-4EE2-4A84-86B2-283F6428CA74}"/>
              </a:ext>
            </a:extLst>
          </p:cNvPr>
          <p:cNvSpPr>
            <a:spLocks noGrp="1"/>
          </p:cNvSpPr>
          <p:nvPr/>
        </p:nvSpPr>
        <p:spPr>
          <a:xfrm>
            <a:off x="762000" y="49149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Semakan teknikal dibuat secara selari.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8AAFB2-163B-4F69-8839-BDA3F1C50D06}"/>
              </a:ext>
            </a:extLst>
          </p:cNvPr>
          <p:cNvSpPr>
            <a:spLocks noGrp="1"/>
          </p:cNvSpPr>
          <p:nvPr/>
        </p:nvSpPr>
        <p:spPr>
          <a:xfrm>
            <a:off x="3733800" y="4248150"/>
            <a:ext cx="2000250" cy="28575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FEC9BB5-FE2E-401E-A80F-71651991419A}"/>
              </a:ext>
            </a:extLst>
          </p:cNvPr>
          <p:cNvSpPr>
            <a:spLocks noGrp="1"/>
          </p:cNvSpPr>
          <p:nvPr/>
        </p:nvSpPr>
        <p:spPr>
          <a:xfrm>
            <a:off x="3543300" y="4057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A6522B8-FEF1-4235-8565-D988EF1F5F86}"/>
              </a:ext>
            </a:extLst>
          </p:cNvPr>
          <p:cNvSpPr>
            <a:spLocks noGrp="1"/>
          </p:cNvSpPr>
          <p:nvPr/>
        </p:nvSpPr>
        <p:spPr>
          <a:xfrm>
            <a:off x="3543300" y="414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D75BD7-8C46-40DA-82DA-40C3EEFA6072}"/>
              </a:ext>
            </a:extLst>
          </p:cNvPr>
          <p:cNvSpPr>
            <a:spLocks noGrp="1"/>
          </p:cNvSpPr>
          <p:nvPr/>
        </p:nvSpPr>
        <p:spPr>
          <a:xfrm>
            <a:off x="3543300" y="4610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Penyelarasan keputusan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7BE882F-2C55-4C52-892F-7352187665D7}"/>
              </a:ext>
            </a:extLst>
          </p:cNvPr>
          <p:cNvSpPr>
            <a:spLocks noGrp="1"/>
          </p:cNvSpPr>
          <p:nvPr/>
        </p:nvSpPr>
        <p:spPr>
          <a:xfrm>
            <a:off x="3543300" y="49149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Sokongan, syarat atau penolakan disatukan.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5C9EB7-4E1A-4BFA-B61E-1A7496FC53BD}"/>
              </a:ext>
            </a:extLst>
          </p:cNvPr>
          <p:cNvSpPr>
            <a:spLocks noGrp="1"/>
          </p:cNvSpPr>
          <p:nvPr/>
        </p:nvSpPr>
        <p:spPr>
          <a:xfrm>
            <a:off x="6515100" y="4248150"/>
            <a:ext cx="200025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4870334-0954-4314-934B-028D3A14E0C3}"/>
              </a:ext>
            </a:extLst>
          </p:cNvPr>
          <p:cNvSpPr>
            <a:spLocks noGrp="1"/>
          </p:cNvSpPr>
          <p:nvPr/>
        </p:nvSpPr>
        <p:spPr>
          <a:xfrm>
            <a:off x="6324600" y="4057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4E37E51-B527-40B1-B3CB-F2BA0FA54072}"/>
              </a:ext>
            </a:extLst>
          </p:cNvPr>
          <p:cNvSpPr>
            <a:spLocks noGrp="1"/>
          </p:cNvSpPr>
          <p:nvPr/>
        </p:nvSpPr>
        <p:spPr>
          <a:xfrm>
            <a:off x="6324600" y="414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80550C-4A6D-4BE6-BF3A-3FD4823D9E3B}"/>
              </a:ext>
            </a:extLst>
          </p:cNvPr>
          <p:cNvSpPr>
            <a:spLocks noGrp="1"/>
          </p:cNvSpPr>
          <p:nvPr/>
        </p:nvSpPr>
        <p:spPr>
          <a:xfrm>
            <a:off x="6324600" y="4610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Kelulusan digital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83B1E3-80D4-46A6-8725-EEE8D941EF6E}"/>
              </a:ext>
            </a:extLst>
          </p:cNvPr>
          <p:cNvSpPr>
            <a:spLocks noGrp="1"/>
          </p:cNvSpPr>
          <p:nvPr/>
        </p:nvSpPr>
        <p:spPr>
          <a:xfrm>
            <a:off x="6324600" y="49149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Verifikasi KB(LES), TP(RES)/PGH dan MPHLG jika perlu.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7149378-A4A1-4C72-A977-6C24CAB57171}"/>
              </a:ext>
            </a:extLst>
          </p:cNvPr>
          <p:cNvSpPr>
            <a:spLocks noGrp="1"/>
          </p:cNvSpPr>
          <p:nvPr/>
        </p:nvSpPr>
        <p:spPr>
          <a:xfrm>
            <a:off x="9296400" y="4248150"/>
            <a:ext cx="2000250" cy="2857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A89775D-54C5-4B68-A987-80EB05716031}"/>
              </a:ext>
            </a:extLst>
          </p:cNvPr>
          <p:cNvSpPr>
            <a:spLocks noGrp="1"/>
          </p:cNvSpPr>
          <p:nvPr/>
        </p:nvSpPr>
        <p:spPr>
          <a:xfrm>
            <a:off x="9105900" y="40576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24E713C-D4B4-4FA6-801F-A529F9B3A81F}"/>
              </a:ext>
            </a:extLst>
          </p:cNvPr>
          <p:cNvSpPr>
            <a:spLocks noGrp="1"/>
          </p:cNvSpPr>
          <p:nvPr/>
        </p:nvSpPr>
        <p:spPr>
          <a:xfrm>
            <a:off x="9105900" y="414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0B9602D-D0E9-4F28-B834-440848919CF4}"/>
              </a:ext>
            </a:extLst>
          </p:cNvPr>
          <p:cNvSpPr>
            <a:spLocks noGrp="1"/>
          </p:cNvSpPr>
          <p:nvPr/>
        </p:nvSpPr>
        <p:spPr>
          <a:xfrm>
            <a:off x="9105900" y="461010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 i="0">
                <a:solidFill>
                  <a:srgbClr val="071527"/>
                </a:solidFill>
              </a:defRPr>
            </a:pPr>
            <a:r>
              <a:rPr sz="1275" b="1" i="0">
                <a:solidFill>
                  <a:srgbClr val="071527"/>
                </a:solidFill>
              </a:rPr>
              <a:t>Bayaran &amp; e-lesen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EF45ECA-BD95-460F-8601-C8F525A1571A}"/>
              </a:ext>
            </a:extLst>
          </p:cNvPr>
          <p:cNvSpPr>
            <a:spLocks noGrp="1"/>
          </p:cNvSpPr>
          <p:nvPr/>
        </p:nvSpPr>
        <p:spPr>
          <a:xfrm>
            <a:off x="9105900" y="49149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0" i="0">
                <a:solidFill>
                  <a:srgbClr val="4F627A"/>
                </a:solidFill>
              </a:defRPr>
            </a:pPr>
            <a:r>
              <a:rPr sz="1050" b="0" i="0">
                <a:solidFill>
                  <a:srgbClr val="4F627A"/>
                </a:solidFill>
              </a:rPr>
              <a:t>Bil, resit, QR Code dan lesen digital dikeluarkan.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9A2819A-C76E-4247-8C79-5D568F06B78F}"/>
              </a:ext>
            </a:extLst>
          </p:cNvPr>
          <p:cNvSpPr>
            <a:spLocks noGrp="1"/>
          </p:cNvSpPr>
          <p:nvPr/>
        </p:nvSpPr>
        <p:spPr>
          <a:xfrm>
            <a:off x="1047750" y="55816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06B49"/>
                </a:solidFill>
              </a:defRPr>
            </a:pPr>
            <a:r>
              <a:rPr sz="1650" b="1" i="0">
                <a:solidFill>
                  <a:srgbClr val="006B49"/>
                </a:solidFill>
              </a:rPr>
              <a:t>Setiap status dihubungkan dengan log keputusan, pemilik tugas, notifikasi dan rekod audit.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2B2E061-14DF-4BE3-9FF4-A95B62A28A69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8C9134-15A9-45E7-9073-E8E3E66F5B5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B62E386-345D-4298-B9DC-1524E1BCFCC5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9160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71E9FA4-58C5-4C50-AD82-69F9ED55476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TEKNOLOGI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DEF13-13E5-4DE3-904B-0B6CAFDC822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Seni Bina Sistem dan Framework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B05D93-04B9-4EB1-8EC7-A4F5E6A62C1E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F43FEB-3FAE-427C-9260-C3761B140E82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3286125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202815-841C-413B-845C-634356414FCF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66675" cy="219075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326A2-1ACF-4498-A359-AF85C908E4F9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2867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Frontend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8ED6AD-C6A1-4F3A-9AAA-FA7A8CF3D39E}"/>
              </a:ext>
            </a:extLst>
          </p:cNvPr>
          <p:cNvSpPr>
            <a:spLocks noGrp="1"/>
          </p:cNvSpPr>
          <p:nvPr/>
        </p:nvSpPr>
        <p:spPr>
          <a:xfrm>
            <a:off x="933450" y="2419350"/>
            <a:ext cx="28670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React 19 + Vite 8, React Router, Tailwind, CKEditor, QRCode, jsPDF/html2canvas dan Mapbox/MapLibre untuk pengalaman web interaktif.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F80F49-7C9F-4DA2-A294-DA2F1263E336}"/>
              </a:ext>
            </a:extLst>
          </p:cNvPr>
          <p:cNvSpPr>
            <a:spLocks noGrp="1"/>
          </p:cNvSpPr>
          <p:nvPr/>
        </p:nvSpPr>
        <p:spPr>
          <a:xfrm>
            <a:off x="4457700" y="1962150"/>
            <a:ext cx="3286125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DE3FA7-8F1C-46B5-BE5B-0A593E861490}"/>
              </a:ext>
            </a:extLst>
          </p:cNvPr>
          <p:cNvSpPr>
            <a:spLocks noGrp="1"/>
          </p:cNvSpPr>
          <p:nvPr/>
        </p:nvSpPr>
        <p:spPr>
          <a:xfrm>
            <a:off x="4457700" y="1962150"/>
            <a:ext cx="66675" cy="219075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F247EB-E695-4DC8-9740-2E38DAB894DA}"/>
              </a:ext>
            </a:extLst>
          </p:cNvPr>
          <p:cNvSpPr>
            <a:spLocks noGrp="1"/>
          </p:cNvSpPr>
          <p:nvPr/>
        </p:nvSpPr>
        <p:spPr>
          <a:xfrm>
            <a:off x="4667250" y="2114550"/>
            <a:ext cx="2867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Backend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01BB1B-2C06-4277-9FED-9D9EAEAC5B0E}"/>
              </a:ext>
            </a:extLst>
          </p:cNvPr>
          <p:cNvSpPr>
            <a:spLocks noGrp="1"/>
          </p:cNvSpPr>
          <p:nvPr/>
        </p:nvSpPr>
        <p:spPr>
          <a:xfrm>
            <a:off x="4667250" y="2419350"/>
            <a:ext cx="28670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Django 5.2 + Django REST Framework 3.17 menyediakan REST API bagi akaun, permohonan, dokumen dan notifikasi.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22D2DD-A33E-4EA9-82A1-E0CD766F1636}"/>
              </a:ext>
            </a:extLst>
          </p:cNvPr>
          <p:cNvSpPr>
            <a:spLocks noGrp="1"/>
          </p:cNvSpPr>
          <p:nvPr/>
        </p:nvSpPr>
        <p:spPr>
          <a:xfrm>
            <a:off x="8191500" y="1962150"/>
            <a:ext cx="3286125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9E7E8F-6436-48CB-8549-E86046D38276}"/>
              </a:ext>
            </a:extLst>
          </p:cNvPr>
          <p:cNvSpPr>
            <a:spLocks noGrp="1"/>
          </p:cNvSpPr>
          <p:nvPr/>
        </p:nvSpPr>
        <p:spPr>
          <a:xfrm>
            <a:off x="8191500" y="1962150"/>
            <a:ext cx="66675" cy="21907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4E3217-316A-42C3-A12F-D06EA82287E6}"/>
              </a:ext>
            </a:extLst>
          </p:cNvPr>
          <p:cNvSpPr>
            <a:spLocks noGrp="1"/>
          </p:cNvSpPr>
          <p:nvPr/>
        </p:nvSpPr>
        <p:spPr>
          <a:xfrm>
            <a:off x="8401050" y="2114550"/>
            <a:ext cx="28670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D97706"/>
                </a:solidFill>
              </a:defRPr>
            </a:pPr>
            <a:r>
              <a:rPr sz="1500" b="1" i="0">
                <a:solidFill>
                  <a:srgbClr val="D97706"/>
                </a:solidFill>
              </a:rPr>
              <a:t>Keselamatan &amp; runtime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8A2FC2-5977-4B2B-BBF8-803C382FF43F}"/>
              </a:ext>
            </a:extLst>
          </p:cNvPr>
          <p:cNvSpPr>
            <a:spLocks noGrp="1"/>
          </p:cNvSpPr>
          <p:nvPr/>
        </p:nvSpPr>
        <p:spPr>
          <a:xfrm>
            <a:off x="8401050" y="2419350"/>
            <a:ext cx="286702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SimpleJWT, CORS terkawal, rate limiting, BCrypt hashing, Gunicorn, WhiteNoise dan sokongan PostgreSQL melalui psycopg2.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378DB8-B09A-4DA6-9AB9-B4A3D7FD1BA2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071527"/>
                </a:solidFill>
              </a:defRPr>
            </a:pPr>
            <a:r>
              <a:rPr sz="1800" b="1" i="0">
                <a:solidFill>
                  <a:srgbClr val="071527"/>
                </a:solidFill>
              </a:rPr>
              <a:t>Corak seni bina: React client -&gt; authenticated REST API -&gt; Django domain modules -&gt; database, media storage dan notification services.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57640C-B637-48D3-8CF0-4431E92429A8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B9126A-86D7-45EF-A49B-B1215EC3E56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C72066-04E5-4800-AE24-4E1A46224176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68774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A0A9B823-879E-4DDF-A12C-9AC558F49E4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DELIVERABLE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52154-D5F2-490C-9C4F-4CB42BC6735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Struktur Pangkalan Data (Database Structure)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E822E0-9933-4D0A-B374-C3406113D29B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29DD08-E1AC-4F23-9F1F-7D8F3C38D2BA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10572750" cy="647700"/>
          </a:xfrm>
          <a:prstGeom prst="rect">
            <a:avLst/>
          </a:prstGeom>
          <a:solidFill>
            <a:srgbClr val="006B49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D25E0-8E4F-41E7-84E2-BBE3E2CBC557}"/>
              </a:ext>
            </a:extLst>
          </p:cNvPr>
          <p:cNvSpPr>
            <a:spLocks noGrp="1"/>
          </p:cNvSpPr>
          <p:nvPr/>
        </p:nvSpPr>
        <p:spPr>
          <a:xfrm>
            <a:off x="857250" y="19431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Jadual /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B13D8A-025F-4586-9F68-7D79DF6A8414}"/>
              </a:ext>
            </a:extLst>
          </p:cNvPr>
          <p:cNvSpPr>
            <a:spLocks noGrp="1"/>
          </p:cNvSpPr>
          <p:nvPr/>
        </p:nvSpPr>
        <p:spPr>
          <a:xfrm>
            <a:off x="2914650" y="18288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8A274C-D244-4C39-BFC8-3BEB33BA954C}"/>
              </a:ext>
            </a:extLst>
          </p:cNvPr>
          <p:cNvSpPr>
            <a:spLocks noGrp="1"/>
          </p:cNvSpPr>
          <p:nvPr/>
        </p:nvSpPr>
        <p:spPr>
          <a:xfrm>
            <a:off x="3048000" y="19431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Tujuan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F8E388-F093-45A5-81D0-35BC1D7AD245}"/>
              </a:ext>
            </a:extLst>
          </p:cNvPr>
          <p:cNvSpPr>
            <a:spLocks noGrp="1"/>
          </p:cNvSpPr>
          <p:nvPr/>
        </p:nvSpPr>
        <p:spPr>
          <a:xfrm>
            <a:off x="6153150" y="18288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4EDA16-8AEC-424F-AEF7-8D5AB77EBA7F}"/>
              </a:ext>
            </a:extLst>
          </p:cNvPr>
          <p:cNvSpPr>
            <a:spLocks noGrp="1"/>
          </p:cNvSpPr>
          <p:nvPr/>
        </p:nvSpPr>
        <p:spPr>
          <a:xfrm>
            <a:off x="6286500" y="19431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Maklumat utama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B51C88-F729-44B9-9D07-0C8A8211B9E5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1057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C1D9CC-0846-4B0A-934C-AEDBEE725CC3}"/>
              </a:ext>
            </a:extLst>
          </p:cNvPr>
          <p:cNvSpPr>
            <a:spLocks noGrp="1"/>
          </p:cNvSpPr>
          <p:nvPr/>
        </p:nvSpPr>
        <p:spPr>
          <a:xfrm>
            <a:off x="857250" y="25908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User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334370-7470-4063-8835-2C2C5A8F496F}"/>
              </a:ext>
            </a:extLst>
          </p:cNvPr>
          <p:cNvSpPr>
            <a:spLocks noGrp="1"/>
          </p:cNvSpPr>
          <p:nvPr/>
        </p:nvSpPr>
        <p:spPr>
          <a:xfrm>
            <a:off x="2914650" y="24765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99C51D-1502-4BDE-9EEE-5CE69E806148}"/>
              </a:ext>
            </a:extLst>
          </p:cNvPr>
          <p:cNvSpPr>
            <a:spLocks noGrp="1"/>
          </p:cNvSpPr>
          <p:nvPr/>
        </p:nvSpPr>
        <p:spPr>
          <a:xfrm>
            <a:off x="3048000" y="25908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Rekod pemohon dan pegawai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F24A3B-7751-42C6-B96E-4E9DF82BC7BC}"/>
              </a:ext>
            </a:extLst>
          </p:cNvPr>
          <p:cNvSpPr>
            <a:spLocks noGrp="1"/>
          </p:cNvSpPr>
          <p:nvPr/>
        </p:nvSpPr>
        <p:spPr>
          <a:xfrm>
            <a:off x="6153150" y="24765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9C4CC7-0872-4855-8732-40DB22D138F9}"/>
              </a:ext>
            </a:extLst>
          </p:cNvPr>
          <p:cNvSpPr>
            <a:spLocks noGrp="1"/>
          </p:cNvSpPr>
          <p:nvPr/>
        </p:nvSpPr>
        <p:spPr>
          <a:xfrm>
            <a:off x="6286500" y="25908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role, department, MyKad, telefon, alamat, profil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6CCCA7-BA5D-487B-9258-E0E960F01418}"/>
              </a:ext>
            </a:extLst>
          </p:cNvPr>
          <p:cNvSpPr>
            <a:spLocks noGrp="1"/>
          </p:cNvSpPr>
          <p:nvPr/>
        </p:nvSpPr>
        <p:spPr>
          <a:xfrm>
            <a:off x="723900" y="3124200"/>
            <a:ext cx="10572750" cy="647700"/>
          </a:xfrm>
          <a:prstGeom prst="rect">
            <a:avLst/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5D120F-4EA1-4A30-A0F2-D02ED189DC50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Application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5BE146-937A-4F13-B5F0-063C097E0793}"/>
              </a:ext>
            </a:extLst>
          </p:cNvPr>
          <p:cNvSpPr>
            <a:spLocks noGrp="1"/>
          </p:cNvSpPr>
          <p:nvPr/>
        </p:nvSpPr>
        <p:spPr>
          <a:xfrm>
            <a:off x="2914650" y="31242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B643E1-3DA4-437F-987D-DFCB02770049}"/>
              </a:ext>
            </a:extLst>
          </p:cNvPr>
          <p:cNvSpPr>
            <a:spLocks noGrp="1"/>
          </p:cNvSpPr>
          <p:nvPr/>
        </p:nvSpPr>
        <p:spPr>
          <a:xfrm>
            <a:off x="3048000" y="32385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Permohonan lesen iklan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C6942A-3BED-4223-B070-351E2C2BAC7C}"/>
              </a:ext>
            </a:extLst>
          </p:cNvPr>
          <p:cNvSpPr>
            <a:spLocks noGrp="1"/>
          </p:cNvSpPr>
          <p:nvPr/>
        </p:nvSpPr>
        <p:spPr>
          <a:xfrm>
            <a:off x="6153150" y="31242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A45105-3322-4C3D-9619-5522EE55EC33}"/>
              </a:ext>
            </a:extLst>
          </p:cNvPr>
          <p:cNvSpPr>
            <a:spLocks noGrp="1"/>
          </p:cNvSpPr>
          <p:nvPr/>
        </p:nvSpPr>
        <p:spPr>
          <a:xfrm>
            <a:off x="6286500" y="32385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reference_no, applicant, status, form_data, lokasi, tarikh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6DC499-540A-43DC-B509-208BA94F5816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1057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FA375C-1650-44BE-AB46-CEAF86C1E70B}"/>
              </a:ext>
            </a:extLst>
          </p:cNvPr>
          <p:cNvSpPr>
            <a:spLocks noGrp="1"/>
          </p:cNvSpPr>
          <p:nvPr/>
        </p:nvSpPr>
        <p:spPr>
          <a:xfrm>
            <a:off x="857250" y="38862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SupportingDocument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E74481-8868-4635-BB38-22FFCD698797}"/>
              </a:ext>
            </a:extLst>
          </p:cNvPr>
          <p:cNvSpPr>
            <a:spLocks noGrp="1"/>
          </p:cNvSpPr>
          <p:nvPr/>
        </p:nvSpPr>
        <p:spPr>
          <a:xfrm>
            <a:off x="2914650" y="37719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27EE27-F13D-43B8-8677-394CCE6E8B9A}"/>
              </a:ext>
            </a:extLst>
          </p:cNvPr>
          <p:cNvSpPr>
            <a:spLocks noGrp="1"/>
          </p:cNvSpPr>
          <p:nvPr/>
        </p:nvSpPr>
        <p:spPr>
          <a:xfrm>
            <a:off x="3048000" y="38862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Dokumen sokongan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AC3168-F3FF-4A88-B9D1-DF525FC497D8}"/>
              </a:ext>
            </a:extLst>
          </p:cNvPr>
          <p:cNvSpPr>
            <a:spLocks noGrp="1"/>
          </p:cNvSpPr>
          <p:nvPr/>
        </p:nvSpPr>
        <p:spPr>
          <a:xfrm>
            <a:off x="6153150" y="37719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7F56C1-B5E2-4F94-96E4-435F3FE5D0A3}"/>
              </a:ext>
            </a:extLst>
          </p:cNvPr>
          <p:cNvSpPr>
            <a:spLocks noGrp="1"/>
          </p:cNvSpPr>
          <p:nvPr/>
        </p:nvSpPr>
        <p:spPr>
          <a:xfrm>
            <a:off x="6286500" y="38862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application, title, file, uploaded_at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FCE4D5-D3CD-4B15-A164-8BFF0F7C26C6}"/>
              </a:ext>
            </a:extLst>
          </p:cNvPr>
          <p:cNvSpPr>
            <a:spLocks noGrp="1"/>
          </p:cNvSpPr>
          <p:nvPr/>
        </p:nvSpPr>
        <p:spPr>
          <a:xfrm>
            <a:off x="723900" y="4419600"/>
            <a:ext cx="10572750" cy="647700"/>
          </a:xfrm>
          <a:prstGeom prst="rect">
            <a:avLst/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B22DC2-176D-46F1-9FC9-A6BA015F2737}"/>
              </a:ext>
            </a:extLst>
          </p:cNvPr>
          <p:cNvSpPr>
            <a:spLocks noGrp="1"/>
          </p:cNvSpPr>
          <p:nvPr/>
        </p:nvSpPr>
        <p:spPr>
          <a:xfrm>
            <a:off x="857250" y="45339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LoginSession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6E15E4-E558-4D40-8225-F6F4F35A8026}"/>
              </a:ext>
            </a:extLst>
          </p:cNvPr>
          <p:cNvSpPr>
            <a:spLocks noGrp="1"/>
          </p:cNvSpPr>
          <p:nvPr/>
        </p:nvSpPr>
        <p:spPr>
          <a:xfrm>
            <a:off x="2914650" y="44196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F16D2-3565-4ED2-BBC6-39934C36E341}"/>
              </a:ext>
            </a:extLst>
          </p:cNvPr>
          <p:cNvSpPr>
            <a:spLocks noGrp="1"/>
          </p:cNvSpPr>
          <p:nvPr/>
        </p:nvSpPr>
        <p:spPr>
          <a:xfrm>
            <a:off x="3048000" y="45339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Audit sesi pengguna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C02288D-127E-4451-9BA7-105FD5900C8B}"/>
              </a:ext>
            </a:extLst>
          </p:cNvPr>
          <p:cNvSpPr>
            <a:spLocks noGrp="1"/>
          </p:cNvSpPr>
          <p:nvPr/>
        </p:nvSpPr>
        <p:spPr>
          <a:xfrm>
            <a:off x="6153150" y="44196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C70FE55-681D-4B86-8834-B583D8AE55F9}"/>
              </a:ext>
            </a:extLst>
          </p:cNvPr>
          <p:cNvSpPr>
            <a:spLocks noGrp="1"/>
          </p:cNvSpPr>
          <p:nvPr/>
        </p:nvSpPr>
        <p:spPr>
          <a:xfrm>
            <a:off x="6286500" y="45339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user, login_at, logout_at, duration_seconds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70BD8D-6920-4887-AEBC-EA304196E834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10572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997BA2-B698-41E8-B300-04B74519ABE0}"/>
              </a:ext>
            </a:extLst>
          </p:cNvPr>
          <p:cNvSpPr>
            <a:spLocks noGrp="1"/>
          </p:cNvSpPr>
          <p:nvPr/>
        </p:nvSpPr>
        <p:spPr>
          <a:xfrm>
            <a:off x="857250" y="518160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NotificationDelivery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7CFF8B-527B-4B79-9F13-528BFC7407E4}"/>
              </a:ext>
            </a:extLst>
          </p:cNvPr>
          <p:cNvSpPr>
            <a:spLocks noGrp="1"/>
          </p:cNvSpPr>
          <p:nvPr/>
        </p:nvSpPr>
        <p:spPr>
          <a:xfrm>
            <a:off x="2914650" y="50673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612D090-DE7B-47EF-950E-9FF7F21159B9}"/>
              </a:ext>
            </a:extLst>
          </p:cNvPr>
          <p:cNvSpPr>
            <a:spLocks noGrp="1"/>
          </p:cNvSpPr>
          <p:nvPr/>
        </p:nvSpPr>
        <p:spPr>
          <a:xfrm>
            <a:off x="3048000" y="5181600"/>
            <a:ext cx="3009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Rekod notifikasi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6002ED-6394-4069-BBCB-ABC32B203620}"/>
              </a:ext>
            </a:extLst>
          </p:cNvPr>
          <p:cNvSpPr>
            <a:spLocks noGrp="1"/>
          </p:cNvSpPr>
          <p:nvPr/>
        </p:nvSpPr>
        <p:spPr>
          <a:xfrm>
            <a:off x="6153150" y="5067300"/>
            <a:ext cx="9525" cy="647700"/>
          </a:xfrm>
          <a:prstGeom prst="rect">
            <a:avLst/>
          </a:prstGeom>
          <a:solidFill>
            <a:srgbClr val="D8E3EE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333EDB-93EC-4544-B604-D62C24CE6452}"/>
              </a:ext>
            </a:extLst>
          </p:cNvPr>
          <p:cNvSpPr>
            <a:spLocks noGrp="1"/>
          </p:cNvSpPr>
          <p:nvPr/>
        </p:nvSpPr>
        <p:spPr>
          <a:xfrm>
            <a:off x="6286500" y="5181600"/>
            <a:ext cx="4914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0" i="0">
                <a:solidFill>
                  <a:srgbClr val="071527"/>
                </a:solidFill>
              </a:defRPr>
            </a:pPr>
            <a:r>
              <a:rPr sz="1125" b="0" i="0">
                <a:solidFill>
                  <a:srgbClr val="071527"/>
                </a:solidFill>
              </a:rPr>
              <a:t>application, user, channel, recipient, status, metadata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8904816-A420-463A-B878-DED1A1486071}"/>
              </a:ext>
            </a:extLst>
          </p:cNvPr>
          <p:cNvSpPr>
            <a:spLocks noGrp="1"/>
          </p:cNvSpPr>
          <p:nvPr/>
        </p:nvSpPr>
        <p:spPr>
          <a:xfrm>
            <a:off x="952500" y="573405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 i="0">
                <a:solidFill>
                  <a:srgbClr val="006B49"/>
                </a:solidFill>
              </a:defRPr>
            </a:pPr>
            <a:r>
              <a:rPr sz="1500" b="1" i="0">
                <a:solidFill>
                  <a:srgbClr val="006B49"/>
                </a:solidFill>
              </a:rPr>
              <a:t>Reka bentuk ini menyokong rujukan audit, status workflow, dokumen digital, rekod bayaran dan notifikasi sistem.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78F0F9-86A6-4193-8720-5E34F5CBA13C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B8784F-2A77-4E14-A410-54850BE557A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A5EE49-D3EC-474A-B664-4626395EFC64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5254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FEEA91B-A6F4-4BA1-B8F7-9D3A3B1ACE6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MODUL SISTEM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8B9E3-F688-4769-B847-271F3F16173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Huraian Modul Berfungsi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E9018D-F576-4AD4-9D42-FC10104F8EA2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547456-C7BB-4BBB-9E00-16C2F76C1C78}"/>
              </a:ext>
            </a:extLst>
          </p:cNvPr>
          <p:cNvSpPr>
            <a:spLocks noGrp="1"/>
          </p:cNvSpPr>
          <p:nvPr/>
        </p:nvSpPr>
        <p:spPr>
          <a:xfrm>
            <a:off x="762000" y="15811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4F627A"/>
                </a:solidFill>
              </a:defRPr>
            </a:pPr>
            <a:r>
              <a:rPr sz="1425" b="0" i="0">
                <a:solidFill>
                  <a:srgbClr val="4F627A"/>
                </a:solidFill>
              </a:rPr>
              <a:t>ALiS dibangunkan sebagai sistem bersepadu yang terdiri daripada modul pemohon, semakan dalaman, kelulusan, bayaran, lesen digital dan pemantauan.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1B52AA-893F-4ACF-96D2-9AD28BCD35E1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6ABB2-CD8F-46D2-8AFB-E4F051E4FDD8}"/>
              </a:ext>
            </a:extLst>
          </p:cNvPr>
          <p:cNvSpPr>
            <a:spLocks noGrp="1"/>
          </p:cNvSpPr>
          <p:nvPr/>
        </p:nvSpPr>
        <p:spPr>
          <a:xfrm>
            <a:off x="895350" y="22288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C8EED7-A68D-485D-BE09-DA2F7F06353E}"/>
              </a:ext>
            </a:extLst>
          </p:cNvPr>
          <p:cNvSpPr>
            <a:spLocks noGrp="1"/>
          </p:cNvSpPr>
          <p:nvPr/>
        </p:nvSpPr>
        <p:spPr>
          <a:xfrm>
            <a:off x="1352550" y="217170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Pendaftaran dan log masuk pemohon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1D0D4B-A2C8-4FD7-B405-C349D2935D1D}"/>
              </a:ext>
            </a:extLst>
          </p:cNvPr>
          <p:cNvSpPr>
            <a:spLocks noGrp="1"/>
          </p:cNvSpPr>
          <p:nvPr/>
        </p:nvSpPr>
        <p:spPr>
          <a:xfrm>
            <a:off x="4400550" y="205740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D6E59B-9B04-43EE-9621-A0C26D75962B}"/>
              </a:ext>
            </a:extLst>
          </p:cNvPr>
          <p:cNvSpPr>
            <a:spLocks noGrp="1"/>
          </p:cNvSpPr>
          <p:nvPr/>
        </p:nvSpPr>
        <p:spPr>
          <a:xfrm>
            <a:off x="4572000" y="22288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650F12-B624-42F0-8105-B8D65BE46332}"/>
              </a:ext>
            </a:extLst>
          </p:cNvPr>
          <p:cNvSpPr>
            <a:spLocks noGrp="1"/>
          </p:cNvSpPr>
          <p:nvPr/>
        </p:nvSpPr>
        <p:spPr>
          <a:xfrm>
            <a:off x="5029200" y="217170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Permohonan Lesen Iklan dalam talian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4C32A3-2A57-4259-A5C9-1D20C6D3D23F}"/>
              </a:ext>
            </a:extLst>
          </p:cNvPr>
          <p:cNvSpPr>
            <a:spLocks noGrp="1"/>
          </p:cNvSpPr>
          <p:nvPr/>
        </p:nvSpPr>
        <p:spPr>
          <a:xfrm>
            <a:off x="8077200" y="205740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1160E0-176A-4BB1-8681-9854908DE4D7}"/>
              </a:ext>
            </a:extLst>
          </p:cNvPr>
          <p:cNvSpPr>
            <a:spLocks noGrp="1"/>
          </p:cNvSpPr>
          <p:nvPr/>
        </p:nvSpPr>
        <p:spPr>
          <a:xfrm>
            <a:off x="8248650" y="22288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C9812C-D212-4F89-93A1-7424D6C06C93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Muat naik dan pengurusan dokumen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0D8F5D-ED04-4306-84E3-66D62B1F7F4F}"/>
              </a:ext>
            </a:extLst>
          </p:cNvPr>
          <p:cNvSpPr>
            <a:spLocks noGrp="1"/>
          </p:cNvSpPr>
          <p:nvPr/>
        </p:nvSpPr>
        <p:spPr>
          <a:xfrm>
            <a:off x="723900" y="283845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90BF2F-9501-4BA0-8C11-C895B4BC1BD1}"/>
              </a:ext>
            </a:extLst>
          </p:cNvPr>
          <p:cNvSpPr>
            <a:spLocks noGrp="1"/>
          </p:cNvSpPr>
          <p:nvPr/>
        </p:nvSpPr>
        <p:spPr>
          <a:xfrm>
            <a:off x="895350" y="30099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D6D23D-AA18-402D-A707-37B6BB339984}"/>
              </a:ext>
            </a:extLst>
          </p:cNvPr>
          <p:cNvSpPr>
            <a:spLocks noGrp="1"/>
          </p:cNvSpPr>
          <p:nvPr/>
        </p:nvSpPr>
        <p:spPr>
          <a:xfrm>
            <a:off x="1352550" y="29527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Saringan automatik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26CAD1C-1ECC-49E6-BBEA-CBA4AF382A4F}"/>
              </a:ext>
            </a:extLst>
          </p:cNvPr>
          <p:cNvSpPr>
            <a:spLocks noGrp="1"/>
          </p:cNvSpPr>
          <p:nvPr/>
        </p:nvSpPr>
        <p:spPr>
          <a:xfrm>
            <a:off x="4400550" y="283845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12E377-DF22-4D2E-B225-733BFD284B72}"/>
              </a:ext>
            </a:extLst>
          </p:cNvPr>
          <p:cNvSpPr>
            <a:spLocks noGrp="1"/>
          </p:cNvSpPr>
          <p:nvPr/>
        </p:nvSpPr>
        <p:spPr>
          <a:xfrm>
            <a:off x="4572000" y="30099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9A1EC2-655C-44BF-8DA1-14B9FBA29D43}"/>
              </a:ext>
            </a:extLst>
          </p:cNvPr>
          <p:cNvSpPr>
            <a:spLocks noGrp="1"/>
          </p:cNvSpPr>
          <p:nvPr/>
        </p:nvSpPr>
        <p:spPr>
          <a:xfrm>
            <a:off x="5029200" y="29527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Agihan kepada jabatan berkaitan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42FF37F-51F3-4A6A-8553-4C0D9DBA2D18}"/>
              </a:ext>
            </a:extLst>
          </p:cNvPr>
          <p:cNvSpPr>
            <a:spLocks noGrp="1"/>
          </p:cNvSpPr>
          <p:nvPr/>
        </p:nvSpPr>
        <p:spPr>
          <a:xfrm>
            <a:off x="8077200" y="283845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E97715-F2F7-48B7-8914-16B1D19F05E7}"/>
              </a:ext>
            </a:extLst>
          </p:cNvPr>
          <p:cNvSpPr>
            <a:spLocks noGrp="1"/>
          </p:cNvSpPr>
          <p:nvPr/>
        </p:nvSpPr>
        <p:spPr>
          <a:xfrm>
            <a:off x="8248650" y="30099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FDDAB6-6C31-4B8F-AB49-75E177556148}"/>
              </a:ext>
            </a:extLst>
          </p:cNvPr>
          <p:cNvSpPr>
            <a:spLocks noGrp="1"/>
          </p:cNvSpPr>
          <p:nvPr/>
        </p:nvSpPr>
        <p:spPr>
          <a:xfrm>
            <a:off x="8705850" y="29527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Semakan teknikal secara selari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AC9886-B84A-41EE-8144-8EC6E1D83D00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4C5332-DFA8-4ADA-999F-E3AF6092EBE6}"/>
              </a:ext>
            </a:extLst>
          </p:cNvPr>
          <p:cNvSpPr>
            <a:spLocks noGrp="1"/>
          </p:cNvSpPr>
          <p:nvPr/>
        </p:nvSpPr>
        <p:spPr>
          <a:xfrm>
            <a:off x="895350" y="3790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2BB555-2734-4604-A48A-E55F4F72154F}"/>
              </a:ext>
            </a:extLst>
          </p:cNvPr>
          <p:cNvSpPr>
            <a:spLocks noGrp="1"/>
          </p:cNvSpPr>
          <p:nvPr/>
        </p:nvSpPr>
        <p:spPr>
          <a:xfrm>
            <a:off x="1352550" y="373380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Penyelarasan dan sokongan keputusan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2FE7BE4-5433-4C33-8A47-A6C539D4A716}"/>
              </a:ext>
            </a:extLst>
          </p:cNvPr>
          <p:cNvSpPr>
            <a:spLocks noGrp="1"/>
          </p:cNvSpPr>
          <p:nvPr/>
        </p:nvSpPr>
        <p:spPr>
          <a:xfrm>
            <a:off x="4400550" y="361950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5DC06C-F54E-4EB7-836F-A76C2AB6C8C4}"/>
              </a:ext>
            </a:extLst>
          </p:cNvPr>
          <p:cNvSpPr>
            <a:spLocks noGrp="1"/>
          </p:cNvSpPr>
          <p:nvPr/>
        </p:nvSpPr>
        <p:spPr>
          <a:xfrm>
            <a:off x="4572000" y="3790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216E1A-27FD-4AB0-9C5E-303F6DD29A23}"/>
              </a:ext>
            </a:extLst>
          </p:cNvPr>
          <p:cNvSpPr>
            <a:spLocks noGrp="1"/>
          </p:cNvSpPr>
          <p:nvPr/>
        </p:nvSpPr>
        <p:spPr>
          <a:xfrm>
            <a:off x="5029200" y="373380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Kelulusan digital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4E6D1D6-43FA-4890-9879-8B532B2E5602}"/>
              </a:ext>
            </a:extLst>
          </p:cNvPr>
          <p:cNvSpPr>
            <a:spLocks noGrp="1"/>
          </p:cNvSpPr>
          <p:nvPr/>
        </p:nvSpPr>
        <p:spPr>
          <a:xfrm>
            <a:off x="8077200" y="361950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69B505-B812-44E6-B0EB-46404658FBA6}"/>
              </a:ext>
            </a:extLst>
          </p:cNvPr>
          <p:cNvSpPr>
            <a:spLocks noGrp="1"/>
          </p:cNvSpPr>
          <p:nvPr/>
        </p:nvSpPr>
        <p:spPr>
          <a:xfrm>
            <a:off x="8248650" y="3790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09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A302AA-D0CA-424A-B4FB-5DEB37DA539E}"/>
              </a:ext>
            </a:extLst>
          </p:cNvPr>
          <p:cNvSpPr>
            <a:spLocks noGrp="1"/>
          </p:cNvSpPr>
          <p:nvPr/>
        </p:nvSpPr>
        <p:spPr>
          <a:xfrm>
            <a:off x="8705850" y="373380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Bayaran dalam talian dan lesen digital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B3C6212-4B4E-4219-8BF0-F748C2FA40BE}"/>
              </a:ext>
            </a:extLst>
          </p:cNvPr>
          <p:cNvSpPr>
            <a:spLocks noGrp="1"/>
          </p:cNvSpPr>
          <p:nvPr/>
        </p:nvSpPr>
        <p:spPr>
          <a:xfrm>
            <a:off x="723900" y="440055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8D07FB-586A-4AC0-84BD-6362684B9E42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1DF2A96-1645-4A9A-B806-3BAC850131EC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Pengesahan lesen menggunakan QR Code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DC44681-629C-4F14-AA88-37D60B88756F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7FB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67CC5A-A082-4A1C-B678-B2F751076A34}"/>
              </a:ext>
            </a:extLst>
          </p:cNvPr>
          <p:cNvSpPr>
            <a:spLocks noGrp="1"/>
          </p:cNvSpPr>
          <p:nvPr/>
        </p:nvSpPr>
        <p:spPr>
          <a:xfrm>
            <a:off x="4572000" y="45720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11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859237-4174-43C7-8880-5EC2AD8D4DE5}"/>
              </a:ext>
            </a:extLst>
          </p:cNvPr>
          <p:cNvSpPr>
            <a:spLocks noGrp="1"/>
          </p:cNvSpPr>
          <p:nvPr/>
        </p:nvSpPr>
        <p:spPr>
          <a:xfrm>
            <a:off x="5029200" y="45148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Pemantauan dan penguatkuasaan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D86E0B7-7A30-45E4-8C7D-9B6091C3D3F2}"/>
              </a:ext>
            </a:extLst>
          </p:cNvPr>
          <p:cNvSpPr>
            <a:spLocks noGrp="1"/>
          </p:cNvSpPr>
          <p:nvPr/>
        </p:nvSpPr>
        <p:spPr>
          <a:xfrm>
            <a:off x="8077200" y="4400550"/>
            <a:ext cx="3238500" cy="552450"/>
          </a:xfrm>
          <a:prstGeom prst="roundRect">
            <a:avLst>
              <a:gd name="adj" fmla="val 13793"/>
            </a:avLst>
          </a:prstGeom>
          <a:solidFill>
            <a:srgbClr val="F6F8FB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FEB4F3-2549-4282-9988-69B5274E188E}"/>
              </a:ext>
            </a:extLst>
          </p:cNvPr>
          <p:cNvSpPr>
            <a:spLocks noGrp="1"/>
          </p:cNvSpPr>
          <p:nvPr/>
        </p:nvSpPr>
        <p:spPr>
          <a:xfrm>
            <a:off x="8248650" y="45720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 i="0">
                <a:solidFill>
                  <a:srgbClr val="006B49"/>
                </a:solidFill>
              </a:defRPr>
            </a:pPr>
            <a:r>
              <a:rPr sz="1350" b="1" i="0">
                <a:solidFill>
                  <a:srgbClr val="006B49"/>
                </a:solidFill>
              </a:rPr>
              <a:t>12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AEF4DE-DA29-4DD4-8E19-A0189BE97643}"/>
              </a:ext>
            </a:extLst>
          </p:cNvPr>
          <p:cNvSpPr>
            <a:spLocks noGrp="1"/>
          </p:cNvSpPr>
          <p:nvPr/>
        </p:nvSpPr>
        <p:spPr>
          <a:xfrm>
            <a:off x="8705850" y="45148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71527"/>
                </a:solidFill>
              </a:defRPr>
            </a:pPr>
            <a:r>
              <a:rPr sz="1125" b="1" i="0">
                <a:solidFill>
                  <a:srgbClr val="071527"/>
                </a:solidFill>
              </a:rPr>
              <a:t>Dashboard dan pelaporan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72987F-EDE0-4E25-AE59-6802E077BF39}"/>
              </a:ext>
            </a:extLst>
          </p:cNvPr>
          <p:cNvSpPr>
            <a:spLocks noGrp="1"/>
          </p:cNvSpPr>
          <p:nvPr/>
        </p:nvSpPr>
        <p:spPr>
          <a:xfrm>
            <a:off x="990600" y="537210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 i="0">
                <a:solidFill>
                  <a:srgbClr val="006B49"/>
                </a:solidFill>
              </a:defRPr>
            </a:pPr>
            <a:r>
              <a:rPr sz="1575" b="1" i="0">
                <a:solidFill>
                  <a:srgbClr val="006B49"/>
                </a:solidFill>
              </a:rPr>
              <a:t>Kesemua modul ini saling berhubung melalui status workflow, log keputusan, dokumen sokongan dan rekod notifikasi.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8DF5471-4B39-4B56-88A6-BCB0F7E5FB16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DC2E70C-B777-4A7D-AE18-63DC6B4DFCF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46DB10-1788-40C0-9990-669CA3D06222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2529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69BF12-DC75-4AE9-A3F1-BA5A1C0B4B9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MODUL 01-04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35DE5C-DB36-4E57-BB44-1DC007E245D8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Huraian Modul Pemohon, Permohonan dan Dokumen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60D107-DFD7-453F-8DFA-68E1BC220B68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205531"/>
            <a:ext cx="4953000" cy="229453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239E76-9E9B-4EB0-849A-35E10B3059EB}"/>
              </a:ext>
            </a:extLst>
          </p:cNvPr>
          <p:cNvSpPr>
            <a:spLocks noGrp="1"/>
          </p:cNvSpPr>
          <p:nvPr/>
        </p:nvSpPr>
        <p:spPr>
          <a:xfrm>
            <a:off x="781050" y="20859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0659FE-78D9-473C-B948-A5D32DC03E79}"/>
              </a:ext>
            </a:extLst>
          </p:cNvPr>
          <p:cNvSpPr>
            <a:spLocks noGrp="1"/>
          </p:cNvSpPr>
          <p:nvPr/>
        </p:nvSpPr>
        <p:spPr>
          <a:xfrm>
            <a:off x="1009650" y="20002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Pendaftaran dan log masuk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32549B-A568-431C-BF96-5E2FF8E2A33D}"/>
              </a:ext>
            </a:extLst>
          </p:cNvPr>
          <p:cNvSpPr>
            <a:spLocks noGrp="1"/>
          </p:cNvSpPr>
          <p:nvPr/>
        </p:nvSpPr>
        <p:spPr>
          <a:xfrm>
            <a:off x="1009650" y="22764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Akaun pemohon, pengesahan identiti asas dan akses role-based.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3FB251-6195-4483-ABE5-8348A2974156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30877B-4EF4-417D-B0FB-05677BB6D303}"/>
              </a:ext>
            </a:extLst>
          </p:cNvPr>
          <p:cNvSpPr>
            <a:spLocks noGrp="1"/>
          </p:cNvSpPr>
          <p:nvPr/>
        </p:nvSpPr>
        <p:spPr>
          <a:xfrm>
            <a:off x="1009650" y="27432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Borang permohonan digital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6D7CC3-C4BB-445F-8B58-0CFB06D2598C}"/>
              </a:ext>
            </a:extLst>
          </p:cNvPr>
          <p:cNvSpPr>
            <a:spLocks noGrp="1"/>
          </p:cNvSpPr>
          <p:nvPr/>
        </p:nvSpPr>
        <p:spPr>
          <a:xfrm>
            <a:off x="1009650" y="30194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Maklumat pemohon, maklumat iklan, lokasi, tempoh lesen dan butiran projek dihantar dalam sistem.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C30FF2-06E6-4DD6-A6BA-CACD1E5B3B95}"/>
              </a:ext>
            </a:extLst>
          </p:cNvPr>
          <p:cNvSpPr>
            <a:spLocks noGrp="1"/>
          </p:cNvSpPr>
          <p:nvPr/>
        </p:nvSpPr>
        <p:spPr>
          <a:xfrm>
            <a:off x="781050" y="35718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12634D-126A-48BB-90E9-32B5DE45D3AC}"/>
              </a:ext>
            </a:extLst>
          </p:cNvPr>
          <p:cNvSpPr>
            <a:spLocks noGrp="1"/>
          </p:cNvSpPr>
          <p:nvPr/>
        </p:nvSpPr>
        <p:spPr>
          <a:xfrm>
            <a:off x="1009650" y="3486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Pengurusan dokumen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9B91DD-F499-45F8-985B-06BA3A64204A}"/>
              </a:ext>
            </a:extLst>
          </p:cNvPr>
          <p:cNvSpPr>
            <a:spLocks noGrp="1"/>
          </p:cNvSpPr>
          <p:nvPr/>
        </p:nvSpPr>
        <p:spPr>
          <a:xfrm>
            <a:off x="1009650" y="376237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Dokumen sokongan dimuat naik dan dikaitkan dengan Application ID.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16E7AC-03A9-4A7D-BCC8-E2D7CF4CAB8C}"/>
              </a:ext>
            </a:extLst>
          </p:cNvPr>
          <p:cNvSpPr>
            <a:spLocks noGrp="1"/>
          </p:cNvSpPr>
          <p:nvPr/>
        </p:nvSpPr>
        <p:spPr>
          <a:xfrm>
            <a:off x="781050" y="43148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22C854-E30E-46F5-92F1-9D9DC2855017}"/>
              </a:ext>
            </a:extLst>
          </p:cNvPr>
          <p:cNvSpPr>
            <a:spLocks noGrp="1"/>
          </p:cNvSpPr>
          <p:nvPr/>
        </p:nvSpPr>
        <p:spPr>
          <a:xfrm>
            <a:off x="1009650" y="42291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Auto-screening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C687B4-C28E-49B5-9F8C-C11E64E4A61A}"/>
              </a:ext>
            </a:extLst>
          </p:cNvPr>
          <p:cNvSpPr>
            <a:spLocks noGrp="1"/>
          </p:cNvSpPr>
          <p:nvPr/>
        </p:nvSpPr>
        <p:spPr>
          <a:xfrm>
            <a:off x="1009650" y="45053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Sistem menolak penghantaran yang tidak lengkap dan membantu saringan awal.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538921-1A1A-4606-ABE8-F2B9CABC9AAD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10C9F5-DE30-4856-B1A6-4D8E5757B98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D6E5C0-A423-40CA-A785-E9F147224483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770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68E3EF-A0BA-4F27-8165-ABBEC143CB2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MODUL 05-08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030ABA-9BDC-4D35-B573-463E758A24A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Huraian Modul Agihan, Semakan Selari dan Kelulusan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CC651C-447F-425F-9A49-C7EFDC916EE4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86450" y="2159142"/>
            <a:ext cx="5334000" cy="25016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13CFD3-94DD-4D5B-A9A3-5832D29EC7C2}"/>
              </a:ext>
            </a:extLst>
          </p:cNvPr>
          <p:cNvSpPr>
            <a:spLocks noGrp="1"/>
          </p:cNvSpPr>
          <p:nvPr/>
        </p:nvSpPr>
        <p:spPr>
          <a:xfrm>
            <a:off x="781050" y="2066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4483BE-E7F9-4F47-94A6-EB8BB26073AF}"/>
              </a:ext>
            </a:extLst>
          </p:cNvPr>
          <p:cNvSpPr>
            <a:spLocks noGrp="1"/>
          </p:cNvSpPr>
          <p:nvPr/>
        </p:nvSpPr>
        <p:spPr>
          <a:xfrm>
            <a:off x="1009650" y="19812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Agihan jabatan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11611-8E15-4A9F-8934-EF8F6BB6AB3B}"/>
              </a:ext>
            </a:extLst>
          </p:cNvPr>
          <p:cNvSpPr>
            <a:spLocks noGrp="1"/>
          </p:cNvSpPr>
          <p:nvPr/>
        </p:nvSpPr>
        <p:spPr>
          <a:xfrm>
            <a:off x="1009650" y="22574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Permohonan diagihkan kepada unit dan bahagian teknikal yang berkaitan.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0C36E5-673A-4790-8182-3293AF9A8E09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D55C15-7AEE-4D01-BC55-BFB6C4C8B4D0}"/>
              </a:ext>
            </a:extLst>
          </p:cNvPr>
          <p:cNvSpPr>
            <a:spLocks noGrp="1"/>
          </p:cNvSpPr>
          <p:nvPr/>
        </p:nvSpPr>
        <p:spPr>
          <a:xfrm>
            <a:off x="1009650" y="27241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Parallel review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7B7AF4-A904-492F-8C58-0000FA34C002}"/>
              </a:ext>
            </a:extLst>
          </p:cNvPr>
          <p:cNvSpPr>
            <a:spLocks noGrp="1"/>
          </p:cNvSpPr>
          <p:nvPr/>
        </p:nvSpPr>
        <p:spPr>
          <a:xfrm>
            <a:off x="1009650" y="300037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BLG, IMT, MNE, ENG, GPM dan LNP boleh membuat semakan secara serentak.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3637DF-4340-4319-B52D-87D8516A5BF2}"/>
              </a:ext>
            </a:extLst>
          </p:cNvPr>
          <p:cNvSpPr>
            <a:spLocks noGrp="1"/>
          </p:cNvSpPr>
          <p:nvPr/>
        </p:nvSpPr>
        <p:spPr>
          <a:xfrm>
            <a:off x="781050" y="35528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D78438-9CC5-4397-9C82-DE379B5B0516}"/>
              </a:ext>
            </a:extLst>
          </p:cNvPr>
          <p:cNvSpPr>
            <a:spLocks noGrp="1"/>
          </p:cNvSpPr>
          <p:nvPr/>
        </p:nvSpPr>
        <p:spPr>
          <a:xfrm>
            <a:off x="1009650" y="34671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Penyelarasan keputusan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1A6506-96EA-41B5-BFAC-7EDDC8CA785E}"/>
              </a:ext>
            </a:extLst>
          </p:cNvPr>
          <p:cNvSpPr>
            <a:spLocks noGrp="1"/>
          </p:cNvSpPr>
          <p:nvPr/>
        </p:nvSpPr>
        <p:spPr>
          <a:xfrm>
            <a:off x="1009650" y="374332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Semua sokongan, syarat dan penolakan dikumpulkan sebagai ringkasan tindakan.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4D0F3-5770-459B-8CA1-94EFA0E38554}"/>
              </a:ext>
            </a:extLst>
          </p:cNvPr>
          <p:cNvSpPr>
            <a:spLocks noGrp="1"/>
          </p:cNvSpPr>
          <p:nvPr/>
        </p:nvSpPr>
        <p:spPr>
          <a:xfrm>
            <a:off x="781050" y="42957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CBDC98-32DA-4285-B0D0-263B2DB384F5}"/>
              </a:ext>
            </a:extLst>
          </p:cNvPr>
          <p:cNvSpPr>
            <a:spLocks noGrp="1"/>
          </p:cNvSpPr>
          <p:nvPr/>
        </p:nvSpPr>
        <p:spPr>
          <a:xfrm>
            <a:off x="1009650" y="42100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E-approval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6B79C1-F36C-46DF-BC53-5662FAA792FD}"/>
              </a:ext>
            </a:extLst>
          </p:cNvPr>
          <p:cNvSpPr>
            <a:spLocks noGrp="1"/>
          </p:cNvSpPr>
          <p:nvPr/>
        </p:nvSpPr>
        <p:spPr>
          <a:xfrm>
            <a:off x="1009650" y="4486275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Keputusan akhir direkodkan bersama cadangan, ulasan, tarikh dan tandatangan digital.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328E55-5CA9-4FF1-ACE9-61249AB33B6E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EBEDB-0C01-42EE-BA67-833EBE6B48A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7762AA-22A5-40DC-8F6B-A839152FC09D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60748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DE229B5-4C30-474A-95A6-AFDE63B5391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MODUL 09-12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05C5B3-1ACB-4F99-96CB-F9CBEFE504D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Huraian Modul Bayaran, QR, Pemantauan dan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D0007F-655B-41CA-998C-00C307E0CDDF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97FB57-5AC2-46FD-ACE8-6DB8D6D054D4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8CFFCA-7AF9-430D-AC79-90EF8C4CD80E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66675" cy="1104900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3BA307-4A7A-46EB-A656-3585B23B679B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00865D"/>
                </a:solidFill>
              </a:defRPr>
            </a:pPr>
            <a:r>
              <a:rPr sz="1500" b="1" i="0">
                <a:solidFill>
                  <a:srgbClr val="00865D"/>
                </a:solidFill>
              </a:rPr>
              <a:t>Bayaran dan lesen digital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A939C2-C821-4AE4-981E-7F6BE9AD14AF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Sistem menjana bil, pemohon memuat naik resit dan PT(IKL) mengesahkan bayaran sebelum e-lesen dikeluarkan.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611CA7-B583-4DFC-B431-0B05EFA14157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A0A3AB-071C-4C93-89E8-4C5F0D4BAD07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66675" cy="1104900"/>
          </a:xfrm>
          <a:prstGeom prst="rect">
            <a:avLst/>
          </a:prstGeom>
          <a:solidFill>
            <a:srgbClr val="1F5FB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374C46-9ACE-4143-8C3E-A43A193D5894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1F5FBF"/>
                </a:solidFill>
              </a:defRPr>
            </a:pPr>
            <a:r>
              <a:rPr sz="1500" b="1" i="0">
                <a:solidFill>
                  <a:srgbClr val="1F5FBF"/>
                </a:solidFill>
              </a:rPr>
              <a:t>QR Code lesen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156152-47BB-4B25-913D-76C646519ECF}"/>
              </a:ext>
            </a:extLst>
          </p:cNvPr>
          <p:cNvSpPr>
            <a:spLocks noGrp="1"/>
          </p:cNvSpPr>
          <p:nvPr/>
        </p:nvSpPr>
        <p:spPr>
          <a:xfrm>
            <a:off x="933450" y="37719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Lesen digital boleh disemak melalui QR Code untuk mengesahkan status sah, tamat tempoh atau tidak berdaftar.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04C77C-547F-4A13-86B3-AB789CEC438D}"/>
              </a:ext>
            </a:extLst>
          </p:cNvPr>
          <p:cNvSpPr>
            <a:spLocks noGrp="1"/>
          </p:cNvSpPr>
          <p:nvPr/>
        </p:nvSpPr>
        <p:spPr>
          <a:xfrm>
            <a:off x="6286500" y="19431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5D8C13-5E23-4473-8A60-5867708B4538}"/>
              </a:ext>
            </a:extLst>
          </p:cNvPr>
          <p:cNvSpPr>
            <a:spLocks noGrp="1"/>
          </p:cNvSpPr>
          <p:nvPr/>
        </p:nvSpPr>
        <p:spPr>
          <a:xfrm>
            <a:off x="6286500" y="1943100"/>
            <a:ext cx="66675" cy="110490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B5DBE9-1C09-49E0-8EF9-2AF2A92815CB}"/>
              </a:ext>
            </a:extLst>
          </p:cNvPr>
          <p:cNvSpPr>
            <a:spLocks noGrp="1"/>
          </p:cNvSpPr>
          <p:nvPr/>
        </p:nvSpPr>
        <p:spPr>
          <a:xfrm>
            <a:off x="6496050" y="209550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D97706"/>
                </a:solidFill>
              </a:defRPr>
            </a:pPr>
            <a:r>
              <a:rPr sz="1500" b="1" i="0">
                <a:solidFill>
                  <a:srgbClr val="D97706"/>
                </a:solidFill>
              </a:rPr>
              <a:t>Pemantauan dan penguatkuasaan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2A56E0-F57F-4514-9838-C84301DC04DB}"/>
              </a:ext>
            </a:extLst>
          </p:cNvPr>
          <p:cNvSpPr>
            <a:spLocks noGrp="1"/>
          </p:cNvSpPr>
          <p:nvPr/>
        </p:nvSpPr>
        <p:spPr>
          <a:xfrm>
            <a:off x="6496050" y="24003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Pegawai boleh menyemak rekod lesen, status bayaran, tempoh sah dan keperluan tindakan susulan.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54274F-0598-45EF-A248-94FF078BD3C4}"/>
              </a:ext>
            </a:extLst>
          </p:cNvPr>
          <p:cNvSpPr>
            <a:spLocks noGrp="1"/>
          </p:cNvSpPr>
          <p:nvPr/>
        </p:nvSpPr>
        <p:spPr>
          <a:xfrm>
            <a:off x="6286500" y="3314700"/>
            <a:ext cx="4762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02593-8F21-4EA6-A69B-CC6492EB9290}"/>
              </a:ext>
            </a:extLst>
          </p:cNvPr>
          <p:cNvSpPr>
            <a:spLocks noGrp="1"/>
          </p:cNvSpPr>
          <p:nvPr/>
        </p:nvSpPr>
        <p:spPr>
          <a:xfrm>
            <a:off x="6286500" y="3314700"/>
            <a:ext cx="66675" cy="11049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BD07D8-782B-46B4-B18D-B6AD70191478}"/>
              </a:ext>
            </a:extLst>
          </p:cNvPr>
          <p:cNvSpPr>
            <a:spLocks noGrp="1"/>
          </p:cNvSpPr>
          <p:nvPr/>
        </p:nvSpPr>
        <p:spPr>
          <a:xfrm>
            <a:off x="6496050" y="3467100"/>
            <a:ext cx="43434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 i="0">
                <a:solidFill>
                  <a:srgbClr val="7C3AED"/>
                </a:solidFill>
              </a:defRPr>
            </a:pPr>
            <a:r>
              <a:rPr sz="1500" b="1" i="0">
                <a:solidFill>
                  <a:srgbClr val="7C3AED"/>
                </a:solidFill>
              </a:rPr>
              <a:t>Dashboard dan pelaporan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6A7BD2-605B-48FA-94FF-C588B1867A28}"/>
              </a:ext>
            </a:extLst>
          </p:cNvPr>
          <p:cNvSpPr>
            <a:spLocks noGrp="1"/>
          </p:cNvSpPr>
          <p:nvPr/>
        </p:nvSpPr>
        <p:spPr>
          <a:xfrm>
            <a:off x="6496050" y="3771900"/>
            <a:ext cx="4343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0" i="0">
                <a:solidFill>
                  <a:srgbClr val="4F627A"/>
                </a:solidFill>
              </a:defRPr>
            </a:pPr>
            <a:r>
              <a:rPr sz="1200" b="0" i="0">
                <a:solidFill>
                  <a:srgbClr val="4F627A"/>
                </a:solidFill>
              </a:rPr>
              <a:t>Paparan jumlah permohonan, kadar kelulusan, purata tempoh proses, bottleneck jabatan dan pematuhan SLA.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BD4009-F7A4-4449-96F5-5881C2F64CD4}"/>
              </a:ext>
            </a:extLst>
          </p:cNvPr>
          <p:cNvSpPr>
            <a:spLocks noGrp="1"/>
          </p:cNvSpPr>
          <p:nvPr/>
        </p:nvSpPr>
        <p:spPr>
          <a:xfrm>
            <a:off x="1200150" y="51816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06B49"/>
                </a:solidFill>
              </a:defRPr>
            </a:pPr>
            <a:r>
              <a:rPr sz="1650" b="1" i="0">
                <a:solidFill>
                  <a:srgbClr val="006B49"/>
                </a:solidFill>
              </a:rPr>
              <a:t>Modul akhir memastikan perjalanan pemohon ditutup dengan lesen digital yang boleh disahkan dan dipantau.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9F71E6-F7CF-4FA7-9703-3A05B03D225A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1492-2704-4ADE-B2B1-99FBAA3C49C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B9E43-F1EC-4EDF-AC65-CBDB21538990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29281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1EFBD4A-ED36-46BE-9A0B-9B773A9AA53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LAPORAN AKHIR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5A0F8B-E4CF-457E-B1DC-52855E8E150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Huraian Laporan Akhir Projek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1C414F-483C-4713-9028-444293146E2D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7510E-B489-4B38-BEF6-DC5C0BDBF9E8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C821C9-2D43-4473-86ED-B4EB7181D0EC}"/>
              </a:ext>
            </a:extLst>
          </p:cNvPr>
          <p:cNvSpPr>
            <a:spLocks noGrp="1"/>
          </p:cNvSpPr>
          <p:nvPr/>
        </p:nvSpPr>
        <p:spPr>
          <a:xfrm>
            <a:off x="1143000" y="18669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Latar belakang dan penyataan masalah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9F5A98-A3D3-4941-89D3-8B3AC2AB6442}"/>
              </a:ext>
            </a:extLst>
          </p:cNvPr>
          <p:cNvSpPr>
            <a:spLocks noGrp="1"/>
          </p:cNvSpPr>
          <p:nvPr/>
        </p:nvSpPr>
        <p:spPr>
          <a:xfrm>
            <a:off x="1143000" y="21431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Laporan akhir menghuraikan keadaan proses manual, cabaran masa pemprosesan, kos operasi dan isu ketelusan status.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A5315D-6E46-4139-B6A4-83968D1855F6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E3126D-1D14-4C2C-95F2-7F11DA650C2C}"/>
              </a:ext>
            </a:extLst>
          </p:cNvPr>
          <p:cNvSpPr>
            <a:spLocks noGrp="1"/>
          </p:cNvSpPr>
          <p:nvPr/>
        </p:nvSpPr>
        <p:spPr>
          <a:xfrm>
            <a:off x="1143000" y="27432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Objektif dan kaedah pelaksanaan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28C36B-569D-4FB1-9E4A-B9F3ECCEAD3D}"/>
              </a:ext>
            </a:extLst>
          </p:cNvPr>
          <p:cNvSpPr>
            <a:spLocks noGrp="1"/>
          </p:cNvSpPr>
          <p:nvPr/>
        </p:nvSpPr>
        <p:spPr>
          <a:xfrm>
            <a:off x="1143000" y="30194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Bahagian ini menerangkan pendekatan pembangunan sistem, reka bentuk workflow, modul, teknologi dan pengujian fungsi.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261EB0-8529-448A-82DF-6782780A7D9D}"/>
              </a:ext>
            </a:extLst>
          </p:cNvPr>
          <p:cNvSpPr>
            <a:spLocks noGrp="1"/>
          </p:cNvSpPr>
          <p:nvPr/>
        </p:nvSpPr>
        <p:spPr>
          <a:xfrm>
            <a:off x="914400" y="37052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8DC596-5C58-4287-B528-36374F9203BF}"/>
              </a:ext>
            </a:extLst>
          </p:cNvPr>
          <p:cNvSpPr>
            <a:spLocks noGrp="1"/>
          </p:cNvSpPr>
          <p:nvPr/>
        </p:nvSpPr>
        <p:spPr>
          <a:xfrm>
            <a:off x="1143000" y="36195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Hasil projek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D29238-DB21-424E-A3AA-9FDD4DD1976F}"/>
              </a:ext>
            </a:extLst>
          </p:cNvPr>
          <p:cNvSpPr>
            <a:spLocks noGrp="1"/>
          </p:cNvSpPr>
          <p:nvPr/>
        </p:nvSpPr>
        <p:spPr>
          <a:xfrm>
            <a:off x="1143000" y="38957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Laporan merekodkan modul yang berjaya dibangunkan, paparan utama, aliran kelulusan dan output seperti bil, resit dan e-lesen.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07B06A-100B-47C7-863C-BF8886AEDA9F}"/>
              </a:ext>
            </a:extLst>
          </p:cNvPr>
          <p:cNvSpPr>
            <a:spLocks noGrp="1"/>
          </p:cNvSpPr>
          <p:nvPr/>
        </p:nvSpPr>
        <p:spPr>
          <a:xfrm>
            <a:off x="914400" y="45815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FACB1C-5D50-4CE2-9D25-2D20089E5FE1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Impak projek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9B1226-D835-40BC-8BB8-38A6684D1D67}"/>
              </a:ext>
            </a:extLst>
          </p:cNvPr>
          <p:cNvSpPr>
            <a:spLocks noGrp="1"/>
          </p:cNvSpPr>
          <p:nvPr/>
        </p:nvSpPr>
        <p:spPr>
          <a:xfrm>
            <a:off x="1143000" y="4772025"/>
            <a:ext cx="933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Impak projek dihuraikan melalui potensi pengurangan tempoh pemprosesan, pengurangan dokumen fizikal dan penjimatan kos operasi.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AE97DE-5472-4D28-B170-09093D548846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D4F364-E859-4A9F-AA4A-765457763CB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A00170-B587-4FF5-AA6C-EA8CF1A4371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6656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A830CF-E74E-47FB-83D3-F22A89879A6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PEMBENTANGAN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1870DA-D4A3-4494-B27D-C9B730709931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Huraian Pembentangan dan Demonstrasi Sistem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9F8B2-6EA1-4222-8FDA-CCEE8E36DAC4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77000" y="2135392"/>
            <a:ext cx="4762500" cy="22633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182BC4-309F-48FB-BF75-B2782B731A5A}"/>
              </a:ext>
            </a:extLst>
          </p:cNvPr>
          <p:cNvSpPr>
            <a:spLocks noGrp="1"/>
          </p:cNvSpPr>
          <p:nvPr/>
        </p:nvSpPr>
        <p:spPr>
          <a:xfrm>
            <a:off x="781050" y="20288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B73ED5-A73C-4725-A7E2-298EA94A37EB}"/>
              </a:ext>
            </a:extLst>
          </p:cNvPr>
          <p:cNvSpPr>
            <a:spLocks noGrp="1"/>
          </p:cNvSpPr>
          <p:nvPr/>
        </p:nvSpPr>
        <p:spPr>
          <a:xfrm>
            <a:off x="1009650" y="19431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Sesi pembentangan projek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90AD22-6A6A-41D0-BF47-D78AD1E5FA5A}"/>
              </a:ext>
            </a:extLst>
          </p:cNvPr>
          <p:cNvSpPr>
            <a:spLocks noGrp="1"/>
          </p:cNvSpPr>
          <p:nvPr/>
        </p:nvSpPr>
        <p:spPr>
          <a:xfrm>
            <a:off x="1009650" y="2219325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Pembentangan menerangkan masalah asal, penyelesaian yang dibangunkan, reka bentuk sistem, modul utama dan impak operasi.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0ABA6C-0456-4796-82AA-AFBE4C7F2EC6}"/>
              </a:ext>
            </a:extLst>
          </p:cNvPr>
          <p:cNvSpPr>
            <a:spLocks noGrp="1"/>
          </p:cNvSpPr>
          <p:nvPr/>
        </p:nvSpPr>
        <p:spPr>
          <a:xfrm>
            <a:off x="781050" y="2828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3BB01-214E-4167-8E47-E13901CD2659}"/>
              </a:ext>
            </a:extLst>
          </p:cNvPr>
          <p:cNvSpPr>
            <a:spLocks noGrp="1"/>
          </p:cNvSpPr>
          <p:nvPr/>
        </p:nvSpPr>
        <p:spPr>
          <a:xfrm>
            <a:off x="1009650" y="27432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Demonstrasi aliran penuh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A06AD5-314F-48E4-98EB-7FE509BF6D2D}"/>
              </a:ext>
            </a:extLst>
          </p:cNvPr>
          <p:cNvSpPr>
            <a:spLocks noGrp="1"/>
          </p:cNvSpPr>
          <p:nvPr/>
        </p:nvSpPr>
        <p:spPr>
          <a:xfrm>
            <a:off x="1009650" y="3019425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Demo menunjukkan simulasi daripada daftar/log masuk, permohonan, saringan, semakan teknikal, kelulusan, bayaran hingga e-lesen.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3A74D8-F869-4EC2-B0EB-72FAC758A8FC}"/>
              </a:ext>
            </a:extLst>
          </p:cNvPr>
          <p:cNvSpPr>
            <a:spLocks noGrp="1"/>
          </p:cNvSpPr>
          <p:nvPr/>
        </p:nvSpPr>
        <p:spPr>
          <a:xfrm>
            <a:off x="781050" y="36290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7CE35C-344E-4630-A242-484A9B9D439C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Demonstrasi peranan pengguna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5E7B4D-15AA-4317-BD19-FAC26E68683A}"/>
              </a:ext>
            </a:extLst>
          </p:cNvPr>
          <p:cNvSpPr>
            <a:spLocks noGrp="1"/>
          </p:cNvSpPr>
          <p:nvPr/>
        </p:nvSpPr>
        <p:spPr>
          <a:xfrm>
            <a:off x="1009650" y="3819525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Setiap paparan ditunjukkan mengikut peranan seperti pemohon, unit teknikal, KB(LES), TP(RES)/PGH, MPHLG dan PT(IKL).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FEF335-4D55-4D3C-984A-057BEB581250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AF6857-BE69-48E5-AFAA-D34C873E5E42}"/>
              </a:ext>
            </a:extLst>
          </p:cNvPr>
          <p:cNvSpPr>
            <a:spLocks noGrp="1"/>
          </p:cNvSpPr>
          <p:nvPr/>
        </p:nvSpPr>
        <p:spPr>
          <a:xfrm>
            <a:off x="1009650" y="4343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Bukti fungsi sistem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7242AF-F563-459B-A835-90310C654E8D}"/>
              </a:ext>
            </a:extLst>
          </p:cNvPr>
          <p:cNvSpPr>
            <a:spLocks noGrp="1"/>
          </p:cNvSpPr>
          <p:nvPr/>
        </p:nvSpPr>
        <p:spPr>
          <a:xfrm>
            <a:off x="1009650" y="4619625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Demonstrasi membuktikan fungsi status, log keputusan, dokumen, notifikasi, dashboard dan QR e-lesen berjalan dalam sistem.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34FF58-E23B-4A9D-A05B-6F37CC354542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B2E851-8ABA-41AB-91B1-77C10F37239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5BC577-93EB-48FE-93FB-A590BB7B88CA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64221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80DCB3-1BC3-4007-9CFE-CDBE69B2D3A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PAPARAN SISTEM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3E8ADE-475F-49CC-ACBA-CA9D485C3CA2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Huraian Contoh Visual Sistem ALiS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4FFF0D-DC22-48AC-AB3A-35C7602FE594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15287"/>
            <a:ext cx="5095875" cy="23607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00800" y="2100682"/>
            <a:ext cx="5095875" cy="23899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BD86A0C-A599-4662-97BD-C651ADB2AC72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1009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 i="0">
                <a:solidFill>
                  <a:srgbClr val="006B49"/>
                </a:solidFill>
              </a:defRPr>
            </a:pPr>
            <a:r>
              <a:rPr sz="1650" b="1" i="0">
                <a:solidFill>
                  <a:srgbClr val="006B49"/>
                </a:solidFill>
              </a:rPr>
              <a:t>Contoh paparan menunjukkan senarai permohonan, status, task queue, log keputusan dan tindakan approval yang digunakan oleh pegawai.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E58C2D-629D-4881-9823-1B07E6CA62BC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B15702-8E17-4641-A7A4-57F004D8BB6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F75089-DA34-4DEF-8505-E319E02068F9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95272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8A9442-D261-401B-8E4B-7D8F91874A3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 i="0">
                <a:solidFill>
                  <a:srgbClr val="006B49"/>
                </a:solidFill>
              </a:defRPr>
            </a:pPr>
            <a:r>
              <a:rPr sz="1125" b="1" i="0">
                <a:solidFill>
                  <a:srgbClr val="006B49"/>
                </a:solidFill>
              </a:rPr>
              <a:t>KESIMPULAN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097972-33DF-4019-89AF-A00996AE5CF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 i="0">
                <a:solidFill>
                  <a:srgbClr val="071527"/>
                </a:solidFill>
              </a:defRPr>
            </a:pPr>
            <a:r>
              <a:rPr sz="2850" b="1" i="0">
                <a:solidFill>
                  <a:srgbClr val="071527"/>
                </a:solidFill>
              </a:rPr>
              <a:t>Huraian Impak Projek dan Penutup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111C9B-4FF5-49D6-925C-87CE4F567EB0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1125200" cy="19050"/>
          </a:xfrm>
          <a:prstGeom prst="rect">
            <a:avLst/>
          </a:prstGeom>
          <a:solidFill>
            <a:srgbClr val="CBD8E6"/>
          </a:solidFill>
          <a:ln w="0">
            <a:noFill/>
            <a:prstDash val="solid"/>
          </a:ln>
        </p:spPr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1950229"/>
            <a:ext cx="3429000" cy="18716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60336D-AEAD-4335-90FE-133967719F12}"/>
              </a:ext>
            </a:extLst>
          </p:cNvPr>
          <p:cNvSpPr>
            <a:spLocks noGrp="1"/>
          </p:cNvSpPr>
          <p:nvPr/>
        </p:nvSpPr>
        <p:spPr>
          <a:xfrm>
            <a:off x="876300" y="20288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240568-F188-4513-8E42-80FD23C91CF8}"/>
              </a:ext>
            </a:extLst>
          </p:cNvPr>
          <p:cNvSpPr>
            <a:spLocks noGrp="1"/>
          </p:cNvSpPr>
          <p:nvPr/>
        </p:nvSpPr>
        <p:spPr>
          <a:xfrm>
            <a:off x="1104900" y="19431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Mengurangkan proses manual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947B5B-8BF6-4A90-AB9D-7DAF2DB7EAF9}"/>
              </a:ext>
            </a:extLst>
          </p:cNvPr>
          <p:cNvSpPr>
            <a:spLocks noGrp="1"/>
          </p:cNvSpPr>
          <p:nvPr/>
        </p:nvSpPr>
        <p:spPr>
          <a:xfrm>
            <a:off x="1104900" y="221932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Dokumen fizikal dan pergerakan fail dikurangkan melalui borang, dokumen dan keputusan digital.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4858D2-F860-4B7D-8A5A-CC19227C0AAB}"/>
              </a:ext>
            </a:extLst>
          </p:cNvPr>
          <p:cNvSpPr>
            <a:spLocks noGrp="1"/>
          </p:cNvSpPr>
          <p:nvPr/>
        </p:nvSpPr>
        <p:spPr>
          <a:xfrm>
            <a:off x="876300" y="28098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D36B6A-6656-44C3-A69F-25498929729B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Mempercepatkan semakan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E7ECD-5A2D-4C28-B72C-DF09ACB5D79B}"/>
              </a:ext>
            </a:extLst>
          </p:cNvPr>
          <p:cNvSpPr>
            <a:spLocks noGrp="1"/>
          </p:cNvSpPr>
          <p:nvPr/>
        </p:nvSpPr>
        <p:spPr>
          <a:xfrm>
            <a:off x="1104900" y="300037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Semakan teknikal secara selari mengurangkan masa menunggu antara jabatan.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A6E8E8-B0BB-431F-BB1F-B8D79B64BE06}"/>
              </a:ext>
            </a:extLst>
          </p:cNvPr>
          <p:cNvSpPr>
            <a:spLocks noGrp="1"/>
          </p:cNvSpPr>
          <p:nvPr/>
        </p:nvSpPr>
        <p:spPr>
          <a:xfrm>
            <a:off x="876300" y="359092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92C6B9-1DB4-4419-9B7A-CFA6BBF91A5C}"/>
              </a:ext>
            </a:extLst>
          </p:cNvPr>
          <p:cNvSpPr>
            <a:spLocks noGrp="1"/>
          </p:cNvSpPr>
          <p:nvPr/>
        </p:nvSpPr>
        <p:spPr>
          <a:xfrm>
            <a:off x="1104900" y="35052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Meningkatkan ketelusan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2A6E4B-20D3-4888-970C-636B29703138}"/>
              </a:ext>
            </a:extLst>
          </p:cNvPr>
          <p:cNvSpPr>
            <a:spLocks noGrp="1"/>
          </p:cNvSpPr>
          <p:nvPr/>
        </p:nvSpPr>
        <p:spPr>
          <a:xfrm>
            <a:off x="1104900" y="378142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>
                <a:solidFill>
                  <a:srgbClr val="4F627A"/>
                </a:solidFill>
              </a:rPr>
              <a:t>Status, log tindakan, notifikasi dan keputusan boleh dijejak oleh pihak berkaitan.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038D7C-5F39-4BA2-853E-0AA6D299179B}"/>
              </a:ext>
            </a:extLst>
          </p:cNvPr>
          <p:cNvSpPr>
            <a:spLocks noGrp="1"/>
          </p:cNvSpPr>
          <p:nvPr/>
        </p:nvSpPr>
        <p:spPr>
          <a:xfrm>
            <a:off x="876300" y="4371975"/>
            <a:ext cx="85725" cy="85725"/>
          </a:xfrm>
          <a:prstGeom prst="rect">
            <a:avLst/>
          </a:prstGeom>
          <a:solidFill>
            <a:srgbClr val="00865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608989-DE27-4E24-9220-D3C2AB9BD54D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 i="0">
                <a:solidFill>
                  <a:srgbClr val="071527"/>
                </a:solidFill>
              </a:defRPr>
            </a:pPr>
            <a:r>
              <a:rPr sz="1575" b="1" i="0">
                <a:solidFill>
                  <a:srgbClr val="071527"/>
                </a:solidFill>
              </a:rPr>
              <a:t>Menyokong penguatkuasaan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8DCD41-5781-42F2-B434-BAF36CA0DFD9}"/>
              </a:ext>
            </a:extLst>
          </p:cNvPr>
          <p:cNvSpPr>
            <a:spLocks noGrp="1"/>
          </p:cNvSpPr>
          <p:nvPr/>
        </p:nvSpPr>
        <p:spPr>
          <a:xfrm>
            <a:off x="1104900" y="4562475"/>
            <a:ext cx="533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4F627A"/>
                </a:solidFill>
              </a:defRPr>
            </a:pPr>
            <a:r>
              <a:rPr sz="1275" b="0" i="0" dirty="0" err="1">
                <a:solidFill>
                  <a:srgbClr val="4F627A"/>
                </a:solidFill>
              </a:rPr>
              <a:t>Lesen</a:t>
            </a:r>
            <a:r>
              <a:rPr sz="1275" b="0" i="0" dirty="0">
                <a:solidFill>
                  <a:srgbClr val="4F627A"/>
                </a:solidFill>
              </a:rPr>
              <a:t> digital dan QR Code </a:t>
            </a:r>
            <a:r>
              <a:rPr sz="1275" b="0" i="0" dirty="0" err="1">
                <a:solidFill>
                  <a:srgbClr val="4F627A"/>
                </a:solidFill>
              </a:rPr>
              <a:t>memudahkan</a:t>
            </a:r>
            <a:r>
              <a:rPr sz="1275" b="0" i="0" dirty="0">
                <a:solidFill>
                  <a:srgbClr val="4F627A"/>
                </a:solidFill>
              </a:rPr>
              <a:t> </a:t>
            </a:r>
            <a:r>
              <a:rPr sz="1275" b="0" i="0" dirty="0" err="1">
                <a:solidFill>
                  <a:srgbClr val="4F627A"/>
                </a:solidFill>
              </a:rPr>
              <a:t>semakan</a:t>
            </a:r>
            <a:r>
              <a:rPr sz="1275" b="0" i="0" dirty="0">
                <a:solidFill>
                  <a:srgbClr val="4F627A"/>
                </a:solidFill>
              </a:rPr>
              <a:t> status </a:t>
            </a:r>
            <a:r>
              <a:rPr sz="1275" b="0" i="0" dirty="0" err="1">
                <a:solidFill>
                  <a:srgbClr val="4F627A"/>
                </a:solidFill>
              </a:rPr>
              <a:t>lesen</a:t>
            </a:r>
            <a:r>
              <a:rPr sz="1275" b="0" i="0" dirty="0">
                <a:solidFill>
                  <a:srgbClr val="4F627A"/>
                </a:solidFill>
              </a:rPr>
              <a:t> di </a:t>
            </a:r>
            <a:r>
              <a:rPr lang="en-MY" sz="1275" b="0" i="0" dirty="0" err="1">
                <a:solidFill>
                  <a:srgbClr val="4F627A"/>
                </a:solidFill>
              </a:rPr>
              <a:t>tapak</a:t>
            </a:r>
            <a:r>
              <a:rPr sz="1275" b="0" i="0" dirty="0">
                <a:solidFill>
                  <a:srgbClr val="4F627A"/>
                </a:solidFill>
              </a:rPr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B794BF-7A91-4472-BCF4-0F3C66414B36}"/>
              </a:ext>
            </a:extLst>
          </p:cNvPr>
          <p:cNvSpPr>
            <a:spLocks noGrp="1"/>
          </p:cNvSpPr>
          <p:nvPr/>
        </p:nvSpPr>
        <p:spPr>
          <a:xfrm>
            <a:off x="6781800" y="4343400"/>
            <a:ext cx="4381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 i="0">
                <a:solidFill>
                  <a:srgbClr val="071527"/>
                </a:solidFill>
              </a:defRPr>
            </a:pPr>
            <a:r>
              <a:rPr sz="1875" b="1" i="0">
                <a:solidFill>
                  <a:srgbClr val="071527"/>
                </a:solidFill>
              </a:rPr>
              <a:t>ALiS menyediakan asas sistem bersepadu untuk mempercepatkan perkhidmatan Lesen Iklan serta meningkatkan akauntabiliti operasi DBKU.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08B1B8-54A6-4294-82E7-41E083383830}"/>
              </a:ext>
            </a:extLst>
          </p:cNvPr>
          <p:cNvSpPr>
            <a:spLocks noGrp="1"/>
          </p:cNvSpPr>
          <p:nvPr/>
        </p:nvSpPr>
        <p:spPr>
          <a:xfrm>
            <a:off x="514350" y="6229350"/>
            <a:ext cx="10287000" cy="19050"/>
          </a:xfrm>
          <a:prstGeom prst="rect">
            <a:avLst/>
          </a:prstGeom>
          <a:solidFill>
            <a:srgbClr val="DDE5E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54320B-E119-4F36-9045-1B47065EBD8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0" i="0">
                <a:solidFill>
                  <a:srgbClr val="4F627A"/>
                </a:solidFill>
              </a:defRPr>
            </a:pPr>
            <a:r>
              <a:rPr sz="975" b="0" i="0">
                <a:solidFill>
                  <a:srgbClr val="4F627A"/>
                </a:solidFill>
              </a:rPr>
              <a:t>Pendigitalan Permohonan Lesen Iklan | ALiS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E88C39-0E97-4A48-9A1F-B576104A067E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 i="0">
                <a:solidFill>
                  <a:srgbClr val="4F627A"/>
                </a:solidFill>
              </a:defRPr>
            </a:pPr>
            <a:r>
              <a:rPr sz="975" b="1" i="0">
                <a:solidFill>
                  <a:srgbClr val="4F627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067717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1559</Words>
  <Application>Microsoft Office PowerPoint</Application>
  <DocSecurity>0</DocSecurity>
  <PresentationFormat>Widescreen</PresentationFormat>
  <Paragraphs>232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user</cp:lastModifiedBy>
  <cp:revision>5</cp:revision>
  <dcterms:created xsi:type="dcterms:W3CDTF">2026-06-30T06:39:12Z</dcterms:created>
  <dcterms:modified xsi:type="dcterms:W3CDTF">2026-06-30T07:00:22Z</dcterms:modified>
</cp:coreProperties>
</file>